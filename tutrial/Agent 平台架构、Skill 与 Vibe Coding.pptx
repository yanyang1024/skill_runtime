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notesMasterIdLst>
    <p:notesMasterId r:id="rId40"/>
  </p:notesMasterIdLst>
  <p:sldSz cx="12192000" cy="6858000" type="custom"/>
  <p:notesSz cx="12192000" cy="6858000"/>
  <p:embeddedFontLst>
    <p:embeddedFont>
      <p:font typeface="MiSans" charset="-122" pitchFamily="34"/>
      <p:regular r:id="rId3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font" Target="fonts/font1.fntdata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开场：本课面向软件研发、算法、数据与 AI 应用开发人员，时长 75–100 分钟。先说明课程不把 Agent 简化成"会调工具的聊天机器人"。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学习路线页：先给五个驱动问题，再给课程核心判断。让学员知道"为什么学、学完能做什么"。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模块一开场：先建立"为什么需要 Agent"的直觉，再给 Agent / Harness / Skill 的严格定义。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概念页。先给"缸中之脑"六个做不到，再给演进补齐的五类条件。要点：Chatbot 到 Agent 不是名词升级，而是接口逐渐完整。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对比页。四阶段是能力扩展关系而非替代关系。表格逐列讲解控制者与执行单元的变化；底部 RAG 链路提示 RAG 解决"知道什么"而非"会不会做"。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重要修正页：Agent 的出现不意味着删除 Workflow、表单、规则和程序。逐行讲分工表，最后落到一句话总结。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概念页。Agent 不是一个 Prompt，也不只是一个模型。用工程公式建立整体认知，再展开 Harness 的七项职责。强调模型越强，Harness 责任越重。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过程页。ReAct 把推理与行动交错：行动得到观察，观察影响后续决策。沿左侧循环图逐节点讲解；右侧给出每环节应保留的可观测信息。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方法页。七类停止条件逐条讲；强调"还可以继续想"不是继续循环的充分理由——每次循环都要回答能否获得新信息、新证据或推进状态。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概念页。Skill 是以 SKILL.md 为核心的可复用知识包。左：目录结构与合格 Skill 的七问；右：与 Prompt/Tool/Workflow/Agent/Subagent/RAG 的边界，以及三级渐进式披露。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模块二开场：以 OpenCode 为例，从自然语言到机器资源逐层下钻；强调安全层是贯穿系统的控制面，不是最下面的一段提示词。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框架页。六层总览表是模块二的骨架，后续三页分别展开规则层、流程层与能力接口层、状态层与安全控制面。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示范页。左：AGENTS.md 教学示例——高频、跨任务上下文，不写成百科全书；右：工程上必须区分的六种状态，聊天记录不能替代业务数据库。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示范页。左：tenant-isolation-review Skill 示例，注意 description 同时写了正边界和负边界；右：Tool 应窄而稳定，不要把业务系统变成万能接口。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安全页。permission 是 Harness 的动作门而非完整沙箱；自然语言写"禁止删除"不能替代真正的 deny。教学用最小示例，实际项目按威胁模型调整。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模块三开场：Vibe Coding 不是"随便描述一句让 AI 写完"。区分原型式与生产式两种语境，给出八步工作流。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对比页。Vibe Coding 最初是 Karpathy 描述的开发体验；教学中必须区分原型式与生产式。判断标准：能否交付可维护、可验证的结果。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方法页。八步工作流分四组讲：0-1 风险与环境、2-3 勘察与切片、4-5 执行与反馈、6-8 验收、交付与沉淀。底部沉淀表是"从偶然成功到可复用能力"的关键。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模块四开场：不要把"接入 API"理解成把文档粘进 Prompt。先讲内容各归其位，再讲 CLI 契约、记忆分层，最后讲 Skill 的两层评测。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方法页。接入 API 不等于把文档粘进 Prompt——按内容类型归位。Tool 五原则逐条讲，窄接口是第一条。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方法页。Agent 通过参数、stdin、stdout、stderr 和退出码理解脚本结果。讲契约表，再用成功/失败 JSON 示例落地，最后强调人机分工。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概念页。不是所有工具结果都该永久塞进对话，也不是所有对话都该变成长时记忆。七层寿命表 + 长期记忆的五个前提与禁止清单。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方法页。Skill 有两类质量：会不会被用、用了有没有帮助。六类测试语句中，负样例必须是"很像但不该触发"的近邻场景。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对比页+方法页。description 要同时写意图与边界；explicit-only 的软边界（description）不能给 100% 保证，硬边界必须由 Harness 拦截显式指令完成。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模块五开场：先分清六种组合机制再谈编排。不要因为"多 Agent"听起来先进，就把一个函数拆成三个角色互相聊天。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框架页。六种机制对比表是核心展品；右侧六问选型顺序按确定性从高到低排列。MCP 不是多 Agent 编排器，A2A 才处理远程 Agent 协作。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方法页。Subagent 的充分理由只有三类：上下文隔离、真并行、独立验证。多 Skill 默认单选；组合前检查 conflicts；防递归靠 Harness 去重、深度限制与 loop guard。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模块六开场：迁移目标不是"删掉所有按钮只留输入框"，而是复用已有确定性能力；参考架构先简单做，复杂度由需求拉动。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方法页+案例页。三种迁移架构中 API Tool 化是默认推荐，对话+结构化 UI 是生产目标形态。实验平台示例：用户一句话，Agent 八步行为，底层校验与 Workflow 不删除。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映射页。最实用的 Agent UI 是 Chat + 文件区 + 参数卡 + 任务时间线 + Artifact 预览 + 权限确认，而不是只有 Chat。表格逐行对应原 WebUI 元素的去向。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方法页。九步方法按"盘点→封装→设计→上线"四段讲；右侧列出不宜完全对话化的六类场景作为边界。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框架页。九个最小组件构成参考架构；优先级九步中，Subagent 与 A2A 是"确认有真实需求后再加"，不是默认起点。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练习页。三个练习分别对应机制选型、Skill 触发边界、WebUI Agent 化。练习一参考答案放在讲师备注：1 Tool/API；2 Skill+Tools+permission；3 Workflow；4 MCP；5 Subagent；6 A2A。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反馈页。八个误区两列排布，逐条点名纠正。核心：精度大于数量；硬边界大于自然语言；结构化 UI 与对话组合；Multi-Agent 价值来自隔离与独立验证。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总结页。十句话逐条回顾，对应课程各模块；最后落到 Agent 平台的设计目标。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结束页。提示附录 A 的项目检查表可作为课后落地工具，附录 B 的参考资料核对日期为 2026-08-09，配置以部署版本官方文档为准。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x.com/karpathy/status/1886192184808149383" TargetMode="External"/><Relationship Id="rId4" Type="http://schemas.openxmlformats.org/officeDocument/2006/relationships/hyperlink" Target="https://github.blog/ai-and-ml/generative-ai/spec-driven-development-with-ai-get-started-with-a-new-open-source-toolkit/" TargetMode="Externa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modelcontextprotocol.io/docs/2026-07-28/learn/architecture" TargetMode="External"/><Relationship Id="rId4" Type="http://schemas.openxmlformats.org/officeDocument/2006/relationships/hyperlink" Target="https://a2a-protocol.org/latest/specification/" TargetMode="Externa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45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1905000"/>
            <a:ext cx="711200" cy="63500"/>
          </a:xfrm>
          <a:prstGeom prst="rect">
            <a:avLst/>
          </a:prstGeom>
          <a:solidFill>
            <a:srgbClr val="C4532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22352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 spc="300" kern="0">
                <a:solidFill>
                  <a:srgbClr val="BFD4CC"/>
                </a:solidFill>
                <a:latin typeface="MiSans"/>
                <a:ea typeface="MiSans"/>
              </a:rPr>
              <a:t>教学讲稿 · AGENT PLATFORM &amp; VIBE CODING</a:t>
            </a:r>
            <a:endParaRPr lang="en-US" sz="1300" noProof="1"/>
          </a:p>
        </p:txBody>
      </p:sp>
      <p:sp>
        <p:nvSpPr>
          <p:cNvPr id="4" name="main-title"/>
          <p:cNvSpPr txBox="1"/>
          <p:nvPr/>
        </p:nvSpPr>
        <p:spPr>
          <a:xfrm>
            <a:off x="812800" y="2641600"/>
            <a:ext cx="105664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4000" noProof="1" b="1">
                <a:solidFill>
                  <a:srgbClr val="FFFFFF"/>
                </a:solidFill>
                <a:latin typeface="MiSans"/>
                <a:ea typeface="MiSans"/>
              </a:rPr>
              <a:t>Agent 平台架构、Skill 与 Vibe Coding</a:t>
            </a:r>
            <a:endParaRPr lang="en-US" sz="4000" noProof="1"/>
          </a:p>
        </p:txBody>
      </p:sp>
      <p:sp>
        <p:nvSpPr>
          <p:cNvPr id="5" name="subtitle"/>
          <p:cNvSpPr txBox="1"/>
          <p:nvPr/>
        </p:nvSpPr>
        <p:spPr>
          <a:xfrm>
            <a:off x="812800" y="41910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600" noProof="1">
                <a:solidFill>
                  <a:srgbClr val="D8E4DE"/>
                </a:solidFill>
                <a:latin typeface="MiSans"/>
                <a:ea typeface="MiSans"/>
              </a:rPr>
              <a:t>从"缸中之脑"到受控数字工人：Chatbot、RAG、Workflow 到 Agent 的演进，</a:t>
            </a:r>
            <a:endParaRPr lang="en-US" sz="1600" noProof="1"/>
          </a:p>
          <a:p>
            <a:pPr>
              <a:lnSpc>
                <a:spcPct val="160000"/>
              </a:lnSpc>
            </a:pPr>
            <a:r>
              <a:rPr lang="en-US" sz="1600" noProof="1">
                <a:solidFill>
                  <a:srgbClr val="D8E4DE"/>
                </a:solidFill>
                <a:latin typeface="MiSans"/>
                <a:ea typeface="MiSans"/>
              </a:rPr>
              <a:t>以及 Agent 平台的工程化落地方法</a:t>
            </a:r>
            <a:endParaRPr lang="en-US" sz="1600" noProof="1"/>
          </a:p>
        </p:txBody>
      </p:sp>
      <p:sp>
        <p:nvSpPr>
          <p:cNvPr id="6" name="divider-line"/>
          <p:cNvSpPr/>
          <p:nvPr/>
        </p:nvSpPr>
        <p:spPr>
          <a:xfrm>
            <a:off x="812800" y="5384800"/>
            <a:ext cx="10566400" cy="12700"/>
          </a:xfrm>
          <a:prstGeom prst="rect">
            <a:avLst/>
          </a:prstGeom>
          <a:solidFill>
            <a:srgbClr val="3A6E64"/>
          </a:solidFill>
          <a:ln>
            <a:noFill/>
          </a:ln>
        </p:spPr>
      </p:sp>
      <p:sp>
        <p:nvSpPr>
          <p:cNvPr id="7" name="meta"/>
          <p:cNvSpPr txBox="1"/>
          <p:nvPr/>
        </p:nvSpPr>
        <p:spPr>
          <a:xfrm>
            <a:off x="812800" y="5638800"/>
            <a:ext cx="10566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A8C2B9"/>
                </a:solidFill>
                <a:latin typeface="MiSans"/>
                <a:ea typeface="MiSans"/>
              </a:rPr>
              <a:t>面向：软件研发 · 算法工程 · 数据分析 · AI 应用开发　　建议时长：75–100 分钟</a:t>
            </a:r>
            <a:endParaRPr lang="en-US" sz="1200" noProof="1"/>
          </a:p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A8C2B9"/>
                </a:solidFill>
                <a:latin typeface="MiSans"/>
                <a:ea typeface="MiSans"/>
              </a:rPr>
              <a:t>版本 1.0 · 2026-08-09 · 含讲解要点、示例、练习与检查表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学习路线 · COURSE MAP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这门课回答五个实际问题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questions"/>
          <p:cNvSpPr txBox="1"/>
          <p:nvPr/>
        </p:nvSpPr>
        <p:spPr>
          <a:xfrm>
            <a:off x="812800" y="1473200"/>
            <a:ext cx="6350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Q1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　Chatbot、RAG、Workflow 和 Agent 分别解决了什么问题，为什么同时存在？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Q2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　一个以 OpenCode 为代表的 Agent 平台，运行时到底发生了什么？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Q3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　AGENTS.md、Skill、Tool、API、MCP、Subagent、A2A 分别该放什么、不该放什么？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Q4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　怎样测试 Skill 是否在正确场景命中，避免误触发、冲突和递归？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Q5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　怎样把已有 WebUI 应用改造成对话式 Agent 应用，同时保留确定性、可审计性和效率？</a:t>
            </a:r>
            <a:endParaRPr lang="en-US" sz="1300" noProof="1"/>
          </a:p>
        </p:txBody>
      </p:sp>
      <p:sp>
        <p:nvSpPr>
          <p:cNvPr id="6" name="side-head"/>
          <p:cNvSpPr txBox="1"/>
          <p:nvPr/>
        </p:nvSpPr>
        <p:spPr>
          <a:xfrm>
            <a:off x="7874000" y="14732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课程模块</a:t>
            </a:r>
            <a:endParaRPr lang="en-US" sz="1300" noProof="1"/>
          </a:p>
        </p:txBody>
      </p:sp>
      <p:sp>
        <p:nvSpPr>
          <p:cNvPr id="7" name="side-list"/>
          <p:cNvSpPr txBox="1"/>
          <p:nvPr/>
        </p:nvSpPr>
        <p:spPr>
          <a:xfrm>
            <a:off x="7874000" y="1828800"/>
            <a:ext cx="35052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5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模块一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　演进与核心定义（一、二）</a:t>
            </a:r>
            <a:endParaRPr lang="en-US" sz="1100" noProof="1"/>
          </a:p>
          <a:p>
            <a:pPr>
              <a:lnSpc>
                <a:spcPct val="175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模块二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　OpenCode 平台分层（三）</a:t>
            </a:r>
            <a:endParaRPr lang="en-US" sz="1100" noProof="1"/>
          </a:p>
          <a:p>
            <a:pPr>
              <a:lnSpc>
                <a:spcPct val="175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模块三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　Vibe Coding 工作流（四）</a:t>
            </a:r>
            <a:endParaRPr lang="en-US" sz="1100" noProof="1"/>
          </a:p>
          <a:p>
            <a:pPr>
              <a:lnSpc>
                <a:spcPct val="175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模块四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　工具接入与 Skill 评测（五、六）</a:t>
            </a:r>
            <a:endParaRPr lang="en-US" sz="1100" noProof="1"/>
          </a:p>
          <a:p>
            <a:pPr>
              <a:lnSpc>
                <a:spcPct val="175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模块五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　组合机制与 Multi-Agent（七）</a:t>
            </a:r>
            <a:endParaRPr lang="en-US" sz="1100" noProof="1"/>
          </a:p>
          <a:p>
            <a:pPr>
              <a:lnSpc>
                <a:spcPct val="175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模块六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　WebUI 迁移与参考架构（八、九）</a:t>
            </a:r>
            <a:endParaRPr lang="en-US" sz="1100" noProof="1"/>
          </a:p>
          <a:p>
            <a:pPr>
              <a:lnSpc>
                <a:spcPct val="175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收束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　练习 · 误区 · 总结（十~十二）</a:t>
            </a:r>
            <a:endParaRPr lang="en-US" sz="1100" noProof="1"/>
          </a:p>
        </p:txBody>
      </p:sp>
      <p:sp>
        <p:nvSpPr>
          <p:cNvPr id="8" name="core-line"/>
          <p:cNvSpPr/>
          <p:nvPr/>
        </p:nvSpPr>
        <p:spPr>
          <a:xfrm>
            <a:off x="812800" y="5537200"/>
            <a:ext cx="50800" cy="660400"/>
          </a:xfrm>
          <a:prstGeom prst="rect">
            <a:avLst/>
          </a:prstGeom>
          <a:solidFill>
            <a:srgbClr val="C4532A"/>
          </a:solidFill>
          <a:ln>
            <a:noFill/>
          </a:ln>
        </p:spPr>
      </p:sp>
      <p:sp>
        <p:nvSpPr>
          <p:cNvPr id="9" name="core-judgement"/>
          <p:cNvSpPr txBox="1"/>
          <p:nvPr/>
        </p:nvSpPr>
        <p:spPr>
          <a:xfrm>
            <a:off x="1066800" y="5537200"/>
            <a:ext cx="10312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23272E"/>
                </a:solidFill>
                <a:latin typeface="MiSans"/>
                <a:ea typeface="MiSans"/>
              </a:rPr>
              <a:t>核心判断：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模型能力决定 Agent 的认知上限；Harness、资源接口、权限边界、状态管理和验证闭环，决定它能否稳定进入生产。</a:t>
            </a:r>
            <a:endParaRPr lang="en-US" sz="1400" noProof="1"/>
          </a:p>
        </p:txBody>
      </p:sp>
      <p:sp>
        <p:nvSpPr>
          <p:cNvPr id="10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学习路线</a:t>
            </a:r>
            <a:endParaRPr lang="en-US" sz="900" noProof="1"/>
          </a:p>
        </p:txBody>
      </p:sp>
      <p:sp>
        <p:nvSpPr>
          <p:cNvPr id="11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02 / 36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812800" y="1143000"/>
            <a:ext cx="3810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0" noProof="1" b="1">
                <a:solidFill>
                  <a:srgbClr val="DCE7E2"/>
                </a:solidFill>
                <a:latin typeface="MiSans"/>
                <a:ea typeface="MiSans"/>
              </a:rPr>
              <a:t>01</a:t>
            </a:r>
            <a:endParaRPr lang="en-US" sz="12000" noProof="1"/>
          </a:p>
        </p:txBody>
      </p:sp>
      <p:sp>
        <p:nvSpPr>
          <p:cNvPr id="3" name="kicker"/>
          <p:cNvSpPr txBox="1"/>
          <p:nvPr/>
        </p:nvSpPr>
        <p:spPr>
          <a:xfrm>
            <a:off x="812800" y="3403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模块一 · 第一、二部分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3708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3272E"/>
                </a:solidFill>
                <a:latin typeface="MiSans"/>
                <a:ea typeface="MiSans"/>
              </a:rPr>
              <a:t>应用形态的演进与核心定义</a:t>
            </a:r>
            <a:endParaRPr lang="en-US" sz="3000" noProof="1"/>
          </a:p>
        </p:txBody>
      </p:sp>
      <p:sp>
        <p:nvSpPr>
          <p:cNvPr id="5" name="rule"/>
          <p:cNvSpPr/>
          <p:nvPr/>
        </p:nvSpPr>
        <p:spPr>
          <a:xfrm>
            <a:off x="812800" y="44704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6" name="parts"/>
          <p:cNvSpPr txBox="1"/>
          <p:nvPr/>
        </p:nvSpPr>
        <p:spPr>
          <a:xfrm>
            <a:off x="812800" y="4749800"/>
            <a:ext cx="10566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00" noProof="1" b="1">
                <a:solidFill>
                  <a:srgbClr val="23272E"/>
                </a:solidFill>
                <a:latin typeface="MiSans"/>
                <a:ea typeface="MiSans"/>
              </a:rPr>
              <a:t>第一部分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　应用形态为什么从 Chatbot 走向 Agent：缸中之脑、四阶段演进、确定性的重新分工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noProof="1" b="1">
                <a:solidFill>
                  <a:srgbClr val="23272E"/>
                </a:solidFill>
                <a:latin typeface="MiSans"/>
                <a:ea typeface="MiSans"/>
              </a:rPr>
              <a:t>第二部分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　Agent、Harness 与 Skill 的核心定义：工程公式、运行时决策循环、停止条件、Skill 的本质</a:t>
            </a:r>
            <a:endParaRPr lang="en-US" sz="1300" noProof="1"/>
          </a:p>
        </p:txBody>
      </p:sp>
      <p:sp>
        <p:nvSpPr>
          <p:cNvPr id="7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模块一 · 演进与核心定义</a:t>
            </a:r>
            <a:endParaRPr lang="en-US" sz="900" noProof="1"/>
          </a:p>
        </p:txBody>
      </p:sp>
      <p:sp>
        <p:nvSpPr>
          <p:cNvPr id="8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03 / 36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第一部分 · 应用形态演进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只会"说话"的模型，为什么像缸中之脑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left-head"/>
          <p:cNvSpPr txBox="1"/>
          <p:nvPr/>
        </p:nvSpPr>
        <p:spPr>
          <a:xfrm>
            <a:off x="812800" y="1422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纯文本模型的六个"做不到"</a:t>
            </a:r>
            <a:endParaRPr lang="en-US" sz="1300" noProof="1"/>
          </a:p>
        </p:txBody>
      </p:sp>
      <p:sp>
        <p:nvSpPr>
          <p:cNvPr id="6" name="left-body"/>
          <p:cNvSpPr txBox="1"/>
          <p:nvPr/>
        </p:nvSpPr>
        <p:spPr>
          <a:xfrm>
            <a:off x="812800" y="1778000"/>
            <a:ext cx="5207000" cy="33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不知道企业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当前真实数据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是什么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不能直接读取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项目文件、数据库和业务系统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不能可靠地持续完成一个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长任务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做完动作后，不一定能看到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真实反馈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不知道哪些动作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被允许、哪些不可逆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可能给出看起来合理、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实际没有执行过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的答案</a:t>
            </a:r>
            <a:endParaRPr lang="en-US" sz="1200" noProof="1"/>
          </a:p>
        </p:txBody>
      </p:sp>
      <p:sp>
        <p:nvSpPr>
          <p:cNvPr id="7" name="left-conclusion"/>
          <p:cNvSpPr txBox="1"/>
          <p:nvPr/>
        </p:nvSpPr>
        <p:spPr>
          <a:xfrm>
            <a:off x="812800" y="5232400"/>
            <a:ext cx="5207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从 Chatbot 到 Agent 不是产品名词升级，而是</a:t>
            </a: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模型与数字世界之间的接口逐渐完整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。一个 Agent 可以调用 RAG 和 Workflow；Workflow 里也可以包含 Agent 节点。</a:t>
            </a:r>
            <a:endParaRPr lang="en-US" sz="1100" noProof="1"/>
          </a:p>
        </p:txBody>
      </p:sp>
      <p:sp>
        <p:nvSpPr>
          <p:cNvPr id="8" name="right-head"/>
          <p:cNvSpPr txBox="1"/>
          <p:nvPr/>
        </p:nvSpPr>
        <p:spPr>
          <a:xfrm>
            <a:off x="6477000" y="14224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演进在补齐五类条件</a:t>
            </a:r>
            <a:endParaRPr lang="en-US" sz="1300" noProof="1"/>
          </a:p>
        </p:txBody>
      </p:sp>
      <p:graphicFrame>
        <p:nvGraphicFramePr>
          <p:cNvPr id="9" name="cond-table"/>
          <p:cNvGraphicFramePr>
            <a:graphicFrameLocks noGrp="1"/>
          </p:cNvGraphicFramePr>
          <p:nvPr/>
        </p:nvGraphicFramePr>
        <p:xfrm>
          <a:off x="6477000" y="1778000"/>
          <a:ext cx="4902200" cy="3810000"/>
        </p:xfrm>
        <a:graphic>
          <a:graphicData uri="http://schemas.openxmlformats.org/drawingml/2006/table">
            <a:tbl>
              <a:tblPr/>
              <a:tblGrid>
                <a:gridCol w="1666748"/>
                <a:gridCol w="3235452"/>
              </a:tblGrid>
              <a:tr h="5334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Grounding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让模型看到真实知识和真实环境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Action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能调用工具、API、文件系统和程序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State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任务、会话、文件和中间结果能延续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Feedback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看到动作的真实结果，并据此调整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Governance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用权限、沙箱、审计和验收限制行动范围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第一部分 · 应用形态演进</a:t>
            </a:r>
            <a:endParaRPr lang="en-US" sz="900" noProof="1"/>
          </a:p>
        </p:txBody>
      </p:sp>
      <p:sp>
        <p:nvSpPr>
          <p:cNvPr id="11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04 / 36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第一部分 · 应用形态演进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四个阶段：能力扩展，而非互相替代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stage-table"/>
          <p:cNvGraphicFramePr>
            <a:graphicFrameLocks noGrp="1"/>
          </p:cNvGraphicFramePr>
          <p:nvPr/>
        </p:nvGraphicFramePr>
        <p:xfrm>
          <a:off x="812800" y="1422400"/>
          <a:ext cx="10566400" cy="3175000"/>
        </p:xfrm>
        <a:graphic>
          <a:graphicData uri="http://schemas.openxmlformats.org/drawingml/2006/table">
            <a:tbl>
              <a:tblPr/>
              <a:tblGrid>
                <a:gridCol w="1584960"/>
                <a:gridCol w="1690624"/>
                <a:gridCol w="1584960"/>
                <a:gridCol w="2324608"/>
                <a:gridCol w="2113280"/>
                <a:gridCol w="1267968"/>
              </a:tblGrid>
              <a:tr h="4445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主要控制者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执行单元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补齐的能力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典型局限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代表工具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68262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Chatbot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用户与应用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一轮消息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自然语言理解与生成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只能"说"，事实和行动能力弱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各类聊天应用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RAG + Chat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检索程序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文档片段与回答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外部 / 私有 / 时效知识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检索错误会传导；通常不执行真实任务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LangChain、FastGPT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68262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Workflow + Chat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开发者预定义图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节点、条件、变量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确定性编排、系统集成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长尾需求需要不断加分支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Dify、Coze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 + Workspace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模型在 Harness 边界内决策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Task、Tool Call、Artifact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动态规划、工具选择、反馈循环、状态延续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概率性、成本、延迟、安全与验证更复杂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OpenCode、Pi、OpenClaw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6" name="rag-head"/>
          <p:cNvSpPr txBox="1"/>
          <p:nvPr/>
        </p:nvSpPr>
        <p:spPr>
          <a:xfrm>
            <a:off x="812800" y="48006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RAG 的典型链路：解决"模型不知道"，而不是天然解决"模型会不会做"</a:t>
            </a:r>
            <a:endParaRPr lang="en-US" sz="1300" noProof="1"/>
          </a:p>
        </p:txBody>
      </p:sp>
      <p:sp>
        <p:nvSpPr>
          <p:cNvPr id="7" name="rag-flow"/>
          <p:cNvSpPr txBox="1"/>
          <p:nvPr/>
        </p:nvSpPr>
        <p:spPr>
          <a:xfrm>
            <a:off x="812800" y="5130800"/>
            <a:ext cx="1056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用户问题 → 查询改写 → 召回 → 重排/过滤 → 上下文拼装 → 模型回答 → 引用来源</a:t>
            </a:r>
            <a:endParaRPr lang="en-US" sz="1200" noProof="1"/>
          </a:p>
        </p:txBody>
      </p:sp>
      <p:sp>
        <p:nvSpPr>
          <p:cNvPr id="8" name="rag-note"/>
          <p:cNvSpPr txBox="1"/>
          <p:nvPr/>
        </p:nvSpPr>
        <p:spPr>
          <a:xfrm>
            <a:off x="812800" y="55626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生产重点不在"有没有向量库"：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查询是否被正确理解；数据是否有来源、版本、权限和有效期；召回是否覆盖真正需要的证据；模型能否区分"资料中没有"与"自己不知道"；回答能否追溯到原始材料。</a:t>
            </a:r>
            <a:endParaRPr lang="en-US" sz="1100" noProof="1"/>
          </a:p>
        </p:txBody>
      </p:sp>
      <p:sp>
        <p:nvSpPr>
          <p:cNvPr id="9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第一部分 · 应用形态演进</a:t>
            </a:r>
            <a:endParaRPr lang="en-US" sz="900" noProof="1"/>
          </a:p>
        </p:txBody>
      </p:sp>
      <p:sp>
        <p:nvSpPr>
          <p:cNvPr id="10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05 / 36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第一部分 · 应用形态演进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重要修正：演进不是"确定性越来越少"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labor-table"/>
          <p:cNvGraphicFramePr>
            <a:graphicFrameLocks noGrp="1"/>
          </p:cNvGraphicFramePr>
          <p:nvPr/>
        </p:nvGraphicFramePr>
        <p:xfrm>
          <a:off x="812800" y="1473200"/>
          <a:ext cx="10566400" cy="3683000"/>
        </p:xfrm>
        <a:graphic>
          <a:graphicData uri="http://schemas.openxmlformats.org/drawingml/2006/table">
            <a:tbl>
              <a:tblPr/>
              <a:tblGrid>
                <a:gridCol w="5811520"/>
                <a:gridCol w="4754880"/>
              </a:tblGrid>
              <a:tr h="33481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问题类型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更适合的承担者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4285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理解模糊意图、处理例外、选择策略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模型 / 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5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计算、格式转换、查询、写入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Tool / API / Script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285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稳定且高频的固定路径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Workflow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5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企业共识与项目约定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AGENTS.md / Rules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285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场景化操作方法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Skill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5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不可突破的限制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Permission / Sandbox / Policy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285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成功与否的判断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测试、断言、业务验收、人类评审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akeaway-bar"/>
          <p:cNvSpPr/>
          <p:nvPr/>
        </p:nvSpPr>
        <p:spPr>
          <a:xfrm>
            <a:off x="812800" y="5435600"/>
            <a:ext cx="50800" cy="711200"/>
          </a:xfrm>
          <a:prstGeom prst="rect">
            <a:avLst/>
          </a:prstGeom>
          <a:solidFill>
            <a:srgbClr val="C4532A"/>
          </a:solidFill>
          <a:ln>
            <a:noFill/>
          </a:ln>
        </p:spPr>
      </p:sp>
      <p:sp>
        <p:nvSpPr>
          <p:cNvPr id="7" name="takeaway"/>
          <p:cNvSpPr txBox="1"/>
          <p:nvPr/>
        </p:nvSpPr>
        <p:spPr>
          <a:xfrm>
            <a:off x="1066800" y="5435600"/>
            <a:ext cx="10312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23272E"/>
                </a:solidFill>
                <a:latin typeface="MiSans"/>
                <a:ea typeface="MiSans"/>
              </a:rPr>
              <a:t>一句话总结：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把不确定性留给模型，把确定性沉淀到环境；把灵活性放在决策层，把安全和正确性放在</a:t>
            </a:r>
            <a:r>
              <a:rPr lang="en-US" sz="1400" noProof="1" b="1">
                <a:solidFill>
                  <a:srgbClr val="23272E"/>
                </a:solidFill>
                <a:latin typeface="MiSans"/>
                <a:ea typeface="MiSans"/>
              </a:rPr>
              <a:t>模型无法绕过的边界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上。</a:t>
            </a:r>
            <a:endParaRPr lang="en-US" sz="1400" noProof="1"/>
          </a:p>
        </p:txBody>
      </p:sp>
      <p:sp>
        <p:nvSpPr>
          <p:cNvPr id="8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第一部分 · 应用形态演进</a:t>
            </a:r>
            <a:endParaRPr lang="en-US" sz="900" noProof="1"/>
          </a:p>
        </p:txBody>
      </p:sp>
      <p:sp>
        <p:nvSpPr>
          <p:cNvPr id="9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06 / 36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第二部分 · 核心定义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Agent 不是一个 Prompt，也不只是一个模型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formula-bg"/>
          <p:cNvSpPr/>
          <p:nvPr/>
        </p:nvSpPr>
        <p:spPr>
          <a:xfrm>
            <a:off x="812800" y="1422400"/>
            <a:ext cx="5207000" cy="2667000"/>
          </a:xfrm>
          <a:prstGeom prst="rect">
            <a:avLst/>
          </a:prstGeom>
          <a:solidFill>
            <a:srgbClr val="202825"/>
          </a:solidFill>
          <a:ln>
            <a:noFill/>
          </a:ln>
        </p:spPr>
      </p:sp>
      <p:sp>
        <p:nvSpPr>
          <p:cNvPr id="6" name="formula"/>
          <p:cNvSpPr txBox="1"/>
          <p:nvPr/>
        </p:nvSpPr>
        <p:spPr>
          <a:xfrm>
            <a:off x="1066800" y="1600200"/>
            <a:ext cx="4826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E9E6DC"/>
                </a:solidFill>
                <a:latin typeface="MiSans"/>
                <a:ea typeface="MiSans"/>
              </a:rPr>
              <a:t>Agent = Model</a:t>
            </a:r>
            <a:endParaRPr lang="en-US" sz="1150" noProof="1"/>
          </a:p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E9E6DC"/>
                </a:solidFill>
                <a:latin typeface="MiSans"/>
                <a:ea typeface="MiSans"/>
              </a:rPr>
              <a:t>      + Harness（循环·上下文·工具中介）</a:t>
            </a:r>
            <a:endParaRPr lang="en-US" sz="1150" noProof="1"/>
          </a:p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E9E6DC"/>
                </a:solidFill>
                <a:latin typeface="MiSans"/>
                <a:ea typeface="MiSans"/>
              </a:rPr>
              <a:t>      + State（会话·任务·检查点）</a:t>
            </a:r>
            <a:endParaRPr lang="en-US" sz="1150" noProof="1"/>
          </a:p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E9E6DC"/>
                </a:solidFill>
                <a:latin typeface="MiSans"/>
                <a:ea typeface="MiSans"/>
              </a:rPr>
              <a:t>      + Resources（规则·Skill·Tool·API）</a:t>
            </a:r>
            <a:endParaRPr lang="en-US" sz="1150" noProof="1"/>
          </a:p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E9E6DC"/>
                </a:solidFill>
                <a:latin typeface="MiSans"/>
                <a:ea typeface="MiSans"/>
              </a:rPr>
              <a:t>      + Policy（权限·沙箱·密钥·审计）</a:t>
            </a:r>
            <a:endParaRPr lang="en-US" sz="1150" noProof="1"/>
          </a:p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E9E6DC"/>
                </a:solidFill>
                <a:latin typeface="MiSans"/>
                <a:ea typeface="MiSans"/>
              </a:rPr>
              <a:t>      + Feedback &amp; Verification</a:t>
            </a:r>
            <a:endParaRPr lang="en-US" sz="1150" noProof="1"/>
          </a:p>
        </p:txBody>
      </p:sp>
      <p:sp>
        <p:nvSpPr>
          <p:cNvPr id="7" name="formula-note"/>
          <p:cNvSpPr txBox="1"/>
          <p:nvPr/>
        </p:nvSpPr>
        <p:spPr>
          <a:xfrm>
            <a:off x="812800" y="4292600"/>
            <a:ext cx="5207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Harness 是模型外部的运行脚手架。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更强的模型并不会让 Harness 失去意义——模型越能自主行动，Harness 对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安全、状态、观察和验证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的责任反而越重。</a:t>
            </a:r>
            <a:endParaRPr lang="en-US" sz="1200" noProof="1"/>
          </a:p>
        </p:txBody>
      </p:sp>
      <p:sp>
        <p:nvSpPr>
          <p:cNvPr id="8" name="right-head"/>
          <p:cNvSpPr txBox="1"/>
          <p:nvPr/>
        </p:nvSpPr>
        <p:spPr>
          <a:xfrm>
            <a:off x="6477000" y="14224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Harness 负责的七件事</a:t>
            </a:r>
            <a:endParaRPr lang="en-US" sz="1300" noProof="1"/>
          </a:p>
        </p:txBody>
      </p:sp>
      <p:sp>
        <p:nvSpPr>
          <p:cNvPr id="9" name="right-list"/>
          <p:cNvSpPr txBox="1"/>
          <p:nvPr/>
        </p:nvSpPr>
        <p:spPr>
          <a:xfrm>
            <a:off x="6477000" y="1778000"/>
            <a:ext cx="4902200" cy="431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5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组织消息和上下文</a:t>
            </a:r>
            <a:endParaRPr lang="en-US" sz="1200" noProof="1"/>
          </a:p>
          <a:p>
            <a:pPr>
              <a:lnSpc>
                <a:spcPct val="175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把工具以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结构化 Schema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 暴露给模型</a:t>
            </a:r>
            <a:endParaRPr lang="en-US" sz="1200" noProof="1"/>
          </a:p>
          <a:p>
            <a:pPr>
              <a:lnSpc>
                <a:spcPct val="175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执行工具调用并把结果送回模型</a:t>
            </a:r>
            <a:endParaRPr lang="en-US" sz="1200" noProof="1"/>
          </a:p>
          <a:p>
            <a:pPr>
              <a:lnSpc>
                <a:spcPct val="175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保存 Session、Message、Artifact 和事件</a:t>
            </a:r>
            <a:endParaRPr lang="en-US" sz="1200" noProof="1"/>
          </a:p>
          <a:p>
            <a:pPr>
              <a:lnSpc>
                <a:spcPct val="175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管理重试、超时、压缩、取消与恢复</a:t>
            </a:r>
            <a:endParaRPr lang="en-US" sz="1200" noProof="1"/>
          </a:p>
          <a:p>
            <a:pPr>
              <a:lnSpc>
                <a:spcPct val="175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在行动前执行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权限检查</a:t>
            </a:r>
            <a:endParaRPr lang="en-US" sz="1200" noProof="1"/>
          </a:p>
          <a:p>
            <a:pPr>
              <a:lnSpc>
                <a:spcPct val="175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判断继续循环、请求用户输入还是停止</a:t>
            </a:r>
            <a:endParaRPr lang="en-US" sz="1200" noProof="1"/>
          </a:p>
        </p:txBody>
      </p:sp>
      <p:sp>
        <p:nvSpPr>
          <p:cNvPr id="10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第二部分 · Agent / Harness / Skill 的定义</a:t>
            </a:r>
            <a:endParaRPr lang="en-US" sz="900" noProof="1"/>
          </a:p>
        </p:txBody>
      </p:sp>
      <p:sp>
        <p:nvSpPr>
          <p:cNvPr id="11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07 / 36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第二部分 · 核心定义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Agent 的运行时：带状态的决策循环（ReAct-like）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n1"/>
          <p:cNvSpPr/>
          <p:nvPr/>
        </p:nvSpPr>
        <p:spPr>
          <a:xfrm>
            <a:off x="812800" y="1473200"/>
            <a:ext cx="3175000" cy="508000"/>
          </a:xfrm>
          <a:prstGeom prst="rect">
            <a:avLst/>
          </a:prstGeom>
          <a:solidFill>
            <a:srgbClr val="DCE7E2"/>
          </a:solidFill>
          <a:ln>
            <a:noFill/>
          </a:ln>
        </p:spPr>
      </p:sp>
      <p:sp>
        <p:nvSpPr>
          <p:cNvPr id="6" name="n1t"/>
          <p:cNvSpPr txBox="1"/>
          <p:nvPr/>
        </p:nvSpPr>
        <p:spPr>
          <a:xfrm>
            <a:off x="812800" y="14732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用户目标或待办任务</a:t>
            </a:r>
            <a:endParaRPr lang="en-US" sz="1200" noProof="1"/>
          </a:p>
        </p:txBody>
      </p:sp>
      <p:sp>
        <p:nvSpPr>
          <p:cNvPr id="7" name="a1"/>
          <p:cNvSpPr txBox="1"/>
          <p:nvPr/>
        </p:nvSpPr>
        <p:spPr>
          <a:xfrm>
            <a:off x="812800" y="20066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C4532A"/>
                </a:solidFill>
                <a:latin typeface="MiSans"/>
                <a:ea typeface="MiSans"/>
              </a:rPr>
              <a:t>↓</a:t>
            </a:r>
            <a:endParaRPr lang="en-US" sz="1100" noProof="1"/>
          </a:p>
        </p:txBody>
      </p:sp>
      <p:sp>
        <p:nvSpPr>
          <p:cNvPr id="8" name="n2"/>
          <p:cNvSpPr/>
          <p:nvPr/>
        </p:nvSpPr>
        <p:spPr>
          <a:xfrm>
            <a:off x="812800" y="2235200"/>
            <a:ext cx="3175000" cy="508000"/>
          </a:xfrm>
          <a:prstGeom prst="rect">
            <a:avLst/>
          </a:prstGeom>
          <a:solidFill>
            <a:srgbClr val="DCE7E2"/>
          </a:solidFill>
          <a:ln>
            <a:noFill/>
          </a:ln>
        </p:spPr>
      </p:sp>
      <p:sp>
        <p:nvSpPr>
          <p:cNvPr id="9" name="n2t"/>
          <p:cNvSpPr txBox="1"/>
          <p:nvPr/>
        </p:nvSpPr>
        <p:spPr>
          <a:xfrm>
            <a:off x="812800" y="22352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装载会话状态与相关资源</a:t>
            </a:r>
            <a:endParaRPr lang="en-US" sz="1200" noProof="1"/>
          </a:p>
        </p:txBody>
      </p:sp>
      <p:sp>
        <p:nvSpPr>
          <p:cNvPr id="10" name="a2"/>
          <p:cNvSpPr txBox="1"/>
          <p:nvPr/>
        </p:nvSpPr>
        <p:spPr>
          <a:xfrm>
            <a:off x="812800" y="27686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C4532A"/>
                </a:solidFill>
                <a:latin typeface="MiSans"/>
                <a:ea typeface="MiSans"/>
              </a:rPr>
              <a:t>↓</a:t>
            </a:r>
            <a:endParaRPr lang="en-US" sz="1100" noProof="1"/>
          </a:p>
        </p:txBody>
      </p:sp>
      <p:sp>
        <p:nvSpPr>
          <p:cNvPr id="11" name="n3"/>
          <p:cNvSpPr/>
          <p:nvPr/>
        </p:nvSpPr>
        <p:spPr>
          <a:xfrm>
            <a:off x="812800" y="2997200"/>
            <a:ext cx="3175000" cy="508000"/>
          </a:xfrm>
          <a:prstGeom prst="rect">
            <a:avLst/>
          </a:prstGeom>
          <a:solidFill>
            <a:srgbClr val="DCE7E2"/>
          </a:solidFill>
          <a:ln>
            <a:noFill/>
          </a:ln>
        </p:spPr>
      </p:sp>
      <p:sp>
        <p:nvSpPr>
          <p:cNvPr id="12" name="n3t"/>
          <p:cNvSpPr txBox="1"/>
          <p:nvPr/>
        </p:nvSpPr>
        <p:spPr>
          <a:xfrm>
            <a:off x="812800" y="29972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选择：回答 / 工具 / 委派子任务</a:t>
            </a:r>
            <a:endParaRPr lang="en-US" sz="1200" noProof="1"/>
          </a:p>
        </p:txBody>
      </p:sp>
      <p:sp>
        <p:nvSpPr>
          <p:cNvPr id="13" name="a3"/>
          <p:cNvSpPr txBox="1"/>
          <p:nvPr/>
        </p:nvSpPr>
        <p:spPr>
          <a:xfrm>
            <a:off x="812800" y="35306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C4532A"/>
                </a:solidFill>
                <a:latin typeface="MiSans"/>
                <a:ea typeface="MiSans"/>
              </a:rPr>
              <a:t>↓</a:t>
            </a:r>
            <a:endParaRPr lang="en-US" sz="1100" noProof="1"/>
          </a:p>
        </p:txBody>
      </p:sp>
      <p:sp>
        <p:nvSpPr>
          <p:cNvPr id="14" name="n4"/>
          <p:cNvSpPr/>
          <p:nvPr/>
        </p:nvSpPr>
        <p:spPr>
          <a:xfrm>
            <a:off x="812800" y="3759200"/>
            <a:ext cx="3175000" cy="508000"/>
          </a:xfrm>
          <a:prstGeom prst="rect">
            <a:avLst/>
          </a:prstGeom>
          <a:solidFill>
            <a:srgbClr val="F1EEE5"/>
          </a:solidFill>
          <a:ln w="12700">
            <a:solidFill>
              <a:srgbClr val="C4532A"/>
            </a:solidFill>
          </a:ln>
        </p:spPr>
      </p:sp>
      <p:sp>
        <p:nvSpPr>
          <p:cNvPr id="15" name="n4t"/>
          <p:cNvSpPr txBox="1"/>
          <p:nvPr/>
        </p:nvSpPr>
        <p:spPr>
          <a:xfrm>
            <a:off x="812800" y="37592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权限与安全检查</a:t>
            </a:r>
            <a:endParaRPr lang="en-US" sz="1200" noProof="1"/>
          </a:p>
        </p:txBody>
      </p:sp>
      <p:sp>
        <p:nvSpPr>
          <p:cNvPr id="16" name="a4"/>
          <p:cNvSpPr txBox="1"/>
          <p:nvPr/>
        </p:nvSpPr>
        <p:spPr>
          <a:xfrm>
            <a:off x="812800" y="42926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C4532A"/>
                </a:solidFill>
                <a:latin typeface="MiSans"/>
                <a:ea typeface="MiSans"/>
              </a:rPr>
              <a:t>↓ 允许</a:t>
            </a:r>
            <a:endParaRPr lang="en-US" sz="1100" noProof="1"/>
          </a:p>
        </p:txBody>
      </p:sp>
      <p:sp>
        <p:nvSpPr>
          <p:cNvPr id="17" name="n5"/>
          <p:cNvSpPr/>
          <p:nvPr/>
        </p:nvSpPr>
        <p:spPr>
          <a:xfrm>
            <a:off x="812800" y="4521200"/>
            <a:ext cx="3175000" cy="508000"/>
          </a:xfrm>
          <a:prstGeom prst="rect">
            <a:avLst/>
          </a:prstGeom>
          <a:solidFill>
            <a:srgbClr val="DCE7E2"/>
          </a:solidFill>
          <a:ln>
            <a:noFill/>
          </a:ln>
        </p:spPr>
      </p:sp>
      <p:sp>
        <p:nvSpPr>
          <p:cNvPr id="18" name="n5t"/>
          <p:cNvSpPr txBox="1"/>
          <p:nvPr/>
        </p:nvSpPr>
        <p:spPr>
          <a:xfrm>
            <a:off x="812800" y="45212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执行并获得真实观察</a:t>
            </a:r>
            <a:endParaRPr lang="en-US" sz="1200" noProof="1"/>
          </a:p>
        </p:txBody>
      </p:sp>
      <p:sp>
        <p:nvSpPr>
          <p:cNvPr id="19" name="a5"/>
          <p:cNvSpPr txBox="1"/>
          <p:nvPr/>
        </p:nvSpPr>
        <p:spPr>
          <a:xfrm>
            <a:off x="812800" y="50546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C4532A"/>
                </a:solidFill>
                <a:latin typeface="MiSans"/>
                <a:ea typeface="MiSans"/>
              </a:rPr>
              <a:t>↓</a:t>
            </a:r>
            <a:endParaRPr lang="en-US" sz="1100" noProof="1"/>
          </a:p>
        </p:txBody>
      </p:sp>
      <p:sp>
        <p:nvSpPr>
          <p:cNvPr id="20" name="n6"/>
          <p:cNvSpPr/>
          <p:nvPr/>
        </p:nvSpPr>
        <p:spPr>
          <a:xfrm>
            <a:off x="812800" y="5283200"/>
            <a:ext cx="3175000" cy="508000"/>
          </a:xfrm>
          <a:prstGeom prst="rect">
            <a:avLst/>
          </a:prstGeom>
          <a:solidFill>
            <a:srgbClr val="F1EEE5"/>
          </a:solidFill>
          <a:ln w="12700">
            <a:solidFill>
              <a:srgbClr val="C4532A"/>
            </a:solidFill>
          </a:ln>
        </p:spPr>
      </p:sp>
      <p:sp>
        <p:nvSpPr>
          <p:cNvPr id="21" name="n6t"/>
          <p:cNvSpPr txBox="1"/>
          <p:nvPr/>
        </p:nvSpPr>
        <p:spPr>
          <a:xfrm>
            <a:off x="812800" y="52832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有完成证据吗？</a:t>
            </a:r>
            <a:endParaRPr lang="en-US" sz="1200" noProof="1"/>
          </a:p>
        </p:txBody>
      </p:sp>
      <p:sp>
        <p:nvSpPr>
          <p:cNvPr id="22" name="a6"/>
          <p:cNvSpPr txBox="1"/>
          <p:nvPr/>
        </p:nvSpPr>
        <p:spPr>
          <a:xfrm>
            <a:off x="812800" y="58166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C4532A"/>
                </a:solidFill>
                <a:latin typeface="MiSans"/>
                <a:ea typeface="MiSans"/>
              </a:rPr>
              <a:t>↓ 有</a:t>
            </a:r>
            <a:endParaRPr lang="en-US" sz="1100" noProof="1"/>
          </a:p>
        </p:txBody>
      </p:sp>
      <p:sp>
        <p:nvSpPr>
          <p:cNvPr id="23" name="n7"/>
          <p:cNvSpPr/>
          <p:nvPr/>
        </p:nvSpPr>
        <p:spPr>
          <a:xfrm>
            <a:off x="812800" y="6045200"/>
            <a:ext cx="3175000" cy="406400"/>
          </a:xfrm>
          <a:prstGeom prst="rect">
            <a:avLst/>
          </a:prstGeom>
          <a:solidFill>
            <a:srgbClr val="14524B"/>
          </a:solidFill>
          <a:ln>
            <a:noFill/>
          </a:ln>
        </p:spPr>
      </p:sp>
      <p:sp>
        <p:nvSpPr>
          <p:cNvPr id="24" name="n7t"/>
          <p:cNvSpPr txBox="1"/>
          <p:nvPr/>
        </p:nvSpPr>
        <p:spPr>
          <a:xfrm>
            <a:off x="812800" y="6045200"/>
            <a:ext cx="3175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交付结果、产物与证据</a:t>
            </a:r>
            <a:endParaRPr lang="en-US" sz="1200" noProof="1"/>
          </a:p>
        </p:txBody>
      </p:sp>
      <p:sp>
        <p:nvSpPr>
          <p:cNvPr id="25" name="loop-note"/>
          <p:cNvSpPr txBox="1"/>
          <p:nvPr/>
        </p:nvSpPr>
        <p:spPr>
          <a:xfrm>
            <a:off x="4191000" y="3759200"/>
            <a:ext cx="1905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6E7480"/>
                </a:solidFill>
                <a:latin typeface="MiSans"/>
                <a:ea typeface="MiSans"/>
              </a:rPr>
              <a:t>拒绝 / 询问 → 请求确认或停止</a:t>
            </a:r>
            <a:endParaRPr lang="en-US" sz="100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000" noProof="1">
                <a:solidFill>
                  <a:srgbClr val="6E7480"/>
                </a:solidFill>
                <a:latin typeface="MiSans"/>
                <a:ea typeface="MiSans"/>
              </a:rPr>
              <a:t>无证据 → 回到"装载状态"继续循环</a:t>
            </a:r>
            <a:endParaRPr lang="en-US" sz="1000" noProof="1"/>
          </a:p>
        </p:txBody>
      </p:sp>
      <p:sp>
        <p:nvSpPr>
          <p:cNvPr id="26" name="obs-head"/>
          <p:cNvSpPr txBox="1"/>
          <p:nvPr/>
        </p:nvSpPr>
        <p:spPr>
          <a:xfrm>
            <a:off x="6350000" y="1422400"/>
            <a:ext cx="502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每个环节应保留的可观测信息</a:t>
            </a:r>
            <a:endParaRPr lang="en-US" sz="1300" noProof="1"/>
          </a:p>
        </p:txBody>
      </p:sp>
      <p:graphicFrame>
        <p:nvGraphicFramePr>
          <p:cNvPr id="27" name="obs-table"/>
          <p:cNvGraphicFramePr>
            <a:graphicFrameLocks noGrp="1"/>
          </p:cNvGraphicFramePr>
          <p:nvPr/>
        </p:nvGraphicFramePr>
        <p:xfrm>
          <a:off x="6350000" y="1752600"/>
          <a:ext cx="5029200" cy="4191000"/>
        </p:xfrm>
        <a:graphic>
          <a:graphicData uri="http://schemas.openxmlformats.org/drawingml/2006/table">
            <a:tbl>
              <a:tblPr/>
              <a:tblGrid>
                <a:gridCol w="1207008"/>
                <a:gridCol w="3822192"/>
              </a:tblGrid>
              <a:tr h="4191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应保留的信息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观察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输入来源、版本、时间、权限范围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决策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简明计划、选择理由、风险提示（不要求完整思维链）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行动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工具名、参数摘要、调用身份、幂等键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反馈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结构化结果、错误类型、证据与 Artifact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状态更新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状态迁移、差异、可恢复位置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停止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停止原因、未完成项、下一步建议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28" name="obs-note"/>
          <p:cNvSpPr txBox="1"/>
          <p:nvPr/>
        </p:nvSpPr>
        <p:spPr>
          <a:xfrm>
            <a:off x="6350000" y="6045200"/>
            <a:ext cx="5029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生产 Agent 通常采用 ReAct-like 循环，但不一定逐字暴露模型的内部思维过程。</a:t>
            </a:r>
            <a:endParaRPr lang="en-US" sz="1050" noProof="1"/>
          </a:p>
        </p:txBody>
      </p:sp>
      <p:sp>
        <p:nvSpPr>
          <p:cNvPr id="29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第二部分 · Agent / Harness / Skill 的定义</a:t>
            </a:r>
            <a:endParaRPr lang="en-US" sz="900" noProof="1"/>
          </a:p>
        </p:txBody>
      </p:sp>
      <p:sp>
        <p:nvSpPr>
          <p:cNvPr id="30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08 / 36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第二部分 · 核心定义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Agent 必须知道何时停止：七类停止条件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stop-table"/>
          <p:cNvGraphicFramePr>
            <a:graphicFrameLocks noGrp="1"/>
          </p:cNvGraphicFramePr>
          <p:nvPr/>
        </p:nvGraphicFramePr>
        <p:xfrm>
          <a:off x="812800" y="1473200"/>
          <a:ext cx="10566400" cy="3810000"/>
        </p:xfrm>
        <a:graphic>
          <a:graphicData uri="http://schemas.openxmlformats.org/drawingml/2006/table">
            <a:tbl>
              <a:tblPr/>
              <a:tblGrid>
                <a:gridCol w="2324608"/>
                <a:gridCol w="8241792"/>
              </a:tblGrid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停止条件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4876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① 完成停止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验收断言通过，并产生了约定的 Artifact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② 需要输入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缺少会显著改变结果的用户选择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876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③ 权限阻塞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动作被拒绝，且没有同等安全的替代路径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④ 失败停止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同一错误重复出现，继续尝试没有新增信息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876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⑤ 风险停止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即将执行不可逆、越权或高影响操作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⑥ 预算停止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达到时间、Token、调用次数或费用上限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5029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⑦ 外部停止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用户取消、服务超时或依赖系统不可用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warn-bar"/>
          <p:cNvSpPr/>
          <p:nvPr/>
        </p:nvSpPr>
        <p:spPr>
          <a:xfrm>
            <a:off x="812800" y="5562600"/>
            <a:ext cx="50800" cy="660400"/>
          </a:xfrm>
          <a:prstGeom prst="rect">
            <a:avLst/>
          </a:prstGeom>
          <a:solidFill>
            <a:srgbClr val="C4532A"/>
          </a:solidFill>
          <a:ln>
            <a:noFill/>
          </a:ln>
        </p:spPr>
      </p:sp>
      <p:sp>
        <p:nvSpPr>
          <p:cNvPr id="7" name="warn"/>
          <p:cNvSpPr txBox="1"/>
          <p:nvPr/>
        </p:nvSpPr>
        <p:spPr>
          <a:xfrm>
            <a:off x="1066800" y="5562600"/>
            <a:ext cx="10312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3272E"/>
                </a:solidFill>
                <a:latin typeface="MiSans"/>
                <a:ea typeface="MiSans"/>
              </a:rPr>
              <a:t>"还可以继续想"不是继续循环的充分理由。</a:t>
            </a:r>
            <a:r>
              <a:rPr lang="en-US" sz="1350" noProof="1">
                <a:solidFill>
                  <a:srgbClr val="23272E"/>
                </a:solidFill>
                <a:latin typeface="MiSans"/>
                <a:ea typeface="MiSans"/>
              </a:rPr>
              <a:t>每次循环都应回答：这一步能否获得新的信息、产生新的证据或推进状态？</a:t>
            </a:r>
            <a:endParaRPr lang="en-US" sz="1350" noProof="1"/>
          </a:p>
        </p:txBody>
      </p:sp>
      <p:sp>
        <p:nvSpPr>
          <p:cNvPr id="8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第二部分 · Agent / Harness / Skill 的定义</a:t>
            </a:r>
            <a:endParaRPr lang="en-US" sz="900" noProof="1"/>
          </a:p>
        </p:txBody>
      </p:sp>
      <p:sp>
        <p:nvSpPr>
          <p:cNvPr id="9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09 / 36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第二部分 · 核心定义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Skill：可按需加载的操作知识包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struct-bg"/>
          <p:cNvSpPr/>
          <p:nvPr/>
        </p:nvSpPr>
        <p:spPr>
          <a:xfrm>
            <a:off x="812800" y="1422400"/>
            <a:ext cx="5080000" cy="1651000"/>
          </a:xfrm>
          <a:prstGeom prst="rect">
            <a:avLst/>
          </a:prstGeom>
          <a:solidFill>
            <a:srgbClr val="202825"/>
          </a:solidFill>
          <a:ln>
            <a:noFill/>
          </a:ln>
        </p:spPr>
      </p:sp>
      <p:sp>
        <p:nvSpPr>
          <p:cNvPr id="6" name="struct"/>
          <p:cNvSpPr txBox="1"/>
          <p:nvPr/>
        </p:nvSpPr>
        <p:spPr>
          <a:xfrm>
            <a:off x="1041400" y="1549400"/>
            <a:ext cx="46990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my-skill/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├── SKILL.md　　# 触发边界、流程、资源路由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├── scripts/　　# 可重复、确定性的执行逻辑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├── references/　# 需要时读取的领域资料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├── assets/　　 # 模板、样例、静态资源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└── evals/　　　# 触发与输出质量测试</a:t>
            </a:r>
            <a:endParaRPr lang="en-US" sz="1050" noProof="1"/>
          </a:p>
        </p:txBody>
      </p:sp>
      <p:sp>
        <p:nvSpPr>
          <p:cNvPr id="7" name="seven-head"/>
          <p:cNvSpPr txBox="1"/>
          <p:nvPr/>
        </p:nvSpPr>
        <p:spPr>
          <a:xfrm>
            <a:off x="812800" y="3276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合格的 Skill 回答七个问题</a:t>
            </a:r>
            <a:endParaRPr lang="en-US" sz="1300" noProof="1"/>
          </a:p>
        </p:txBody>
      </p:sp>
      <p:sp>
        <p:nvSpPr>
          <p:cNvPr id="8" name="seven"/>
          <p:cNvSpPr txBox="1"/>
          <p:nvPr/>
        </p:nvSpPr>
        <p:spPr>
          <a:xfrm>
            <a:off x="812800" y="3606800"/>
            <a:ext cx="5080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什么用户意图应该触发它？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哪些相邻场景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不应该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触发它？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开始前需要检查什么？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以什么顺序使用哪些资源？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哪些判断由模型做，哪些必须交给程序？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失败时如何分类、重试、降级或停止？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最终交付什么，如何验证？</a:t>
            </a:r>
            <a:endParaRPr lang="en-US" sz="1150" noProof="1"/>
          </a:p>
        </p:txBody>
      </p:sp>
      <p:sp>
        <p:nvSpPr>
          <p:cNvPr id="9" name="not-head"/>
          <p:cNvSpPr txBox="1"/>
          <p:nvPr/>
        </p:nvSpPr>
        <p:spPr>
          <a:xfrm>
            <a:off x="6477000" y="14224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Skill 不是什么</a:t>
            </a:r>
            <a:endParaRPr lang="en-US" sz="1300" noProof="1"/>
          </a:p>
        </p:txBody>
      </p:sp>
      <p:graphicFrame>
        <p:nvGraphicFramePr>
          <p:cNvPr id="10" name="not-table"/>
          <p:cNvGraphicFramePr>
            <a:graphicFrameLocks noGrp="1"/>
          </p:cNvGraphicFramePr>
          <p:nvPr/>
        </p:nvGraphicFramePr>
        <p:xfrm>
          <a:off x="6477000" y="1752600"/>
          <a:ext cx="4902200" cy="2667000"/>
        </p:xfrm>
        <a:graphic>
          <a:graphicData uri="http://schemas.openxmlformats.org/drawingml/2006/table">
            <a:tbl>
              <a:tblPr/>
              <a:tblGrid>
                <a:gridCol w="1372616"/>
                <a:gridCol w="3529584"/>
              </a:tblGrid>
              <a:tr h="3467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易混淆对象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与 Skill 的区别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38671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Prompt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一次性指令；Skill 是带边界与资源的可复用包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Tool / API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Tool 是"能做什么"；Skill 是"何时做、怎么做、怎样验收"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8671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Workflow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Workflow 固化控制流；Skill 可适应上下文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 是运行主体；Skill 是其可加载的程序性知识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8671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Subagent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Subagent 有独立上下文；Skill 注入当前上下文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RAG 知识库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RAG 提供事实材料；Skill 偏程序性知识与导航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11" name="pd-head"/>
          <p:cNvSpPr txBox="1"/>
          <p:nvPr/>
        </p:nvSpPr>
        <p:spPr>
          <a:xfrm>
            <a:off x="6477000" y="46228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渐进式披露：不为每个 Skill 预付全文上下文</a:t>
            </a:r>
            <a:endParaRPr lang="en-US" sz="1300" noProof="1"/>
          </a:p>
        </p:txBody>
      </p:sp>
      <p:sp>
        <p:nvSpPr>
          <p:cNvPr id="12" name="pd-flow"/>
          <p:cNvSpPr txBox="1"/>
          <p:nvPr/>
        </p:nvSpPr>
        <p:spPr>
          <a:xfrm>
            <a:off x="6477000" y="4953000"/>
            <a:ext cx="4902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① 发现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只暴露 name + description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② 激活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命中后读取完整 SKILL.md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③ 执行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需要时才读 reference / 脚本 / 资产</a:t>
            </a:r>
            <a:endParaRPr lang="en-US" sz="1150" noProof="1"/>
          </a:p>
        </p:txBody>
      </p:sp>
      <p:sp>
        <p:nvSpPr>
          <p:cNvPr id="13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第二部分 · Agent / Harness / Skill 的定义</a:t>
            </a:r>
            <a:endParaRPr lang="en-US" sz="900" noProof="1"/>
          </a:p>
        </p:txBody>
      </p:sp>
      <p:sp>
        <p:nvSpPr>
          <p:cNvPr id="14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10 / 36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812800" y="1143000"/>
            <a:ext cx="3810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0" noProof="1" b="1">
                <a:solidFill>
                  <a:srgbClr val="DCE7E2"/>
                </a:solidFill>
                <a:latin typeface="MiSans"/>
                <a:ea typeface="MiSans"/>
              </a:rPr>
              <a:t>02</a:t>
            </a:r>
            <a:endParaRPr lang="en-US" sz="12000" noProof="1"/>
          </a:p>
        </p:txBody>
      </p:sp>
      <p:sp>
        <p:nvSpPr>
          <p:cNvPr id="3" name="kicker"/>
          <p:cNvSpPr txBox="1"/>
          <p:nvPr/>
        </p:nvSpPr>
        <p:spPr>
          <a:xfrm>
            <a:off x="812800" y="3403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模块二 · 第三部分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3708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3272E"/>
                </a:solidFill>
                <a:latin typeface="MiSans"/>
                <a:ea typeface="MiSans"/>
              </a:rPr>
              <a:t>以 OpenCode 为例理解 Agent 平台分层</a:t>
            </a:r>
            <a:endParaRPr lang="en-US" sz="3000" noProof="1"/>
          </a:p>
        </p:txBody>
      </p:sp>
      <p:sp>
        <p:nvSpPr>
          <p:cNvPr id="5" name="rule"/>
          <p:cNvSpPr/>
          <p:nvPr/>
        </p:nvSpPr>
        <p:spPr>
          <a:xfrm>
            <a:off x="812800" y="44704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6" name="parts"/>
          <p:cNvSpPr txBox="1"/>
          <p:nvPr/>
        </p:nvSpPr>
        <p:spPr>
          <a:xfrm>
            <a:off x="812800" y="4749800"/>
            <a:ext cx="10566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对话与任务层 → 规则层（AGENTS.md）→ 流程层（Skill）→ 能力接口层（Tool / MCP）→ 运行与状态层 → 安全与治理控制面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层次越向下越接近机器可执行资源、约束越明确；</a:t>
            </a:r>
            <a:r>
              <a:rPr lang="en-US" sz="1300" noProof="1" b="1">
                <a:solidFill>
                  <a:srgbClr val="23272E"/>
                </a:solidFill>
                <a:latin typeface="MiSans"/>
                <a:ea typeface="MiSans"/>
              </a:rPr>
              <a:t>安全层不是最下面的一段提示词，而是贯穿整个系统的控制面。</a:t>
            </a:r>
            <a:endParaRPr lang="en-US" sz="1300" noProof="1"/>
          </a:p>
        </p:txBody>
      </p:sp>
      <p:sp>
        <p:nvSpPr>
          <p:cNvPr id="7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模块二 · OpenCode 平台分层</a:t>
            </a:r>
            <a:endParaRPr lang="en-US" sz="900" noProof="1"/>
          </a:p>
        </p:txBody>
      </p:sp>
      <p:sp>
        <p:nvSpPr>
          <p:cNvPr id="8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11 / 36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第三部分 · 平台分层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从自然语言到机器资源：六层架构总览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layer-table"/>
          <p:cNvGraphicFramePr>
            <a:graphicFrameLocks noGrp="1"/>
          </p:cNvGraphicFramePr>
          <p:nvPr/>
        </p:nvGraphicFramePr>
        <p:xfrm>
          <a:off x="812800" y="1422400"/>
          <a:ext cx="10566400" cy="4191000"/>
        </p:xfrm>
        <a:graphic>
          <a:graphicData uri="http://schemas.openxmlformats.org/drawingml/2006/table">
            <a:tbl>
              <a:tblPr/>
              <a:tblGrid>
                <a:gridCol w="1796288"/>
                <a:gridCol w="2641600"/>
                <a:gridCol w="2535936"/>
                <a:gridCol w="2007616"/>
                <a:gridCol w="1584960"/>
              </a:tblGrid>
              <a:tr h="4191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OpenCode 中的载体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主要内容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装载方式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约束强度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对话与任务层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用户消息、附件、当前 Session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本次目标、背景、偏好、反馈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每轮直接进入上下文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软；可变化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资源引导与规则层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AGENTS.md、instructions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项目结构、构建命令、团队规范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项目/全局规则进入上下文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软到中；自然语言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应用流程层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SKILL.md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场景流程、资源路由、错误处理、验收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元数据常驻，正文按需加载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中；可解释执行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能力接口层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Built-in / Custom Tool、MCP、Script、API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文件、命令、搜索、数据库、业务动作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Tool Schema 或命令接口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中到强；参数有结构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运行与状态层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Session、Task、Event、Workspace、Artifact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当前进度、工具结果、文件与检查点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Harness 持续维护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强；运行时控制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安全与治理控制面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opencode.json permission、OS 沙箱、网络、密钥、审计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允许、询问、拒绝、隔离和追踪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每次动作前后检查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最强；模型不能自行解除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812800" y="5791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读表方法：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层次越向下，越接近机器可执行资源，约束通常越明确；安全层作为控制面贯穿所有层，在每次动作前后检查。</a:t>
            </a:r>
            <a:endParaRPr lang="en-US" sz="1100" noProof="1"/>
          </a:p>
        </p:txBody>
      </p:sp>
      <p:sp>
        <p:nvSpPr>
          <p:cNvPr id="7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第三部分 · OpenCode 平台分层</a:t>
            </a:r>
            <a:endParaRPr lang="en-US" sz="900" noProof="1"/>
          </a:p>
        </p:txBody>
      </p:sp>
      <p:sp>
        <p:nvSpPr>
          <p:cNvPr id="8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12 / 36</a:t>
            </a:r>
            <a:endParaRPr lang="en-US" sz="9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第三部分 · 平台分层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AGENTS.md 写项目共识，状态交给运行时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code-bg"/>
          <p:cNvSpPr/>
          <p:nvPr/>
        </p:nvSpPr>
        <p:spPr>
          <a:xfrm>
            <a:off x="812800" y="1422400"/>
            <a:ext cx="5588000" cy="4064000"/>
          </a:xfrm>
          <a:prstGeom prst="rect">
            <a:avLst/>
          </a:prstGeom>
          <a:solidFill>
            <a:srgbClr val="202825"/>
          </a:solidFill>
          <a:ln>
            <a:noFill/>
          </a:ln>
        </p:spPr>
      </p:sp>
      <p:sp>
        <p:nvSpPr>
          <p:cNvPr id="6" name="code"/>
          <p:cNvSpPr txBox="1"/>
          <p:nvPr/>
        </p:nvSpPr>
        <p:spPr>
          <a:xfrm>
            <a:off x="1041400" y="1600200"/>
            <a:ext cx="5207000" cy="375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# Project Guide</a:t>
            </a:r>
            <a:endParaRPr lang="en-US" sz="1050" noProof="1"/>
          </a:p>
          <a:p>
            <a:pPr>
              <a:lnSpc>
                <a:spcPct val="150000"/>
              </a:lnSpc>
            </a:pP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## Goal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多租户数据分析服务。任何修改都不能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破坏租户隔离。</a:t>
            </a:r>
            <a:endParaRPr lang="en-US" sz="1050" noProof="1"/>
          </a:p>
          <a:p>
            <a:pPr>
              <a:lnSpc>
                <a:spcPct val="150000"/>
              </a:lnSpc>
            </a:pP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## Structure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- api/　 对外接口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- core/　 业务逻辑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- tests/　单元与隔离测试</a:t>
            </a:r>
            <a:endParaRPr lang="en-US" sz="1050" noProof="1"/>
          </a:p>
          <a:p>
            <a:pPr>
              <a:lnSpc>
                <a:spcPct val="150000"/>
              </a:lnSpc>
            </a:pP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## Commands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- 单元测试：pytest -q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- 隔离测试：pytest -q tests/isolation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- 静态检查：ruff check .</a:t>
            </a:r>
            <a:endParaRPr lang="en-US" sz="1050" noProof="1"/>
          </a:p>
          <a:p>
            <a:pPr>
              <a:lnSpc>
                <a:spcPct val="150000"/>
              </a:lnSpc>
            </a:pP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## Rules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- 不在源码中写入密钥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- 改 Schema 前先生成迁移计划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- 完成后报告改动文件、验证命令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　和仍未覆盖的风险</a:t>
            </a:r>
            <a:endParaRPr lang="en-US" sz="1050" noProof="1"/>
          </a:p>
        </p:txBody>
      </p:sp>
      <p:sp>
        <p:nvSpPr>
          <p:cNvPr id="7" name="code-note"/>
          <p:cNvSpPr txBox="1"/>
          <p:nvPr/>
        </p:nvSpPr>
        <p:spPr>
          <a:xfrm>
            <a:off x="812800" y="5638800"/>
            <a:ext cx="558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AGENTS.md 是</a:t>
            </a:r>
            <a:r>
              <a:rPr lang="en-US" sz="1050" noProof="1" b="1">
                <a:solidFill>
                  <a:srgbClr val="6E7480"/>
                </a:solidFill>
                <a:latin typeface="MiSans"/>
                <a:ea typeface="MiSans"/>
              </a:rPr>
              <a:t>高频、跨任务</a:t>
            </a: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的上下文，不应变成百科全书：场景性长流程拆到 Skill，机器硬限制放入权限或沙箱。</a:t>
            </a:r>
            <a:endParaRPr lang="en-US" sz="1050" noProof="1"/>
          </a:p>
        </p:txBody>
      </p:sp>
      <p:sp>
        <p:nvSpPr>
          <p:cNvPr id="8" name="state-head"/>
          <p:cNvSpPr txBox="1"/>
          <p:nvPr/>
        </p:nvSpPr>
        <p:spPr>
          <a:xfrm>
            <a:off x="6858000" y="1422400"/>
            <a:ext cx="452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工程上要区分六种状态</a:t>
            </a:r>
            <a:endParaRPr lang="en-US" sz="1300" noProof="1"/>
          </a:p>
        </p:txBody>
      </p:sp>
      <p:graphicFrame>
        <p:nvGraphicFramePr>
          <p:cNvPr id="9" name="state-table"/>
          <p:cNvGraphicFramePr>
            <a:graphicFrameLocks noGrp="1"/>
          </p:cNvGraphicFramePr>
          <p:nvPr/>
        </p:nvGraphicFramePr>
        <p:xfrm>
          <a:off x="6858000" y="1752600"/>
          <a:ext cx="4521200" cy="3175000"/>
        </p:xfrm>
        <a:graphic>
          <a:graphicData uri="http://schemas.openxmlformats.org/drawingml/2006/table">
            <a:tbl>
              <a:tblPr/>
              <a:tblGrid>
                <a:gridCol w="1718056"/>
                <a:gridCol w="2803144"/>
              </a:tblGrid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46672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Conversation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用户与 Agent 说了什么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Task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planning / working / blocked / completed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6672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Workspace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文件、代码和中间产物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External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数据库、工单、部署环境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635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Checkpoint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失败后从哪里恢复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5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Artifact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最终可交付的产物或变更集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10" name="state-note-bar"/>
          <p:cNvSpPr/>
          <p:nvPr/>
        </p:nvSpPr>
        <p:spPr>
          <a:xfrm>
            <a:off x="6858000" y="5130800"/>
            <a:ext cx="50800" cy="558800"/>
          </a:xfrm>
          <a:prstGeom prst="rect">
            <a:avLst/>
          </a:prstGeom>
          <a:solidFill>
            <a:srgbClr val="C4532A"/>
          </a:solidFill>
          <a:ln>
            <a:noFill/>
          </a:ln>
        </p:spPr>
      </p:sp>
      <p:sp>
        <p:nvSpPr>
          <p:cNvPr id="11" name="state-note"/>
          <p:cNvSpPr txBox="1"/>
          <p:nvPr/>
        </p:nvSpPr>
        <p:spPr>
          <a:xfrm>
            <a:off x="7061200" y="5130800"/>
            <a:ext cx="431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聊天记录不能替代业务数据库；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模型总结也不能成为生产状态的唯一真相来源。OpenCode 的 TUI 是 Server 的客户端，SDK 可创建会话、发送消息和订阅事件。</a:t>
            </a:r>
            <a:endParaRPr lang="en-US" sz="1100" noProof="1"/>
          </a:p>
        </p:txBody>
      </p:sp>
      <p:sp>
        <p:nvSpPr>
          <p:cNvPr id="12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第三部分 · OpenCode 平台分层</a:t>
            </a:r>
            <a:endParaRPr lang="en-US" sz="900" noProof="1"/>
          </a:p>
        </p:txBody>
      </p:sp>
      <p:sp>
        <p:nvSpPr>
          <p:cNvPr id="13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13 / 36</a:t>
            </a:r>
            <a:endParaRPr lang="en-US" sz="9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第三部分 · 平台分层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Skill 教方法，Tool 给能力：各归其位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code-bg"/>
          <p:cNvSpPr/>
          <p:nvPr/>
        </p:nvSpPr>
        <p:spPr>
          <a:xfrm>
            <a:off x="812800" y="1422400"/>
            <a:ext cx="6096000" cy="4191000"/>
          </a:xfrm>
          <a:prstGeom prst="rect">
            <a:avLst/>
          </a:prstGeom>
          <a:solidFill>
            <a:srgbClr val="202825"/>
          </a:solidFill>
          <a:ln>
            <a:noFill/>
          </a:ln>
        </p:spPr>
      </p:sp>
      <p:sp>
        <p:nvSpPr>
          <p:cNvPr id="6" name="code"/>
          <p:cNvSpPr txBox="1"/>
          <p:nvPr/>
        </p:nvSpPr>
        <p:spPr>
          <a:xfrm>
            <a:off x="1041400" y="1600200"/>
            <a:ext cx="5715000" cy="388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---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name: tenant-isolation-review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description: &gt;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Review changes that may affect tenant data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or filesystem isolation. Use for auth, storage,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workspace mapping, database queries, or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cross-tenant access paths. Do not use for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unrelated UI-only edits.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---</a:t>
            </a:r>
            <a:endParaRPr lang="en-US" sz="1050" noProof="1"/>
          </a:p>
          <a:p>
            <a:pPr>
              <a:lnSpc>
                <a:spcPct val="150000"/>
              </a:lnSpc>
            </a:pP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# Tenant Isolation Review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1. Identify the tenant boundary and the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 authoritative tenant ID.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2. Trace all read/write paths affected.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3. Run scripts/check-isolation.sh.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4. Read references/isolation-invariants.md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 only if a boundary changes.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5. Report PASS/FAIL for each invariant with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 file or test evidence.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6. Do not modify production credentials or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 execute production migrations.</a:t>
            </a:r>
            <a:endParaRPr lang="en-US" sz="1050" noProof="1"/>
          </a:p>
        </p:txBody>
      </p:sp>
      <p:sp>
        <p:nvSpPr>
          <p:cNvPr id="7" name="code-note"/>
          <p:cNvSpPr txBox="1"/>
          <p:nvPr/>
        </p:nvSpPr>
        <p:spPr>
          <a:xfrm>
            <a:off x="812800" y="5765800"/>
            <a:ext cx="609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注意 description 的写法：既说"</a:t>
            </a:r>
            <a:r>
              <a:rPr lang="en-US" sz="1050" noProof="1" b="1">
                <a:solidFill>
                  <a:srgbClr val="6E7480"/>
                </a:solidFill>
                <a:latin typeface="MiSans"/>
                <a:ea typeface="MiSans"/>
              </a:rPr>
              <a:t>什么时候用</a:t>
            </a: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"，也说"</a:t>
            </a:r>
            <a:r>
              <a:rPr lang="en-US" sz="1050" noProof="1" b="1">
                <a:solidFill>
                  <a:srgbClr val="6E7480"/>
                </a:solidFill>
                <a:latin typeface="MiSans"/>
                <a:ea typeface="MiSans"/>
              </a:rPr>
              <a:t>什么时候不用</a:t>
            </a: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"——正边界与负边界同时定义。</a:t>
            </a:r>
            <a:endParaRPr lang="en-US" sz="1050" noProof="1"/>
          </a:p>
        </p:txBody>
      </p:sp>
      <p:sp>
        <p:nvSpPr>
          <p:cNvPr id="8" name="tool-head"/>
          <p:cNvSpPr txBox="1"/>
          <p:nvPr/>
        </p:nvSpPr>
        <p:spPr>
          <a:xfrm>
            <a:off x="7366000" y="1422400"/>
            <a:ext cx="401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Tool 与 API：环境允许做什么</a:t>
            </a:r>
            <a:endParaRPr lang="en-US" sz="1300" noProof="1"/>
          </a:p>
        </p:txBody>
      </p:sp>
      <p:sp>
        <p:nvSpPr>
          <p:cNvPr id="9" name="tool-body"/>
          <p:cNvSpPr txBox="1"/>
          <p:nvPr/>
        </p:nvSpPr>
        <p:spPr>
          <a:xfrm>
            <a:off x="7366000" y="1778000"/>
            <a:ext cx="40132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OpenCode 内置文件、搜索和命令等工具，也可接入自定义 Tool 或 MCP Server。</a:t>
            </a:r>
            <a:endParaRPr lang="en-US" sz="1200" noProof="1"/>
          </a:p>
          <a:p>
            <a:pPr>
              <a:lnSpc>
                <a:spcPct val="165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Tool 应提供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稳定、窄而清楚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的输入输出，而不是把整个业务系统变成一个模糊的"万能接口"。</a:t>
            </a:r>
            <a:endParaRPr lang="en-US" sz="1200" noProof="1"/>
          </a:p>
          <a:p>
            <a:pPr>
              <a:lnSpc>
                <a:spcPct val="165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分层记忆：对话层只描述本次任务；AGENTS.md 写项目共识；Skill 写场景方法；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机器硬限制必须落到权限与沙箱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。</a:t>
            </a:r>
            <a:endParaRPr lang="en-US" sz="1200" noProof="1"/>
          </a:p>
        </p:txBody>
      </p:sp>
      <p:sp>
        <p:nvSpPr>
          <p:cNvPr id="10" name="tool-note-bar"/>
          <p:cNvSpPr/>
          <p:nvPr/>
        </p:nvSpPr>
        <p:spPr>
          <a:xfrm>
            <a:off x="7366000" y="4826000"/>
            <a:ext cx="50800" cy="558800"/>
          </a:xfrm>
          <a:prstGeom prst="rect">
            <a:avLst/>
          </a:prstGeom>
          <a:solidFill>
            <a:srgbClr val="C4532A"/>
          </a:solidFill>
          <a:ln>
            <a:noFill/>
          </a:ln>
        </p:spPr>
      </p:sp>
      <p:sp>
        <p:nvSpPr>
          <p:cNvPr id="11" name="tool-note"/>
          <p:cNvSpPr txBox="1"/>
          <p:nvPr/>
        </p:nvSpPr>
        <p:spPr>
          <a:xfrm>
            <a:off x="7569200" y="4826000"/>
            <a:ext cx="3810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判断放哪层的口诀：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每次任务都变 → 对话层；跨任务共识 → AGENTS.md；场景方法 → Skill；能做的动作 → Tool。</a:t>
            </a:r>
            <a:endParaRPr lang="en-US" sz="1100" noProof="1"/>
          </a:p>
        </p:txBody>
      </p:sp>
      <p:sp>
        <p:nvSpPr>
          <p:cNvPr id="12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第三部分 · OpenCode 平台分层</a:t>
            </a:r>
            <a:endParaRPr lang="en-US" sz="900" noProof="1"/>
          </a:p>
        </p:txBody>
      </p:sp>
      <p:sp>
        <p:nvSpPr>
          <p:cNvPr id="13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14 / 36</a:t>
            </a:r>
            <a:endParaRPr lang="en-US" sz="9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第三部分 · 平台分层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安全层：自然语言规则不是硬隔离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code-bg"/>
          <p:cNvSpPr/>
          <p:nvPr/>
        </p:nvSpPr>
        <p:spPr>
          <a:xfrm>
            <a:off x="812800" y="1422400"/>
            <a:ext cx="5461000" cy="4191000"/>
          </a:xfrm>
          <a:prstGeom prst="rect">
            <a:avLst/>
          </a:prstGeom>
          <a:solidFill>
            <a:srgbClr val="202825"/>
          </a:solidFill>
          <a:ln>
            <a:noFill/>
          </a:ln>
        </p:spPr>
      </p:sp>
      <p:sp>
        <p:nvSpPr>
          <p:cNvPr id="6" name="code"/>
          <p:cNvSpPr txBox="1"/>
          <p:nvPr/>
        </p:nvSpPr>
        <p:spPr>
          <a:xfrm>
            <a:off x="1041400" y="1600200"/>
            <a:ext cx="5080000" cy="388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{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"permission": {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"edit": "ask",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"bash": {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  "*": "ask",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  "git status*": "allow",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  "git diff*": "allow",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  "rm *": "deny",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  "sudo *": "deny"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},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"external_directory": "deny",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"webfetch": "ask",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"skill": {"*": "ask", "trusted-*": "allow"},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"task": {"*": "deny", "reviewer": "allow"},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  "doom_loop": "ask"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  }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6DC"/>
                </a:solidFill>
                <a:latin typeface="MiSans"/>
                <a:ea typeface="MiSans"/>
              </a:rPr>
              <a:t>}</a:t>
            </a:r>
            <a:endParaRPr lang="en-US" sz="1050" noProof="1"/>
          </a:p>
        </p:txBody>
      </p:sp>
      <p:sp>
        <p:nvSpPr>
          <p:cNvPr id="7" name="code-note"/>
          <p:cNvSpPr txBox="1"/>
          <p:nvPr/>
        </p:nvSpPr>
        <p:spPr>
          <a:xfrm>
            <a:off x="812800" y="5765800"/>
            <a:ext cx="546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规则采用模式匹配，</a:t>
            </a:r>
            <a:r>
              <a:rPr lang="en-US" sz="1050" noProof="1" b="1">
                <a:solidFill>
                  <a:srgbClr val="6E7480"/>
                </a:solidFill>
                <a:latin typeface="MiSans"/>
                <a:ea typeface="MiSans"/>
              </a:rPr>
              <a:t>具体规则放在通配规则之后</a:t>
            </a: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。教学用最小示例，实际项目应按威胁模型调整。</a:t>
            </a:r>
            <a:endParaRPr lang="en-US" sz="1050" noProof="1"/>
          </a:p>
        </p:txBody>
      </p:sp>
      <p:sp>
        <p:nvSpPr>
          <p:cNvPr id="8" name="sec-head"/>
          <p:cNvSpPr txBox="1"/>
          <p:nvPr/>
        </p:nvSpPr>
        <p:spPr>
          <a:xfrm>
            <a:off x="6731000" y="1422400"/>
            <a:ext cx="4648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五条安全要点</a:t>
            </a:r>
            <a:endParaRPr lang="en-US" sz="1300" noProof="1"/>
          </a:p>
        </p:txBody>
      </p:sp>
      <p:sp>
        <p:nvSpPr>
          <p:cNvPr id="9" name="sec-list"/>
          <p:cNvSpPr txBox="1"/>
          <p:nvPr/>
        </p:nvSpPr>
        <p:spPr>
          <a:xfrm>
            <a:off x="6731000" y="1778000"/>
            <a:ext cx="4648200" cy="444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8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Permission 是 Harness 的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动作门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，不等于完整 OS 沙箱</a:t>
            </a:r>
            <a:endParaRPr lang="en-US" sz="1200" noProof="1"/>
          </a:p>
          <a:p>
            <a:pPr>
              <a:lnSpc>
                <a:spcPct val="168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AGENTS.md 里写"禁止删除"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不能替代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真正的 deny</a:t>
            </a:r>
            <a:endParaRPr lang="en-US" sz="1200" noProof="1"/>
          </a:p>
          <a:p>
            <a:pPr>
              <a:lnSpc>
                <a:spcPct val="168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对不可信代码，应加容器 / bwrap 隔离、只读挂载、网络出口控制和独立凭据</a:t>
            </a:r>
            <a:endParaRPr lang="en-US" sz="1200" noProof="1"/>
          </a:p>
          <a:p>
            <a:pPr>
              <a:lnSpc>
                <a:spcPct val="168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密钥由运行环境或凭据代理注入，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不能写入 Prompt、Skill 或仓库</a:t>
            </a:r>
            <a:endParaRPr lang="en-US" sz="1200" noProof="1"/>
          </a:p>
          <a:p>
            <a:pPr>
              <a:lnSpc>
                <a:spcPct val="168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高风险写操作应具备 dry-run、幂等键、显式确认、审计和回滚方案</a:t>
            </a:r>
            <a:endParaRPr lang="en-US" sz="1200" noProof="1"/>
          </a:p>
        </p:txBody>
      </p:sp>
      <p:sp>
        <p:nvSpPr>
          <p:cNvPr id="10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第三部分 · OpenCode 平台分层</a:t>
            </a:r>
            <a:endParaRPr lang="en-US" sz="900" noProof="1"/>
          </a:p>
        </p:txBody>
      </p:sp>
      <p:sp>
        <p:nvSpPr>
          <p:cNvPr id="11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15 / 36</a:t>
            </a:r>
            <a:endParaRPr lang="en-US" sz="9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812800" y="1143000"/>
            <a:ext cx="3810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0" noProof="1" b="1">
                <a:solidFill>
                  <a:srgbClr val="DCE7E2"/>
                </a:solidFill>
                <a:latin typeface="MiSans"/>
                <a:ea typeface="MiSans"/>
              </a:rPr>
              <a:t>03</a:t>
            </a:r>
            <a:endParaRPr lang="en-US" sz="12000" noProof="1"/>
          </a:p>
        </p:txBody>
      </p:sp>
      <p:sp>
        <p:nvSpPr>
          <p:cNvPr id="3" name="kicker"/>
          <p:cNvSpPr txBox="1"/>
          <p:nvPr/>
        </p:nvSpPr>
        <p:spPr>
          <a:xfrm>
            <a:off x="812800" y="3403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模块三 · 第四部分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3708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3272E"/>
                </a:solidFill>
                <a:latin typeface="MiSans"/>
                <a:ea typeface="MiSans"/>
              </a:rPr>
              <a:t>Vibe Coding 的正确打开方式</a:t>
            </a:r>
            <a:endParaRPr lang="en-US" sz="3000" noProof="1"/>
          </a:p>
        </p:txBody>
      </p:sp>
      <p:sp>
        <p:nvSpPr>
          <p:cNvPr id="5" name="rule"/>
          <p:cNvSpPr/>
          <p:nvPr/>
        </p:nvSpPr>
        <p:spPr>
          <a:xfrm>
            <a:off x="812800" y="44704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6" name="parts"/>
          <p:cNvSpPr txBox="1"/>
          <p:nvPr/>
        </p:nvSpPr>
        <p:spPr>
          <a:xfrm>
            <a:off x="812800" y="4749800"/>
            <a:ext cx="10566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生产环境中的合理升级不是取消"Vibe"，而是把它变成：</a:t>
            </a:r>
            <a:r>
              <a:rPr lang="en-US" sz="1300" noProof="1" b="1">
                <a:solidFill>
                  <a:srgbClr val="23272E"/>
                </a:solidFill>
                <a:latin typeface="MiSans"/>
                <a:ea typeface="MiSans"/>
              </a:rPr>
              <a:t>自然语言意图 → 可确认的规格与边界 → Agent 在受控工作区执行 → 自动测试与真实反馈 → 人类审阅 → 交付与知识沉淀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</p:txBody>
      </p:sp>
      <p:sp>
        <p:nvSpPr>
          <p:cNvPr id="7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模块三 · Vibe Coding 工作流</a:t>
            </a:r>
            <a:endParaRPr lang="en-US" sz="900" noProof="1"/>
          </a:p>
        </p:txBody>
      </p:sp>
      <p:sp>
        <p:nvSpPr>
          <p:cNvPr id="8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16 / 36</a:t>
            </a:r>
            <a:endParaRPr lang="en-US" sz="9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第四部分 · Vibe Coding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先分清：原型式 Vibe Coding ≠ 生产式 Agentic Coding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mode-table"/>
          <p:cNvGraphicFramePr>
            <a:graphicFrameLocks noGrp="1"/>
          </p:cNvGraphicFramePr>
          <p:nvPr/>
        </p:nvGraphicFramePr>
        <p:xfrm>
          <a:off x="812800" y="1422400"/>
          <a:ext cx="10566400" cy="1905000"/>
        </p:xfrm>
        <a:graphic>
          <a:graphicData uri="http://schemas.openxmlformats.org/drawingml/2006/table">
            <a:tbl>
              <a:tblPr/>
              <a:tblGrid>
                <a:gridCol w="2113280"/>
                <a:gridCol w="2324608"/>
                <a:gridCol w="3169920"/>
                <a:gridCol w="2958592"/>
              </a:tblGrid>
              <a:tr h="4572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模式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目标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可接受做法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不可接受做法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7239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原型式 Vibe Coding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快速验证想法、一次性个人工具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快速生成、边看效果边调整、允许重做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用于生产后仍不理解权限、数据和依赖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生产式 Agentic Coding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在 Agent 主导执行下交付可维护结果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自然语言定义目标，机器执行测试，人审阅风险与验收证据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「Accept All」、只看 UI 正常、让同一 Agent 无证据地自我宣布完成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6" name="path-head"/>
          <p:cNvSpPr txBox="1"/>
          <p:nvPr/>
        </p:nvSpPr>
        <p:spPr>
          <a:xfrm>
            <a:off x="812800" y="35814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生产环境的升级路径：不是取消"Vibe"，而是工程化</a:t>
            </a:r>
            <a:endParaRPr lang="en-US" sz="1300" noProof="1"/>
          </a:p>
        </p:txBody>
      </p:sp>
      <p:sp>
        <p:nvSpPr>
          <p:cNvPr id="7" name="path-steps"/>
          <p:cNvSpPr txBox="1"/>
          <p:nvPr/>
        </p:nvSpPr>
        <p:spPr>
          <a:xfrm>
            <a:off x="812800" y="3937000"/>
            <a:ext cx="10566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250" noProof="1" b="1">
                <a:solidFill>
                  <a:srgbClr val="000000"/>
                </a:solidFill>
                <a:latin typeface="MiSans"/>
                <a:ea typeface="MiSans"/>
              </a:rPr>
              <a:t>①</a:t>
            </a:r>
            <a:r>
              <a:rPr lang="en-US" sz="1250" noProof="1">
                <a:solidFill>
                  <a:srgbClr val="23272E"/>
                </a:solidFill>
                <a:latin typeface="MiSans"/>
                <a:ea typeface="MiSans"/>
              </a:rPr>
              <a:t> 自然语言意图　</a:t>
            </a:r>
            <a:r>
              <a:rPr lang="en-US" sz="1250" noProof="1">
                <a:solidFill>
                  <a:srgbClr val="000000"/>
                </a:solidFill>
                <a:latin typeface="MiSans"/>
                <a:ea typeface="MiSans"/>
              </a:rPr>
              <a:t>→</a:t>
            </a:r>
            <a:r>
              <a:rPr lang="en-US" sz="12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250" noProof="1" b="1">
                <a:solidFill>
                  <a:srgbClr val="000000"/>
                </a:solidFill>
                <a:latin typeface="MiSans"/>
                <a:ea typeface="MiSans"/>
              </a:rPr>
              <a:t>②</a:t>
            </a:r>
            <a:r>
              <a:rPr lang="en-US" sz="1250" noProof="1">
                <a:solidFill>
                  <a:srgbClr val="23272E"/>
                </a:solidFill>
                <a:latin typeface="MiSans"/>
                <a:ea typeface="MiSans"/>
              </a:rPr>
              <a:t> 可确认的规格与边界　</a:t>
            </a:r>
            <a:r>
              <a:rPr lang="en-US" sz="1250" noProof="1">
                <a:solidFill>
                  <a:srgbClr val="000000"/>
                </a:solidFill>
                <a:latin typeface="MiSans"/>
                <a:ea typeface="MiSans"/>
              </a:rPr>
              <a:t>→</a:t>
            </a:r>
            <a:r>
              <a:rPr lang="en-US" sz="12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250" noProof="1" b="1">
                <a:solidFill>
                  <a:srgbClr val="000000"/>
                </a:solidFill>
                <a:latin typeface="MiSans"/>
                <a:ea typeface="MiSans"/>
              </a:rPr>
              <a:t>③</a:t>
            </a:r>
            <a:r>
              <a:rPr lang="en-US" sz="1250" noProof="1">
                <a:solidFill>
                  <a:srgbClr val="23272E"/>
                </a:solidFill>
                <a:latin typeface="MiSans"/>
                <a:ea typeface="MiSans"/>
              </a:rPr>
              <a:t> Agent 在受控工作区执行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000000"/>
                </a:solidFill>
                <a:latin typeface="MiSans"/>
                <a:ea typeface="MiSans"/>
              </a:rPr>
              <a:t>→</a:t>
            </a:r>
            <a:r>
              <a:rPr lang="en-US" sz="12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250" noProof="1" b="1">
                <a:solidFill>
                  <a:srgbClr val="000000"/>
                </a:solidFill>
                <a:latin typeface="MiSans"/>
                <a:ea typeface="MiSans"/>
              </a:rPr>
              <a:t>④</a:t>
            </a:r>
            <a:r>
              <a:rPr lang="en-US" sz="1250" noProof="1">
                <a:solidFill>
                  <a:srgbClr val="23272E"/>
                </a:solidFill>
                <a:latin typeface="MiSans"/>
                <a:ea typeface="MiSans"/>
              </a:rPr>
              <a:t> 自动测试与真实反馈　</a:t>
            </a:r>
            <a:r>
              <a:rPr lang="en-US" sz="1250" noProof="1">
                <a:solidFill>
                  <a:srgbClr val="000000"/>
                </a:solidFill>
                <a:latin typeface="MiSans"/>
                <a:ea typeface="MiSans"/>
              </a:rPr>
              <a:t>→</a:t>
            </a:r>
            <a:r>
              <a:rPr lang="en-US" sz="12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250" noProof="1" b="1">
                <a:solidFill>
                  <a:srgbClr val="000000"/>
                </a:solidFill>
                <a:latin typeface="MiSans"/>
                <a:ea typeface="MiSans"/>
              </a:rPr>
              <a:t>⑤</a:t>
            </a:r>
            <a:r>
              <a:rPr lang="en-US" sz="1250" noProof="1">
                <a:solidFill>
                  <a:srgbClr val="23272E"/>
                </a:solidFill>
                <a:latin typeface="MiSans"/>
                <a:ea typeface="MiSans"/>
              </a:rPr>
              <a:t> 人类体验和风险审阅　</a:t>
            </a:r>
            <a:r>
              <a:rPr lang="en-US" sz="1250" noProof="1">
                <a:solidFill>
                  <a:srgbClr val="000000"/>
                </a:solidFill>
                <a:latin typeface="MiSans"/>
                <a:ea typeface="MiSans"/>
              </a:rPr>
              <a:t>→</a:t>
            </a:r>
            <a:r>
              <a:rPr lang="en-US" sz="12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250" noProof="1" b="1">
                <a:solidFill>
                  <a:srgbClr val="000000"/>
                </a:solidFill>
                <a:latin typeface="MiSans"/>
                <a:ea typeface="MiSans"/>
              </a:rPr>
              <a:t>⑥</a:t>
            </a:r>
            <a:r>
              <a:rPr lang="en-US" sz="1250" noProof="1">
                <a:solidFill>
                  <a:srgbClr val="23272E"/>
                </a:solidFill>
                <a:latin typeface="MiSans"/>
                <a:ea typeface="MiSans"/>
              </a:rPr>
              <a:t> 检查点、交付和知识沉淀</a:t>
            </a:r>
            <a:endParaRPr lang="en-US" sz="1250" noProof="1"/>
          </a:p>
        </p:txBody>
      </p:sp>
      <p:sp>
        <p:nvSpPr>
          <p:cNvPr id="8" name="src-note"/>
          <p:cNvSpPr txBox="1"/>
          <p:nvPr/>
        </p:nvSpPr>
        <p:spPr>
          <a:xfrm>
            <a:off x="812800" y="47244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"Vibe Coding" 原始表述见 </a:t>
            </a:r>
            <a:r>
              <a:rPr lang="en-US" sz="10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Karpathy 的帖子</a:t>
            </a: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；GitHub 的 </a:t>
            </a:r>
            <a:r>
              <a:rPr lang="en-US" sz="105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Spec-driven development</a:t>
            </a: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 指出：从一句描述直接跳到代码适合快速原型，严肃项目需要更清楚的规格和验证。</a:t>
            </a:r>
            <a:endParaRPr lang="en-US" sz="1050" noProof="1"/>
          </a:p>
        </p:txBody>
      </p:sp>
      <p:sp>
        <p:nvSpPr>
          <p:cNvPr id="9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第四部分 · Vibe Coding</a:t>
            </a:r>
            <a:endParaRPr lang="en-US" sz="900" noProof="1"/>
          </a:p>
        </p:txBody>
      </p:sp>
      <p:sp>
        <p:nvSpPr>
          <p:cNvPr id="10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17 / 36</a:t>
            </a:r>
            <a:endParaRPr lang="en-US" sz="9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第四部分 · Vibe Coding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推荐的 Vibe Coding 八步工作流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col1"/>
          <p:cNvSpPr txBox="1"/>
          <p:nvPr/>
        </p:nvSpPr>
        <p:spPr>
          <a:xfrm>
            <a:off x="812800" y="1422400"/>
            <a:ext cx="5080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第 0 步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先判断任务风险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：一次性原型、内部工具还是生产系统？是否涉及生产数据、外部消息、付费、部署、删除、权限或隐私？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第 1 步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布置可执行环境，而不只是写 Prompt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：目标、背景、输入、可用资源、约束、验收、工作方式，七类信息齐备。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第 2 步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先做只读环境勘察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：目录结构、AGENTS.md 与 Skill、构建测试命令、Git 状态、依赖可用性、待确认假设。</a:t>
            </a:r>
            <a:endParaRPr lang="en-US" sz="1150" noProof="1"/>
          </a:p>
        </p:txBody>
      </p:sp>
      <p:sp>
        <p:nvSpPr>
          <p:cNvPr id="6" name="col2"/>
          <p:cNvSpPr txBox="1"/>
          <p:nvPr/>
        </p:nvSpPr>
        <p:spPr>
          <a:xfrm>
            <a:off x="6299200" y="1422400"/>
            <a:ext cx="5080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第 3 步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把计划变成可验证的小切片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：每步改哪些边界、产生什么 Artifact、用什么证据判断通过、失败回退到哪里。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第 4 步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Agent 主导执行，人类管理方向和边界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：防目标漂移、超范围重构、高风险操作、fallback/mock/硬编码。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第 5 步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每个切片接入真实反馈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：类型检查与单测 → 集成测试 → 截图与日志 → 人类体验 → 模型自评（自评不能替代可执行验证）。</a:t>
            </a:r>
            <a:endParaRPr lang="en-US" sz="1150" noProof="1"/>
          </a:p>
        </p:txBody>
      </p:sp>
      <p:sp>
        <p:nvSpPr>
          <p:cNvPr id="7" name="col3"/>
          <p:cNvSpPr txBox="1"/>
          <p:nvPr/>
        </p:nvSpPr>
        <p:spPr>
          <a:xfrm>
            <a:off x="812800" y="40894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第 6 步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独立验收关键结果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：验证者只看需求、Diff、测试结果与已知风险，不继承实现 Agent 的自我辩护上下文。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第 7 步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交付可恢复、可继续的结果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：结果与用法、改动清单、实际跑过的验证、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没验证的部分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、风险与回滚点。</a:t>
            </a:r>
            <a:endParaRPr lang="en-US" sz="1150" noProof="1"/>
          </a:p>
        </p:txBody>
      </p:sp>
      <p:sp>
        <p:nvSpPr>
          <p:cNvPr id="8" name="col4-head"/>
          <p:cNvSpPr txBox="1"/>
          <p:nvPr/>
        </p:nvSpPr>
        <p:spPr>
          <a:xfrm>
            <a:off x="6299200" y="4089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4524B"/>
                </a:solidFill>
                <a:latin typeface="MiSans"/>
                <a:ea typeface="MiSans"/>
              </a:rPr>
              <a:t>第 8 步：把重复经验沉淀回环境</a:t>
            </a:r>
            <a:endParaRPr lang="en-US" sz="1250" noProof="1"/>
          </a:p>
        </p:txBody>
      </p:sp>
      <p:graphicFrame>
        <p:nvGraphicFramePr>
          <p:cNvPr id="9" name="sink-table"/>
          <p:cNvGraphicFramePr>
            <a:graphicFrameLocks noGrp="1"/>
          </p:cNvGraphicFramePr>
          <p:nvPr/>
        </p:nvGraphicFramePr>
        <p:xfrm>
          <a:off x="6299200" y="4394200"/>
          <a:ext cx="5080000" cy="1905000"/>
        </p:xfrm>
        <a:graphic>
          <a:graphicData uri="http://schemas.openxmlformats.org/drawingml/2006/table">
            <a:tbl>
              <a:tblPr/>
              <a:tblGrid>
                <a:gridCol w="2641600"/>
                <a:gridCol w="2438400"/>
              </a:tblGrid>
              <a:tr h="3048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发现的信息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沉淀到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3200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跨任务的项目约定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AGENTS.md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某类任务的稳定做法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Skill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200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重复的确定性逻辑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Script / Tool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必须禁止或确认的动作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Permission / Sandbox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200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可机器判断的完成条件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Tests / Evals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ink-note"/>
          <p:cNvSpPr txBox="1"/>
          <p:nvPr/>
        </p:nvSpPr>
        <p:spPr>
          <a:xfrm>
            <a:off x="812800" y="5740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第 8 步使"对话中的偶然成功"逐渐变成"</a:t>
            </a: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环境中的可复用能力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"——这是 Vibe Coding 能进入团队生产的关键一跃。</a:t>
            </a:r>
            <a:endParaRPr lang="en-US" sz="1100" noProof="1"/>
          </a:p>
        </p:txBody>
      </p:sp>
      <p:sp>
        <p:nvSpPr>
          <p:cNvPr id="11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第四部分 · Vibe Coding</a:t>
            </a:r>
            <a:endParaRPr lang="en-US" sz="900" noProof="1"/>
          </a:p>
        </p:txBody>
      </p:sp>
      <p:sp>
        <p:nvSpPr>
          <p:cNvPr id="12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18 / 36</a:t>
            </a:r>
            <a:endParaRPr lang="en-US" sz="9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812800" y="1143000"/>
            <a:ext cx="3810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0" noProof="1" b="1">
                <a:solidFill>
                  <a:srgbClr val="DCE7E2"/>
                </a:solidFill>
                <a:latin typeface="MiSans"/>
                <a:ea typeface="MiSans"/>
              </a:rPr>
              <a:t>04</a:t>
            </a:r>
            <a:endParaRPr lang="en-US" sz="12000" noProof="1"/>
          </a:p>
        </p:txBody>
      </p:sp>
      <p:sp>
        <p:nvSpPr>
          <p:cNvPr id="3" name="kicker"/>
          <p:cNvSpPr txBox="1"/>
          <p:nvPr/>
        </p:nvSpPr>
        <p:spPr>
          <a:xfrm>
            <a:off x="812800" y="3403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模块四 · 第五、六部分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3708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3272E"/>
                </a:solidFill>
                <a:latin typeface="MiSans"/>
                <a:ea typeface="MiSans"/>
              </a:rPr>
              <a:t>工具接入、CLI 契约与 Skill 评测</a:t>
            </a:r>
            <a:endParaRPr lang="en-US" sz="3000" noProof="1"/>
          </a:p>
        </p:txBody>
      </p:sp>
      <p:sp>
        <p:nvSpPr>
          <p:cNvPr id="5" name="rule"/>
          <p:cNvSpPr/>
          <p:nvPr/>
        </p:nvSpPr>
        <p:spPr>
          <a:xfrm>
            <a:off x="812800" y="44704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6" name="parts"/>
          <p:cNvSpPr txBox="1"/>
          <p:nvPr/>
        </p:nvSpPr>
        <p:spPr>
          <a:xfrm>
            <a:off x="812800" y="4749800"/>
            <a:ext cx="10566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00" noProof="1" b="1">
                <a:solidFill>
                  <a:srgbClr val="23272E"/>
                </a:solidFill>
                <a:latin typeface="MiSans"/>
                <a:ea typeface="MiSans"/>
              </a:rPr>
              <a:t>第五部分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　Tool、API、MCP 与 Harness：内容归属、Tool 五原则、stdin/stdout 契约、响应持久化与记忆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noProof="1" b="1">
                <a:solidFill>
                  <a:srgbClr val="23272E"/>
                </a:solidFill>
                <a:latin typeface="MiSans"/>
                <a:ea typeface="MiSans"/>
              </a:rPr>
              <a:t>第六部分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　Skill 命中率测试与优化：Trigger eval 与 Outcome eval、测试集设计、description 写法、explicit-only</a:t>
            </a:r>
            <a:endParaRPr lang="en-US" sz="1300" noProof="1"/>
          </a:p>
        </p:txBody>
      </p:sp>
      <p:sp>
        <p:nvSpPr>
          <p:cNvPr id="7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模块四 · 工具接入与 Skill 评测</a:t>
            </a:r>
            <a:endParaRPr lang="en-US" sz="900" noProof="1"/>
          </a:p>
        </p:txBody>
      </p:sp>
      <p:sp>
        <p:nvSpPr>
          <p:cNvPr id="8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19 / 36</a:t>
            </a:r>
            <a:endParaRPr lang="en-US" sz="9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第五部分 · Tool / API / MCP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接入 API：内容各归其位，Tool 窄而稳定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place-table"/>
          <p:cNvGraphicFramePr>
            <a:graphicFrameLocks noGrp="1"/>
          </p:cNvGraphicFramePr>
          <p:nvPr/>
        </p:nvGraphicFramePr>
        <p:xfrm>
          <a:off x="812800" y="1473200"/>
          <a:ext cx="5842000" cy="3175000"/>
        </p:xfrm>
        <a:graphic>
          <a:graphicData uri="http://schemas.openxmlformats.org/drawingml/2006/table">
            <a:tbl>
              <a:tblPr/>
              <a:tblGrid>
                <a:gridCol w="3388360"/>
                <a:gridCol w="2453640"/>
              </a:tblGrid>
              <a:tr h="3810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最适合的位置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46672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Endpoint、参数类型、返回 Schema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Tool 定义、OpenAPI、SDK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鉴权、重试、分页、限流、幂等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Tool Adapter / Script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6672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什么意图下调用、顺序、结果解释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Skill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所有任务适用的接口约定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AGENTS.md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635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密钥、租户身份、网络范围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Credential / Runtime / Policy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5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调用过程、耗时、结果摘要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Trace / Observability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6" name="flow-note"/>
          <p:cNvSpPr txBox="1"/>
          <p:nvPr/>
        </p:nvSpPr>
        <p:spPr>
          <a:xfrm>
            <a:off x="812800" y="4851400"/>
            <a:ext cx="5842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调用链：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用户任务 → Agent Runtime（← Skill：何时及如何使用）→ Typed Tool / Adapter ⇄ 业务 API / 数据库 / 程序。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详细字段语义和低频错误码放入 Skill 的 references/，</a:t>
            </a: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只有遇到对应情况时再读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</p:txBody>
      </p:sp>
      <p:sp>
        <p:nvSpPr>
          <p:cNvPr id="7" name="prin-head"/>
          <p:cNvSpPr txBox="1"/>
          <p:nvPr/>
        </p:nvSpPr>
        <p:spPr>
          <a:xfrm>
            <a:off x="7112000" y="1422400"/>
            <a:ext cx="426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Tool 设计五条原则</a:t>
            </a:r>
            <a:endParaRPr lang="en-US" sz="1300" noProof="1"/>
          </a:p>
        </p:txBody>
      </p:sp>
      <p:sp>
        <p:nvSpPr>
          <p:cNvPr id="8" name="prin-list"/>
          <p:cNvSpPr txBox="1"/>
          <p:nvPr/>
        </p:nvSpPr>
        <p:spPr>
          <a:xfrm>
            <a:off x="7112000" y="1778000"/>
            <a:ext cx="4267200" cy="444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8000"/>
              </a:lnSpc>
              <a:spcBef>
                <a:spcPts val="10"/>
              </a:spcBef>
              <a:buAutoNum type="arabicPeriod"/>
            </a:pP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窄接口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：get_order_status(order_id) 优于 execute_business_action(payload)</a:t>
            </a:r>
            <a:endParaRPr lang="en-US" sz="1200" noProof="1"/>
          </a:p>
          <a:p>
            <a:pPr>
              <a:lnSpc>
                <a:spcPct val="168000"/>
              </a:lnSpc>
              <a:spcBef>
                <a:spcPts val="10"/>
              </a:spcBef>
              <a:buAutoNum type="arabicPeriod"/>
            </a:pP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强 Schema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：enum、required、范围约束、稳定字段</a:t>
            </a:r>
            <a:endParaRPr lang="en-US" sz="1200" noProof="1"/>
          </a:p>
          <a:p>
            <a:pPr>
              <a:lnSpc>
                <a:spcPct val="168000"/>
              </a:lnSpc>
              <a:spcBef>
                <a:spcPts val="10"/>
              </a:spcBef>
              <a:buAutoNum type="arabicPeriod"/>
            </a:pP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可诊断错误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：区分参数错误、权限错误、限流、依赖不可用、业务冲突</a:t>
            </a:r>
            <a:endParaRPr lang="en-US" sz="1200" noProof="1"/>
          </a:p>
          <a:p>
            <a:pPr>
              <a:lnSpc>
                <a:spcPct val="168000"/>
              </a:lnSpc>
              <a:spcBef>
                <a:spcPts val="10"/>
              </a:spcBef>
              <a:buAutoNum type="arabicPeriod"/>
            </a:pP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安全重试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：读操作可重试，写操作必须考虑幂等键</a:t>
            </a:r>
            <a:endParaRPr lang="en-US" sz="1200" noProof="1"/>
          </a:p>
          <a:p>
            <a:pPr>
              <a:lnSpc>
                <a:spcPct val="168000"/>
              </a:lnSpc>
              <a:spcBef>
                <a:spcPts val="10"/>
              </a:spcBef>
              <a:buAutoNum type="arabicPeriod"/>
            </a:pP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结果可验证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：返回 ID、版本、时间、来源和状态，不只返回"成功"</a:t>
            </a:r>
            <a:endParaRPr lang="en-US" sz="1200" noProof="1"/>
          </a:p>
        </p:txBody>
      </p:sp>
      <p:sp>
        <p:nvSpPr>
          <p:cNvPr id="9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第五部分 · Tool / API / MCP 与 Harness</a:t>
            </a:r>
            <a:endParaRPr lang="en-US" sz="900" noProof="1"/>
          </a:p>
        </p:txBody>
      </p:sp>
      <p:sp>
        <p:nvSpPr>
          <p:cNvPr id="10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20 / 36</a:t>
            </a:r>
            <a:endParaRPr lang="en-US" sz="9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第五部分 · Tool / API / MCP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为 Agent 设计的 CLI：stdin/stdout 契约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cli-table"/>
          <p:cNvGraphicFramePr>
            <a:graphicFrameLocks noGrp="1"/>
          </p:cNvGraphicFramePr>
          <p:nvPr/>
        </p:nvGraphicFramePr>
        <p:xfrm>
          <a:off x="812800" y="1422400"/>
          <a:ext cx="5842000" cy="2667000"/>
        </p:xfrm>
        <a:graphic>
          <a:graphicData uri="http://schemas.openxmlformats.org/drawingml/2006/table">
            <a:tbl>
              <a:tblPr/>
              <a:tblGrid>
                <a:gridCol w="1402080"/>
                <a:gridCol w="1285240"/>
                <a:gridCol w="3154680"/>
              </a:tblGrid>
              <a:tr h="3200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通道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规则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46939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argv / stdin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输入参数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少用 flags；复杂对象用单个 JSON；不等待 TTY 交互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stdout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机器结果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默认只输出一个合法 JSON；不混进度文字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6939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stderr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诊断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日志、警告、进度和可读错误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exit 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失败类别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为参数、鉴权、依赖、业务冲突设稳定代码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6939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output file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大结果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大表/图片/报告写入文件，stdout 只返回 manifest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human-note-bar"/>
          <p:cNvSpPr/>
          <p:nvPr/>
        </p:nvSpPr>
        <p:spPr>
          <a:xfrm>
            <a:off x="812800" y="4368800"/>
            <a:ext cx="50800" cy="762000"/>
          </a:xfrm>
          <a:prstGeom prst="rect">
            <a:avLst/>
          </a:prstGeom>
          <a:solidFill>
            <a:srgbClr val="C4532A"/>
          </a:solidFill>
          <a:ln>
            <a:noFill/>
          </a:ln>
        </p:spPr>
      </p:sp>
      <p:sp>
        <p:nvSpPr>
          <p:cNvPr id="7" name="human-note"/>
          <p:cNvSpPr txBox="1"/>
          <p:nvPr/>
        </p:nvSpPr>
        <p:spPr>
          <a:xfrm>
            <a:off x="1066800" y="4368800"/>
            <a:ext cx="5588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人类可读与 Agent 可读的分工：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脚本返回稳定、紧凑、可解析的数据；Agent 把数据翻译成解释和建议；WebUI 用卡片、图表和 Artifact 预览渲染同一份结果。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不要让脚本同时承担</a:t>
            </a: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数据接口、业务解释和最终文案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三种责任。</a:t>
            </a:r>
            <a:endParaRPr lang="en-US" sz="1100" noProof="1"/>
          </a:p>
        </p:txBody>
      </p:sp>
      <p:sp>
        <p:nvSpPr>
          <p:cNvPr id="8" name="ok-bg"/>
          <p:cNvSpPr/>
          <p:nvPr/>
        </p:nvSpPr>
        <p:spPr>
          <a:xfrm>
            <a:off x="7112000" y="1422400"/>
            <a:ext cx="4267200" cy="2286000"/>
          </a:xfrm>
          <a:prstGeom prst="rect">
            <a:avLst/>
          </a:prstGeom>
          <a:solidFill>
            <a:srgbClr val="202825"/>
          </a:solidFill>
          <a:ln>
            <a:noFill/>
          </a:ln>
        </p:spPr>
      </p:sp>
      <p:sp>
        <p:nvSpPr>
          <p:cNvPr id="9" name="ok-code"/>
          <p:cNvSpPr txBox="1"/>
          <p:nvPr/>
        </p:nvSpPr>
        <p:spPr>
          <a:xfrm>
            <a:off x="7315200" y="1549400"/>
            <a:ext cx="3937000" cy="208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{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"ok": true,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"data": {"count": 20, "items": []},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"artifacts": [{"path": "outputs/report.csv",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  "mime_type": "text/csv", "sha256": "..."}],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"provenance": {"source": "analytics-api",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  "retrieved_at": "2026-08-09T18:00:00Z",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  "api_version": "v2"},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"warnings": [], "next_cursor": null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}</a:t>
            </a:r>
            <a:endParaRPr lang="en-US" sz="950" noProof="1"/>
          </a:p>
        </p:txBody>
      </p:sp>
      <p:sp>
        <p:nvSpPr>
          <p:cNvPr id="10" name="ok-label"/>
          <p:cNvSpPr txBox="1"/>
          <p:nvPr/>
        </p:nvSpPr>
        <p:spPr>
          <a:xfrm>
            <a:off x="7112000" y="3759200"/>
            <a:ext cx="426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80"/>
                </a:solidFill>
                <a:latin typeface="MiSans"/>
                <a:ea typeface="MiSans"/>
              </a:rPr>
              <a:t>↑ 成功输出：数据 + 产物清单 + 来源</a:t>
            </a:r>
            <a:endParaRPr lang="en-US" sz="1000" noProof="1"/>
          </a:p>
        </p:txBody>
      </p:sp>
      <p:sp>
        <p:nvSpPr>
          <p:cNvPr id="11" name="err-bg"/>
          <p:cNvSpPr/>
          <p:nvPr/>
        </p:nvSpPr>
        <p:spPr>
          <a:xfrm>
            <a:off x="7112000" y="4089400"/>
            <a:ext cx="4267200" cy="1524000"/>
          </a:xfrm>
          <a:prstGeom prst="rect">
            <a:avLst/>
          </a:prstGeom>
          <a:solidFill>
            <a:srgbClr val="202825"/>
          </a:solidFill>
          <a:ln>
            <a:noFill/>
          </a:ln>
        </p:spPr>
      </p:sp>
      <p:sp>
        <p:nvSpPr>
          <p:cNvPr id="12" name="err-code"/>
          <p:cNvSpPr txBox="1"/>
          <p:nvPr/>
        </p:nvSpPr>
        <p:spPr>
          <a:xfrm>
            <a:off x="7315200" y="4216400"/>
            <a:ext cx="3937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{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"ok": false,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"error": {"code": "AUTH_EXPIRED",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  "message": "The credential has expired.",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  "retryable": false,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    "suggested_action": "Ask an admin to reconnect."}</a:t>
            </a:r>
            <a:endParaRPr lang="en-US" sz="950" noProof="1"/>
          </a:p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E9E6DC"/>
                </a:solidFill>
                <a:latin typeface="MiSans"/>
                <a:ea typeface="MiSans"/>
              </a:rPr>
              <a:t>}</a:t>
            </a:r>
            <a:endParaRPr lang="en-US" sz="950" noProof="1"/>
          </a:p>
        </p:txBody>
      </p:sp>
      <p:sp>
        <p:nvSpPr>
          <p:cNvPr id="13" name="err-label"/>
          <p:cNvSpPr txBox="1"/>
          <p:nvPr/>
        </p:nvSpPr>
        <p:spPr>
          <a:xfrm>
            <a:off x="7112000" y="5664200"/>
            <a:ext cx="426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480"/>
                </a:solidFill>
                <a:latin typeface="MiSans"/>
                <a:ea typeface="MiSans"/>
              </a:rPr>
              <a:t>↑ 失败输出：稳定 code + 可重试性 + 建议动作</a:t>
            </a:r>
            <a:endParaRPr lang="en-US" sz="1000" noProof="1"/>
          </a:p>
        </p:txBody>
      </p:sp>
      <p:sp>
        <p:nvSpPr>
          <p:cNvPr id="14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第五部分 · Tool / API / MCP 与 Harness</a:t>
            </a:r>
            <a:endParaRPr lang="en-US" sz="900" noProof="1"/>
          </a:p>
        </p:txBody>
      </p:sp>
      <p:sp>
        <p:nvSpPr>
          <p:cNvPr id="15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21 / 36</a:t>
            </a:r>
            <a:endParaRPr lang="en-US" sz="9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第五部分 · Tool / API / MCP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响应持久化：每类结果都有自己的寿命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mem-table"/>
          <p:cNvGraphicFramePr>
            <a:graphicFrameLocks noGrp="1"/>
          </p:cNvGraphicFramePr>
          <p:nvPr/>
        </p:nvGraphicFramePr>
        <p:xfrm>
          <a:off x="812800" y="1422400"/>
          <a:ext cx="10566400" cy="3302000"/>
        </p:xfrm>
        <a:graphic>
          <a:graphicData uri="http://schemas.openxmlformats.org/drawingml/2006/table">
            <a:tbl>
              <a:tblPr/>
              <a:tblGrid>
                <a:gridCol w="2113280"/>
                <a:gridCol w="3592576"/>
                <a:gridCol w="2113280"/>
                <a:gridCol w="2747264"/>
              </a:tblGrid>
              <a:tr h="3302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保存什么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典型寿命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目的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42265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Turn context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当前输入与短工具结果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一轮到数轮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支持下一步决策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265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Session state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已确认目标、选择和摘要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一次会话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保持连续性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2265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Task checkpoint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阶段、待办、幂等键、恢复点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任务完成前后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中断恢复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265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Raw response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原始 API 响应或引用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按审计策略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追溯与重放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2265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Normalized result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统一后的结构化数据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按业务版本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跨工具消费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265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Artifact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报告、代码、数据、图像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按交付策略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用户真正使用的结果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358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Curated memory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经确认且会复用的事实/偏好/规则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长期并带作用域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改善后续任务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re-head"/>
          <p:cNvSpPr txBox="1"/>
          <p:nvPr/>
        </p:nvSpPr>
        <p:spPr>
          <a:xfrm>
            <a:off x="812800" y="4978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4524B"/>
                </a:solidFill>
                <a:latin typeface="MiSans"/>
                <a:ea typeface="MiSans"/>
              </a:rPr>
              <a:t>进入长期记忆的五个前提</a:t>
            </a:r>
            <a:endParaRPr lang="en-US" sz="1250" noProof="1"/>
          </a:p>
        </p:txBody>
      </p:sp>
      <p:sp>
        <p:nvSpPr>
          <p:cNvPr id="7" name="pre-list"/>
          <p:cNvSpPr txBox="1"/>
          <p:nvPr/>
        </p:nvSpPr>
        <p:spPr>
          <a:xfrm>
            <a:off x="812800" y="52832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明确来源；作用域（个人 / 项目 / 团队 / 租户）；经用户或系统确认；版本和过期策略；删除和纠错机制。</a:t>
            </a:r>
            <a:endParaRPr lang="en-US" sz="1150" noProof="1"/>
          </a:p>
        </p:txBody>
      </p:sp>
      <p:sp>
        <p:nvSpPr>
          <p:cNvPr id="8" name="ban-head"/>
          <p:cNvSpPr txBox="1"/>
          <p:nvPr/>
        </p:nvSpPr>
        <p:spPr>
          <a:xfrm>
            <a:off x="6299200" y="4978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C4532A"/>
                </a:solidFill>
                <a:latin typeface="MiSans"/>
                <a:ea typeface="MiSans"/>
              </a:rPr>
              <a:t>禁止沉淀</a:t>
            </a:r>
            <a:endParaRPr lang="en-US" sz="1250" noProof="1"/>
          </a:p>
        </p:txBody>
      </p:sp>
      <p:sp>
        <p:nvSpPr>
          <p:cNvPr id="9" name="ban-list"/>
          <p:cNvSpPr txBox="1"/>
          <p:nvPr/>
        </p:nvSpPr>
        <p:spPr>
          <a:xfrm>
            <a:off x="6299200" y="52832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密钥、临时授权、未经确认的推测、跨租户数据，以及无法解释来源的"模型印象"。</a:t>
            </a:r>
            <a:endParaRPr lang="en-US" sz="1150" noProof="1"/>
          </a:p>
        </p:txBody>
      </p:sp>
      <p:sp>
        <p:nvSpPr>
          <p:cNvPr id="10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第五部分 · Tool / API / MCP 与 Harness</a:t>
            </a:r>
            <a:endParaRPr lang="en-US" sz="900" noProof="1"/>
          </a:p>
        </p:txBody>
      </p:sp>
      <p:sp>
        <p:nvSpPr>
          <p:cNvPr id="11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22 / 36</a:t>
            </a:r>
            <a:endParaRPr lang="en-US" sz="9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第六部分 · Skill 命中率测试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Skill 评测：会不会被用 × 用了有没有帮助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eval-table"/>
          <p:cNvGraphicFramePr>
            <a:graphicFrameLocks noGrp="1"/>
          </p:cNvGraphicFramePr>
          <p:nvPr/>
        </p:nvGraphicFramePr>
        <p:xfrm>
          <a:off x="812800" y="1422400"/>
          <a:ext cx="10566400" cy="1270000"/>
        </p:xfrm>
        <a:graphic>
          <a:graphicData uri="http://schemas.openxmlformats.org/drawingml/2006/table">
            <a:tbl>
              <a:tblPr/>
              <a:tblGrid>
                <a:gridCol w="1901952"/>
                <a:gridCol w="4649216"/>
                <a:gridCol w="4015232"/>
              </a:tblGrid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评测层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核心问题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典型指标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Trigger eval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该触发时是否触发，不该触发时是否保持安静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Precision、Recall、FPR、触发稳定率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Outcome eval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Skill 被加载后是否提升任务结果（with vs without）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断言通过率、Artifact 质量、耗时、Token、失败率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6" name="case-head"/>
          <p:cNvSpPr txBox="1"/>
          <p:nvPr/>
        </p:nvSpPr>
        <p:spPr>
          <a:xfrm>
            <a:off x="812800" y="28956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触发测试集：六类语句（第一版约 20 条查询 × 每条运行 3 次）</a:t>
            </a:r>
            <a:endParaRPr lang="en-US" sz="1300" noProof="1"/>
          </a:p>
        </p:txBody>
      </p:sp>
      <p:graphicFrame>
        <p:nvGraphicFramePr>
          <p:cNvPr id="7" name="case-table"/>
          <p:cNvGraphicFramePr>
            <a:graphicFrameLocks noGrp="1"/>
          </p:cNvGraphicFramePr>
          <p:nvPr/>
        </p:nvGraphicFramePr>
        <p:xfrm>
          <a:off x="812800" y="3200400"/>
          <a:ext cx="10566400" cy="2540000"/>
        </p:xfrm>
        <a:graphic>
          <a:graphicData uri="http://schemas.openxmlformats.org/drawingml/2006/table">
            <a:tbl>
              <a:tblPr/>
              <a:tblGrid>
                <a:gridCol w="1901952"/>
                <a:gridCol w="5811520"/>
                <a:gridCol w="2852928"/>
              </a:tblGrid>
              <a:tr h="3048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示例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预期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明确点名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使用 $tenant-isolation-review 检查这个 PR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必须触发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明确业务意图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这个改动可能让 A 租户读到 B 租户文件，帮我审查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自动型 Skill 应触发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隐含但真实相关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我们把 workspace 路径从用户级改成应用级，有什么风险？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视边界触发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关键词近邻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帮我改一下租户设置页面的颜色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不触发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708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同文件不同意图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给 isolation.py 补 docstring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通常不触发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多意图冲突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先修隔离漏洞，再更新发布说明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触发主 Skill 并组合/分阶段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8" name="case-note"/>
          <p:cNvSpPr txBox="1"/>
          <p:nvPr/>
        </p:nvSpPr>
        <p:spPr>
          <a:xfrm>
            <a:off x="812800" y="5892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负样例应是"很像但不该触发"的近邻场景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，而不是天气、笑话等毫无关联的问题。指标：Precision = TP/(TP+FP)，Recall = TP/(TP+FN)，FPR = FP/(FP+TN)；并记录同一 Prompt 三次运行的触发率与误触发成本。</a:t>
            </a:r>
            <a:endParaRPr lang="en-US" sz="1100" noProof="1"/>
          </a:p>
        </p:txBody>
      </p:sp>
      <p:sp>
        <p:nvSpPr>
          <p:cNvPr id="9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第六部分 · Skill 命中率测试</a:t>
            </a:r>
            <a:endParaRPr lang="en-US" sz="900" noProof="1"/>
          </a:p>
        </p:txBody>
      </p:sp>
      <p:sp>
        <p:nvSpPr>
          <p:cNvPr id="10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23 / 36</a:t>
            </a:r>
            <a:endParaRPr lang="en-US" sz="9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第六部分 · Skill 命中率测试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description 写边界，explicit-only 靠 Harness 强制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bad-head"/>
          <p:cNvSpPr txBox="1"/>
          <p:nvPr/>
        </p:nvSpPr>
        <p:spPr>
          <a:xfrm>
            <a:off x="812800" y="1422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C4532A"/>
                </a:solidFill>
                <a:latin typeface="MiSans"/>
                <a:ea typeface="MiSans"/>
              </a:rPr>
              <a:t>✕ 不推荐：只有意图，没有边界</a:t>
            </a:r>
            <a:endParaRPr lang="en-US" sz="1100" noProof="1"/>
          </a:p>
        </p:txBody>
      </p:sp>
      <p:sp>
        <p:nvSpPr>
          <p:cNvPr id="6" name="bad-bg"/>
          <p:cNvSpPr/>
          <p:nvPr/>
        </p:nvSpPr>
        <p:spPr>
          <a:xfrm>
            <a:off x="812800" y="1701800"/>
            <a:ext cx="5080000" cy="558800"/>
          </a:xfrm>
          <a:prstGeom prst="rect">
            <a:avLst/>
          </a:prstGeom>
          <a:solidFill>
            <a:srgbClr val="202825"/>
          </a:solidFill>
          <a:ln>
            <a:noFill/>
          </a:ln>
        </p:spPr>
      </p:sp>
      <p:sp>
        <p:nvSpPr>
          <p:cNvPr id="7" name="bad-code"/>
          <p:cNvSpPr txBox="1"/>
          <p:nvPr/>
        </p:nvSpPr>
        <p:spPr>
          <a:xfrm>
            <a:off x="1016000" y="1778000"/>
            <a:ext cx="4699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E9E6DC"/>
                </a:solidFill>
                <a:latin typeface="MiSans"/>
                <a:ea typeface="MiSans"/>
              </a:rPr>
              <a:t>description: Handle security.</a:t>
            </a:r>
            <a:endParaRPr lang="en-US" sz="1100" noProof="1"/>
          </a:p>
        </p:txBody>
      </p:sp>
      <p:sp>
        <p:nvSpPr>
          <p:cNvPr id="8" name="good-head"/>
          <p:cNvSpPr txBox="1"/>
          <p:nvPr/>
        </p:nvSpPr>
        <p:spPr>
          <a:xfrm>
            <a:off x="812800" y="2438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14524B"/>
                </a:solidFill>
                <a:latin typeface="MiSans"/>
                <a:ea typeface="MiSans"/>
              </a:rPr>
              <a:t>✓ 推荐：意图 + 正边界 + 负边界</a:t>
            </a:r>
            <a:endParaRPr lang="en-US" sz="1100" noProof="1"/>
          </a:p>
        </p:txBody>
      </p:sp>
      <p:sp>
        <p:nvSpPr>
          <p:cNvPr id="9" name="good-bg"/>
          <p:cNvSpPr/>
          <p:nvPr/>
        </p:nvSpPr>
        <p:spPr>
          <a:xfrm>
            <a:off x="812800" y="2717800"/>
            <a:ext cx="5080000" cy="1524000"/>
          </a:xfrm>
          <a:prstGeom prst="rect">
            <a:avLst/>
          </a:prstGeom>
          <a:solidFill>
            <a:srgbClr val="202825"/>
          </a:solidFill>
          <a:ln>
            <a:noFill/>
          </a:ln>
        </p:spPr>
      </p:sp>
      <p:sp>
        <p:nvSpPr>
          <p:cNvPr id="10" name="good-code"/>
          <p:cNvSpPr txBox="1"/>
          <p:nvPr/>
        </p:nvSpPr>
        <p:spPr>
          <a:xfrm>
            <a:off x="1016000" y="2844800"/>
            <a:ext cx="4699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E9E6DC"/>
                </a:solidFill>
                <a:latin typeface="MiSans"/>
                <a:ea typeface="MiSans"/>
              </a:rPr>
              <a:t>description: &gt;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E9E6DC"/>
                </a:solidFill>
                <a:latin typeface="MiSans"/>
                <a:ea typeface="MiSans"/>
              </a:rPr>
              <a:t>  Review changes that can affect tenant data,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E9E6DC"/>
                </a:solidFill>
                <a:latin typeface="MiSans"/>
                <a:ea typeface="MiSans"/>
              </a:rPr>
              <a:t>  filesystem, authentication, database filters,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E9E6DC"/>
                </a:solidFill>
                <a:latin typeface="MiSans"/>
                <a:ea typeface="MiSans"/>
              </a:rPr>
              <a:t>  workspace mapping, or cross-tenant isolation.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E9E6DC"/>
                </a:solidFill>
                <a:latin typeface="MiSans"/>
                <a:ea typeface="MiSans"/>
              </a:rPr>
              <a:t>  Do not use for UI-only changes, copy edits,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E9E6DC"/>
                </a:solidFill>
                <a:latin typeface="MiSans"/>
                <a:ea typeface="MiSans"/>
              </a:rPr>
              <a:t>  or general code style review.</a:t>
            </a:r>
            <a:endParaRPr lang="en-US" sz="1000" noProof="1"/>
          </a:p>
        </p:txBody>
      </p:sp>
      <p:sp>
        <p:nvSpPr>
          <p:cNvPr id="11" name="desc-note"/>
          <p:cNvSpPr txBox="1"/>
          <p:nvPr/>
        </p:nvSpPr>
        <p:spPr>
          <a:xfrm>
            <a:off x="812800" y="4419600"/>
            <a:ext cx="5080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优化时不要简单堆积失败样例里的关键词，应找到背后的</a:t>
            </a: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意图类别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，否则对训练语句过拟合；触发测试固定 train / validation 划分。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输出质量评测：每个用例分别跑 </a:t>
            </a: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with skill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 与 </a:t>
            </a: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without / 旧版本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，比较断言、耗时和 Token；每次用干净 Session。</a:t>
            </a:r>
            <a:endParaRPr lang="en-US" sz="1100" noProof="1"/>
          </a:p>
        </p:txBody>
      </p:sp>
      <p:sp>
        <p:nvSpPr>
          <p:cNvPr id="12" name="hard-head"/>
          <p:cNvSpPr txBox="1"/>
          <p:nvPr/>
        </p:nvSpPr>
        <p:spPr>
          <a:xfrm>
            <a:off x="6350000" y="1422400"/>
            <a:ext cx="502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explicit-only：软提示 vs 硬保证</a:t>
            </a:r>
            <a:endParaRPr lang="en-US" sz="1300" noProof="1"/>
          </a:p>
        </p:txBody>
      </p:sp>
      <p:sp>
        <p:nvSpPr>
          <p:cNvPr id="13" name="hard-body"/>
          <p:cNvSpPr txBox="1"/>
          <p:nvPr/>
        </p:nvSpPr>
        <p:spPr>
          <a:xfrm>
            <a:off x="6350000" y="1778000"/>
            <a:ext cx="50292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2000"/>
              </a:lnSpc>
            </a:pP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软边界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：只在 description 里写"仅在用户明确点名时使用"——能显著降低误触发，但模型仍看得到 Skill，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给不了 100% 运行时保证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。</a:t>
            </a:r>
            <a:endParaRPr lang="en-US" sz="1200" noProof="1"/>
          </a:p>
          <a:p>
            <a:pPr>
              <a:lnSpc>
                <a:spcPct val="162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硬边界（由 Harness 完成）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：</a:t>
            </a:r>
            <a:endParaRPr lang="en-US" sz="120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默认不把该 Skill 放入模型可见目录</a:t>
            </a:r>
            <a:endParaRPr lang="en-US" sz="120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识别 $skill、slash command 或 Skill 按钮</a:t>
            </a:r>
            <a:endParaRPr lang="en-US" sz="120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明确点名后才注入本轮上下文</a:t>
            </a:r>
            <a:endParaRPr lang="en-US" sz="120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记录 activated_by=user_explicit</a:t>
            </a:r>
            <a:endParaRPr lang="en-US" sz="120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高风险 Skill 再叠加 permission ask 或审批</a:t>
            </a:r>
            <a:endParaRPr lang="en-US" sz="1200" noProof="1"/>
          </a:p>
        </p:txBody>
      </p:sp>
      <p:sp>
        <p:nvSpPr>
          <p:cNvPr id="14" name="hard-note-bar"/>
          <p:cNvSpPr/>
          <p:nvPr/>
        </p:nvSpPr>
        <p:spPr>
          <a:xfrm>
            <a:off x="6350000" y="4826000"/>
            <a:ext cx="50800" cy="558800"/>
          </a:xfrm>
          <a:prstGeom prst="rect">
            <a:avLst/>
          </a:prstGeom>
          <a:solidFill>
            <a:srgbClr val="C4532A"/>
          </a:solidFill>
          <a:ln>
            <a:noFill/>
          </a:ln>
        </p:spPr>
      </p:sp>
      <p:sp>
        <p:nvSpPr>
          <p:cNvPr id="15" name="hard-note"/>
          <p:cNvSpPr txBox="1"/>
          <p:nvPr/>
        </p:nvSpPr>
        <p:spPr>
          <a:xfrm>
            <a:off x="6553200" y="4826000"/>
            <a:ext cx="482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OpenCode 的 Skill permission 可以 allow / ask / deny，但不是"只有本轮包含特定文字才允许"的语义条件。</a:t>
            </a: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需要硬保证时应在外层应用或自定义 Harness 中拦截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，不能只依赖 description。</a:t>
            </a:r>
            <a:endParaRPr lang="en-US" sz="1100" noProof="1"/>
          </a:p>
        </p:txBody>
      </p:sp>
      <p:sp>
        <p:nvSpPr>
          <p:cNvPr id="16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第六部分 · Skill 命中率测试</a:t>
            </a:r>
            <a:endParaRPr lang="en-US" sz="900" noProof="1"/>
          </a:p>
        </p:txBody>
      </p:sp>
      <p:sp>
        <p:nvSpPr>
          <p:cNvPr id="17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24 / 36</a:t>
            </a:r>
            <a:endParaRPr lang="en-US" sz="9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812800" y="1143000"/>
            <a:ext cx="3810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0" noProof="1" b="1">
                <a:solidFill>
                  <a:srgbClr val="DCE7E2"/>
                </a:solidFill>
                <a:latin typeface="MiSans"/>
                <a:ea typeface="MiSans"/>
              </a:rPr>
              <a:t>05</a:t>
            </a:r>
            <a:endParaRPr lang="en-US" sz="12000" noProof="1"/>
          </a:p>
        </p:txBody>
      </p:sp>
      <p:sp>
        <p:nvSpPr>
          <p:cNvPr id="3" name="kicker"/>
          <p:cNvSpPr txBox="1"/>
          <p:nvPr/>
        </p:nvSpPr>
        <p:spPr>
          <a:xfrm>
            <a:off x="812800" y="3403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模块五 · 第七部分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3708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3272E"/>
                </a:solidFill>
                <a:latin typeface="MiSans"/>
                <a:ea typeface="MiSans"/>
              </a:rPr>
              <a:t>多 Skill、MCP、A2A 与 Multi-Agent</a:t>
            </a:r>
            <a:endParaRPr lang="en-US" sz="3000" noProof="1"/>
          </a:p>
        </p:txBody>
      </p:sp>
      <p:sp>
        <p:nvSpPr>
          <p:cNvPr id="5" name="rule"/>
          <p:cNvSpPr/>
          <p:nvPr/>
        </p:nvSpPr>
        <p:spPr>
          <a:xfrm>
            <a:off x="812800" y="44704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6" name="parts"/>
          <p:cNvSpPr txBox="1"/>
          <p:nvPr/>
        </p:nvSpPr>
        <p:spPr>
          <a:xfrm>
            <a:off x="812800" y="4749800"/>
            <a:ext cx="10566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Tool / Skill / Workflow / MCP / Subagent / A2A 六种机制各自解决什么问题、什么时候选哪个；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Primary 与 Subagent 的职责边界，多 Skill 融合策略，以及如何防止语义递归和循环。</a:t>
            </a:r>
            <a:endParaRPr lang="en-US" sz="1300" noProof="1"/>
          </a:p>
        </p:txBody>
      </p:sp>
      <p:sp>
        <p:nvSpPr>
          <p:cNvPr id="7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模块五 · 组合机制与 Multi-Agent</a:t>
            </a:r>
            <a:endParaRPr lang="en-US" sz="900" noProof="1"/>
          </a:p>
        </p:txBody>
      </p:sp>
      <p:sp>
        <p:nvSpPr>
          <p:cNvPr id="8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25 / 36</a:t>
            </a:r>
            <a:endParaRPr lang="en-US" sz="9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第七部分 · 组合机制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先分清六种组合机制，再谈编排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mech-table"/>
          <p:cNvGraphicFramePr>
            <a:graphicFrameLocks noGrp="1"/>
          </p:cNvGraphicFramePr>
          <p:nvPr/>
        </p:nvGraphicFramePr>
        <p:xfrm>
          <a:off x="812800" y="1422400"/>
          <a:ext cx="6858000" cy="3683000"/>
        </p:xfrm>
        <a:graphic>
          <a:graphicData uri="http://schemas.openxmlformats.org/drawingml/2006/table">
            <a:tbl>
              <a:tblPr/>
              <a:tblGrid>
                <a:gridCol w="1165860"/>
                <a:gridCol w="2400300"/>
                <a:gridCol w="1645920"/>
                <a:gridCol w="1645920"/>
              </a:tblGrid>
              <a:tr h="3683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机制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解决的问题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控制流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新上下文？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5524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Tool / API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执行一个可定义的能力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 调用函数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Skill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告诉 Agent 一类任务怎样做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模型按说明执行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默认否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5524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Workflow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固定或半固定步骤编排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开发者定义图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通常否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MCP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标准化 Agent 与 Tool/Data/Prompt 的连接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Client–Server 协议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不等于新上下文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5524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Subagent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把子任务放入独立 Agent 会话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Primary 委派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A2A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跨进程或组织委托有状态 Agent 任务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 Client–Server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是，远端有生命周期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6" name="mech-note"/>
          <p:cNvSpPr txBox="1"/>
          <p:nvPr/>
        </p:nvSpPr>
        <p:spPr>
          <a:xfrm>
            <a:off x="812800" y="5257800"/>
            <a:ext cx="685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MCP</a:t>
            </a: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 用于以标准方式发现和调用 Server 暴露的能力，</a:t>
            </a:r>
            <a:r>
              <a:rPr lang="en-US" sz="1050" noProof="1" b="1">
                <a:solidFill>
                  <a:srgbClr val="6E7480"/>
                </a:solidFill>
                <a:latin typeface="MiSans"/>
                <a:ea typeface="MiSans"/>
              </a:rPr>
              <a:t>不是天然的多 Agent 编排器</a:t>
            </a: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；</a:t>
            </a:r>
            <a:r>
              <a:rPr lang="en-US" sz="105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A2A</a:t>
            </a:r>
            <a:r>
              <a:rPr lang="en-US" sz="1050" noProof="1">
                <a:solidFill>
                  <a:srgbClr val="6E7480"/>
                </a:solidFill>
                <a:latin typeface="MiSans"/>
                <a:ea typeface="MiSans"/>
              </a:rPr>
              <a:t> 围绕 Agent Card、Task、状态更新、消息和 Artifact 描述远程 Agent 协作。</a:t>
            </a:r>
            <a:endParaRPr lang="en-US" sz="1050" noProof="1"/>
          </a:p>
        </p:txBody>
      </p:sp>
      <p:sp>
        <p:nvSpPr>
          <p:cNvPr id="7" name="sel-head"/>
          <p:cNvSpPr txBox="1"/>
          <p:nvPr/>
        </p:nvSpPr>
        <p:spPr>
          <a:xfrm>
            <a:off x="8128000" y="1422400"/>
            <a:ext cx="325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实用选型顺序（六问）</a:t>
            </a:r>
            <a:endParaRPr lang="en-US" sz="1300" noProof="1"/>
          </a:p>
        </p:txBody>
      </p:sp>
      <p:sp>
        <p:nvSpPr>
          <p:cNvPr id="8" name="sel-list"/>
          <p:cNvSpPr txBox="1"/>
          <p:nvPr/>
        </p:nvSpPr>
        <p:spPr>
          <a:xfrm>
            <a:off x="8128000" y="1778000"/>
            <a:ext cx="3251200" cy="444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能写成确定性函数？→ 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Tool / API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缺"如何正确完成"的知识？→ 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Skill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步骤稳定、需审计？→ 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Workflow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跨客户端标准接入能力？→ 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MCP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需上下文隔离或独立验证？→ 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Subagent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远端是有状态、长任务的 Agent？→ 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A2A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00"/>
              </a:spcBef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不要因为"多 Agent"听起来更先进，就把一个函数拆成三个角色互相聊天。</a:t>
            </a:r>
            <a:endParaRPr lang="en-US" sz="1150" noProof="1"/>
          </a:p>
        </p:txBody>
      </p:sp>
      <p:sp>
        <p:nvSpPr>
          <p:cNvPr id="9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第七部分 · 组合机制与 Multi-Agent</a:t>
            </a:r>
            <a:endParaRPr lang="en-US" sz="900" noProof="1"/>
          </a:p>
        </p:txBody>
      </p:sp>
      <p:sp>
        <p:nvSpPr>
          <p:cNvPr id="10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26 / 36</a:t>
            </a:r>
            <a:endParaRPr lang="en-US" sz="9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第七部分 · 组合机制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Subagent 与多 Skill：隔离与组合的红线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role-table"/>
          <p:cNvGraphicFramePr>
            <a:graphicFrameLocks noGrp="1"/>
          </p:cNvGraphicFramePr>
          <p:nvPr/>
        </p:nvGraphicFramePr>
        <p:xfrm>
          <a:off x="812800" y="1422400"/>
          <a:ext cx="5842000" cy="2413000"/>
        </p:xfrm>
        <a:graphic>
          <a:graphicData uri="http://schemas.openxmlformats.org/drawingml/2006/table">
            <a:tbl>
              <a:tblPr/>
              <a:tblGrid>
                <a:gridCol w="1402080"/>
                <a:gridCol w="2336800"/>
                <a:gridCol w="2103120"/>
              </a:tblGrid>
              <a:tr h="3860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应负责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不应负责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5067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Primary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理解目标、拆分任务、管理状态、确认、最终验收交付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把原始上下文无差别复制给每个 Subagent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Explore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只读条件下查找代码、资料和候选方案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直接修改主工作区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5067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Builder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实现边界清楚的独立子任务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替 Primary 改变需求或接受风险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Reviewer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独立上下文中检查 Diff、证据和规则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继承实现者的自我辩护并默认通过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6" name="sub-note-bar"/>
          <p:cNvSpPr/>
          <p:nvPr/>
        </p:nvSpPr>
        <p:spPr>
          <a:xfrm>
            <a:off x="812800" y="4064000"/>
            <a:ext cx="50800" cy="762000"/>
          </a:xfrm>
          <a:prstGeom prst="rect">
            <a:avLst/>
          </a:prstGeom>
          <a:solidFill>
            <a:srgbClr val="C4532A"/>
          </a:solidFill>
          <a:ln>
            <a:noFill/>
          </a:ln>
        </p:spPr>
      </p:sp>
      <p:sp>
        <p:nvSpPr>
          <p:cNvPr id="7" name="sub-note"/>
          <p:cNvSpPr txBox="1"/>
          <p:nvPr/>
        </p:nvSpPr>
        <p:spPr>
          <a:xfrm>
            <a:off x="1066800" y="4064000"/>
            <a:ext cx="558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使用 Subagent 的充分理由只有三类：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需要隔离大量上下文；子任务彼此独立、确实可以并行；需要不同信息条件下的独立验证。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角色扮演本身不是充分理由。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共享同一错误前提的多个角色，只会增加自洽文本。</a:t>
            </a:r>
            <a:endParaRPr lang="en-US" sz="1100" noProof="1"/>
          </a:p>
        </p:txBody>
      </p:sp>
      <p:sp>
        <p:nvSpPr>
          <p:cNvPr id="8" name="mix-head"/>
          <p:cNvSpPr txBox="1"/>
          <p:nvPr/>
        </p:nvSpPr>
        <p:spPr>
          <a:xfrm>
            <a:off x="7112000" y="1422400"/>
            <a:ext cx="426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多 Skill 融合：优先单选</a:t>
            </a:r>
            <a:endParaRPr lang="en-US" sz="1300" noProof="1"/>
          </a:p>
        </p:txBody>
      </p:sp>
      <p:graphicFrame>
        <p:nvGraphicFramePr>
          <p:cNvPr id="9" name="mix-table"/>
          <p:cNvGraphicFramePr>
            <a:graphicFrameLocks noGrp="1"/>
          </p:cNvGraphicFramePr>
          <p:nvPr/>
        </p:nvGraphicFramePr>
        <p:xfrm>
          <a:off x="7112000" y="1752600"/>
          <a:ext cx="4267200" cy="2159000"/>
        </p:xfrm>
        <a:graphic>
          <a:graphicData uri="http://schemas.openxmlformats.org/drawingml/2006/table">
            <a:tbl>
              <a:tblPr/>
              <a:tblGrid>
                <a:gridCol w="1450848"/>
                <a:gridCol w="1621536"/>
                <a:gridCol w="1194816"/>
              </a:tblGrid>
              <a:tr h="3454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组合模式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做法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主要风险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36271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单 Skill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只激活命中最高者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覆盖不足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主 + 辅助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主 Skill 持所有权，辅助返回局部结果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指令优先级冲突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6271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顺序管道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显式 A → Artifact → 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错误传导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分阶段切换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验收 A 后再激活 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会话过长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6271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Subagent 隔离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独立上下文，只回传摘要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协调成本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loop-head"/>
          <p:cNvSpPr txBox="1"/>
          <p:nvPr/>
        </p:nvSpPr>
        <p:spPr>
          <a:xfrm>
            <a:off x="7112000" y="4089400"/>
            <a:ext cx="426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防语义递归的最低防护</a:t>
            </a:r>
            <a:endParaRPr lang="en-US" sz="1300" noProof="1"/>
          </a:p>
        </p:txBody>
      </p:sp>
      <p:sp>
        <p:nvSpPr>
          <p:cNvPr id="11" name="loop-list"/>
          <p:cNvSpPr txBox="1"/>
          <p:nvPr/>
        </p:nvSpPr>
        <p:spPr>
          <a:xfrm>
            <a:off x="7112000" y="4394200"/>
            <a:ext cx="42672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坏循环：A 要求调用 B → B 判断仍属 A → 再加载 A → 上下文膨胀 / doom loop。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防护：已激活 Skill 去重；activation_chain 最大深度；依赖由 Router/Primary 解析；组合前查 conflicts_with；重复调用触发 loop guard；每个 Skill 返回 completed / blocked / handoff_required。</a:t>
            </a:r>
            <a:endParaRPr lang="en-US" sz="1150" noProof="1"/>
          </a:p>
        </p:txBody>
      </p:sp>
      <p:sp>
        <p:nvSpPr>
          <p:cNvPr id="12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第七部分 · 组合机制与 Multi-Agent</a:t>
            </a:r>
            <a:endParaRPr lang="en-US" sz="900" noProof="1"/>
          </a:p>
        </p:txBody>
      </p:sp>
      <p:sp>
        <p:nvSpPr>
          <p:cNvPr id="13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27 / 36</a:t>
            </a:r>
            <a:endParaRPr lang="en-US" sz="90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812800" y="1143000"/>
            <a:ext cx="3810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0" noProof="1" b="1">
                <a:solidFill>
                  <a:srgbClr val="DCE7E2"/>
                </a:solidFill>
                <a:latin typeface="MiSans"/>
                <a:ea typeface="MiSans"/>
              </a:rPr>
              <a:t>06</a:t>
            </a:r>
            <a:endParaRPr lang="en-US" sz="12000" noProof="1"/>
          </a:p>
        </p:txBody>
      </p:sp>
      <p:sp>
        <p:nvSpPr>
          <p:cNvPr id="3" name="kicker"/>
          <p:cNvSpPr txBox="1"/>
          <p:nvPr/>
        </p:nvSpPr>
        <p:spPr>
          <a:xfrm>
            <a:off x="812800" y="3403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模块六 · 第八、九部分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3708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3272E"/>
                </a:solidFill>
                <a:latin typeface="MiSans"/>
                <a:ea typeface="MiSans"/>
              </a:rPr>
              <a:t>WebUI 迁移为 Agent 应用与参考架构</a:t>
            </a:r>
            <a:endParaRPr lang="en-US" sz="3000" noProof="1"/>
          </a:p>
        </p:txBody>
      </p:sp>
      <p:sp>
        <p:nvSpPr>
          <p:cNvPr id="5" name="rule"/>
          <p:cNvSpPr/>
          <p:nvPr/>
        </p:nvSpPr>
        <p:spPr>
          <a:xfrm>
            <a:off x="812800" y="44704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6" name="parts"/>
          <p:cNvSpPr txBox="1"/>
          <p:nvPr/>
        </p:nvSpPr>
        <p:spPr>
          <a:xfrm>
            <a:off x="812800" y="4749800"/>
            <a:ext cx="10566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00" noProof="1" b="1">
                <a:solidFill>
                  <a:srgbClr val="23272E"/>
                </a:solidFill>
                <a:latin typeface="MiSans"/>
                <a:ea typeface="MiSans"/>
              </a:rPr>
              <a:t>第八部分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　把 WebUI 应用迁移为 Agent 对话式应用：三种架构、UI 元素映射、迁移示例、九步方法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noProof="1" b="1">
                <a:solidFill>
                  <a:srgbClr val="23272E"/>
                </a:solidFill>
                <a:latin typeface="MiSans"/>
                <a:ea typeface="MiSans"/>
              </a:rPr>
              <a:t>第九部分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　一版可落地的参考架构：最小可用组件与"先简单做"的优先级</a:t>
            </a:r>
            <a:endParaRPr lang="en-US" sz="1300" noProof="1"/>
          </a:p>
        </p:txBody>
      </p:sp>
      <p:sp>
        <p:nvSpPr>
          <p:cNvPr id="7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模块六 · WebUI 迁移与参考架构</a:t>
            </a:r>
            <a:endParaRPr lang="en-US" sz="900" noProof="1"/>
          </a:p>
        </p:txBody>
      </p:sp>
      <p:sp>
        <p:nvSpPr>
          <p:cNvPr id="8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28 / 36</a:t>
            </a:r>
            <a:endParaRPr lang="en-US" sz="900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第八部分 · WebUI 迁移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迁移：复用确定性能力，而不是模拟点击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arch-table"/>
          <p:cNvGraphicFramePr>
            <a:graphicFrameLocks noGrp="1"/>
          </p:cNvGraphicFramePr>
          <p:nvPr/>
        </p:nvGraphicFramePr>
        <p:xfrm>
          <a:off x="812800" y="1422400"/>
          <a:ext cx="10566400" cy="2159000"/>
        </p:xfrm>
        <a:graphic>
          <a:graphicData uri="http://schemas.openxmlformats.org/drawingml/2006/table">
            <a:tbl>
              <a:tblPr/>
              <a:tblGrid>
                <a:gridCol w="2007616"/>
                <a:gridCol w="2958592"/>
                <a:gridCol w="2535936"/>
                <a:gridCol w="3064256"/>
              </a:tblGrid>
              <a:tr h="3886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架构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优点 / 缺点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建议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44259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浏览器 / DOM 操作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 像人一样点击原 WebUI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接入快；但脆弱、慢、难审计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仅作过渡或无 API 时使用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259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API Tool 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把原有 API 封装为 Typed Tools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稳定可测；需整理 Schema 和错误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默认推荐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44259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Workflow as Tool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把固定流程作为一个 Tool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最大复用确定性；中间交互灵活性有限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稳定主流程推荐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259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对话 + 结构化 UI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 编排，卡片/表单承载精确交互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灵活可控；前端与状态设计工作较多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生产目标形态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6" name="case-head"/>
          <p:cNvSpPr txBox="1"/>
          <p:nvPr/>
        </p:nvSpPr>
        <p:spPr>
          <a:xfrm>
            <a:off x="812800" y="37846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迁移示例：算法实验分析平台</a:t>
            </a:r>
            <a:endParaRPr lang="en-US" sz="1300" noProof="1"/>
          </a:p>
        </p:txBody>
      </p:sp>
      <p:sp>
        <p:nvSpPr>
          <p:cNvPr id="7" name="case-user"/>
          <p:cNvSpPr txBox="1"/>
          <p:nvPr/>
        </p:nvSpPr>
        <p:spPr>
          <a:xfrm>
            <a:off x="812800" y="41148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用户说：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"用我刚上传的 MCH 数据分析最近三个月的异常，沿用上次的清洗规则，比较常用模型，给我 Top 10 参数组合和一份可下载报告。"</a:t>
            </a:r>
            <a:endParaRPr lang="en-US" sz="1200" noProof="1"/>
          </a:p>
        </p:txBody>
      </p:sp>
      <p:sp>
        <p:nvSpPr>
          <p:cNvPr id="8" name="case-agent"/>
          <p:cNvSpPr txBox="1"/>
          <p:nvPr/>
        </p:nvSpPr>
        <p:spPr>
          <a:xfrm>
            <a:off x="812800" y="5080000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Agent 的合理行为：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从附件和会话状态解析 dataset / 层别 / 日期 / 清洗配置 / Top N → 对"上次规则"读取已确认且仍有效的配置（不从模糊记忆猜测）→ 参数卡一次性展示解析结果 → 只问真正缺失的指标定义 → 调用原有数据校验 API → 把稳定分析 Workflow 作为 Tool 执行 → 任务时间线展示阶段状态 → 返回摘要、图表和报告 Artifact，并说明数据版本与验证结果。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关键：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Agent 消除了用户理解所有表单字段的负担，但没有删除底层参数校验、Workflow 和可视化能力。</a:t>
            </a:r>
            <a:endParaRPr lang="en-US" sz="1100" noProof="1"/>
          </a:p>
        </p:txBody>
      </p:sp>
      <p:sp>
        <p:nvSpPr>
          <p:cNvPr id="9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第八部分 · WebUI 迁移</a:t>
            </a:r>
            <a:endParaRPr lang="en-US" sz="900" noProof="1"/>
          </a:p>
        </p:txBody>
      </p:sp>
      <p:sp>
        <p:nvSpPr>
          <p:cNvPr id="10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29 / 36</a:t>
            </a:r>
            <a:endParaRPr lang="en-US" sz="900" noProof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第八部分 · WebUI 迁移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UI 元素如何映射到 Agent 交互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graphicFrame>
        <p:nvGraphicFramePr>
          <p:cNvPr id="5" name="ui-table"/>
          <p:cNvGraphicFramePr>
            <a:graphicFrameLocks noGrp="1"/>
          </p:cNvGraphicFramePr>
          <p:nvPr/>
        </p:nvGraphicFramePr>
        <p:xfrm>
          <a:off x="812800" y="1371600"/>
          <a:ext cx="10566400" cy="4191000"/>
        </p:xfrm>
        <a:graphic>
          <a:graphicData uri="http://schemas.openxmlformats.org/drawingml/2006/table">
            <a:tbl>
              <a:tblPr/>
              <a:tblGrid>
                <a:gridCol w="1901952"/>
                <a:gridCol w="3592576"/>
                <a:gridCol w="5071872"/>
              </a:tblGrid>
              <a:tr h="34400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原 WebUI 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Agent 应用中的映射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设计注意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34987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文本输入框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对话中的 Slot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能从上下文推断时填充；高影响值必须确认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87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下拉框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Enum Tool 参数 + 可点击选项卡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不让模型生成不存在的选项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4987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多选框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数组参数 + 选择卡片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显示当前选择，允许一键修改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87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多步 Wizard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分阶段对话或一次性参数卡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不要每个字段都问一轮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4987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「运行」按钮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Tool / Workflow 调用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调用前展示关键参数和副作用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87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进度条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Task status / Event stream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区分排队、运行、等待输入、完成、失败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4987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Toast 错误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结构化错误 + 恢复建议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保留错误代码和 trace 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87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表格与图表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Artifact Preview / 可视化卡片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不强迫模型把大表复述成文本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4987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下载按钮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Artifact 链接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标注类型、大小、版本和来源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87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保存 / 提交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外部写操作 + 显式确认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使用幂等键和审计记录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48201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历史任务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Session / Task 列表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任务状态不只存在于聊天消息里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ui-note-bar"/>
          <p:cNvSpPr/>
          <p:nvPr/>
        </p:nvSpPr>
        <p:spPr>
          <a:xfrm>
            <a:off x="812800" y="5740400"/>
            <a:ext cx="50800" cy="508000"/>
          </a:xfrm>
          <a:prstGeom prst="rect">
            <a:avLst/>
          </a:prstGeom>
          <a:solidFill>
            <a:srgbClr val="C4532A"/>
          </a:solidFill>
          <a:ln>
            <a:noFill/>
          </a:ln>
        </p:spPr>
      </p:sp>
      <p:sp>
        <p:nvSpPr>
          <p:cNvPr id="7" name="ui-note"/>
          <p:cNvSpPr txBox="1"/>
          <p:nvPr/>
        </p:nvSpPr>
        <p:spPr>
          <a:xfrm>
            <a:off x="1066800" y="5740400"/>
            <a:ext cx="10312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最实用的 Agent UI = </a:t>
            </a:r>
            <a:r>
              <a:rPr lang="en-US" sz="1300" noProof="1" b="1">
                <a:solidFill>
                  <a:srgbClr val="23272E"/>
                </a:solidFill>
                <a:latin typeface="MiSans"/>
                <a:ea typeface="MiSans"/>
              </a:rPr>
              <a:t>Chat + 文件区 + 参数卡 + 任务时间线 + Artifact 预览 + 权限确认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，而不是只有 Chat。</a:t>
            </a:r>
            <a:endParaRPr lang="en-US" sz="1300" noProof="1"/>
          </a:p>
        </p:txBody>
      </p:sp>
      <p:sp>
        <p:nvSpPr>
          <p:cNvPr id="8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第八部分 · WebUI 迁移</a:t>
            </a:r>
            <a:endParaRPr lang="en-US" sz="900" noProof="1"/>
          </a:p>
        </p:txBody>
      </p:sp>
      <p:sp>
        <p:nvSpPr>
          <p:cNvPr id="9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30 / 36</a:t>
            </a:r>
            <a:endParaRPr lang="en-US" sz="900" noProof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第八部分 · WebUI 迁移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WebUI 迁移的九步方法与适用边界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steps"/>
          <p:cNvSpPr txBox="1"/>
          <p:nvPr/>
        </p:nvSpPr>
        <p:spPr>
          <a:xfrm>
            <a:off x="812800" y="1422400"/>
            <a:ext cx="6604000" cy="482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2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盘点真实能力，而不是盘点页面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：每个页面动作追踪到 API、数据库、文件或第三方系统</a:t>
            </a:r>
            <a:endParaRPr lang="en-US" sz="1150" noProof="1"/>
          </a:p>
          <a:p>
            <a:pPr>
              <a:lnSpc>
                <a:spcPct val="162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给动作分级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：Read / Compute / Workspace Write / External Write / Destructive，策略逐级收紧</a:t>
            </a:r>
            <a:endParaRPr lang="en-US" sz="1150" noProof="1"/>
          </a:p>
          <a:p>
            <a:pPr>
              <a:lnSpc>
                <a:spcPct val="162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把 API 封装成窄而稳定的 Tool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：按用户意图组合，设租户身份、权限和返回上限</a:t>
            </a:r>
            <a:endParaRPr lang="en-US" sz="1150" noProof="1"/>
          </a:p>
          <a:p>
            <a:pPr>
              <a:lnSpc>
                <a:spcPct val="162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4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把表单 Schema 变成 Slot Schema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：类型、必需性、默认值来源、可否推断、是否需确认、过期条件</a:t>
            </a:r>
            <a:endParaRPr lang="en-US" sz="1150" noProof="1"/>
          </a:p>
          <a:p>
            <a:pPr>
              <a:lnSpc>
                <a:spcPct val="162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5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复用稳定 Workflow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：固定主流程作为 Tool，Agent 负责选择、补参和解释</a:t>
            </a:r>
            <a:endParaRPr lang="en-US" sz="1150" noProof="1"/>
          </a:p>
          <a:p>
            <a:pPr>
              <a:lnSpc>
                <a:spcPct val="162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6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设计 Session、Task 和 Artifact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：业务数据库仍是外部状态的权威来源</a:t>
            </a:r>
            <a:endParaRPr lang="en-US" sz="1150" noProof="1"/>
          </a:p>
          <a:p>
            <a:pPr>
              <a:lnSpc>
                <a:spcPct val="162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7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补齐确认和恢复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：preview / dry-run、关键参数展示、检查点恢复</a:t>
            </a:r>
            <a:endParaRPr lang="en-US" sz="1150" noProof="1"/>
          </a:p>
          <a:p>
            <a:pPr>
              <a:lnSpc>
                <a:spcPct val="162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8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保留结构化 UI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：对话负责"为什么、做什么"，UI 负责"精确选择和观察"</a:t>
            </a:r>
            <a:endParaRPr lang="en-US" sz="1150" noProof="1"/>
          </a:p>
          <a:p>
            <a:pPr>
              <a:lnSpc>
                <a:spcPct val="162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9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灰度上线并做任务级评测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：完成率、澄清轮数、Tool 选择错误率、撤销率、成本与时延对比</a:t>
            </a:r>
            <a:endParaRPr lang="en-US" sz="1150" noProof="1"/>
          </a:p>
        </p:txBody>
      </p:sp>
      <p:sp>
        <p:nvSpPr>
          <p:cNvPr id="6" name="ban-head"/>
          <p:cNvSpPr txBox="1"/>
          <p:nvPr/>
        </p:nvSpPr>
        <p:spPr>
          <a:xfrm>
            <a:off x="7874000" y="1422400"/>
            <a:ext cx="3505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4532A"/>
                </a:solidFill>
                <a:latin typeface="MiSans"/>
                <a:ea typeface="MiSans"/>
              </a:rPr>
              <a:t>不宜完全对话化的场景</a:t>
            </a:r>
            <a:endParaRPr lang="en-US" sz="1300" noProof="1"/>
          </a:p>
        </p:txBody>
      </p:sp>
      <p:sp>
        <p:nvSpPr>
          <p:cNvPr id="7" name="ban-list"/>
          <p:cNvSpPr txBox="1"/>
          <p:nvPr/>
        </p:nvSpPr>
        <p:spPr>
          <a:xfrm>
            <a:off x="7874000" y="1778000"/>
            <a:ext cx="3505200" cy="444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2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用户已熟练、每天重复录入大量结构化数据</a:t>
            </a:r>
            <a:endParaRPr lang="en-US" sz="1100" noProof="1"/>
          </a:p>
          <a:p>
            <a:pPr>
              <a:lnSpc>
                <a:spcPct val="162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毫秒级响应或极低成本要求</a:t>
            </a:r>
            <a:endParaRPr lang="en-US" sz="1100" noProof="1"/>
          </a:p>
          <a:p>
            <a:pPr>
              <a:lnSpc>
                <a:spcPct val="162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每个字段都必须逐项人工确认</a:t>
            </a:r>
            <a:endParaRPr lang="en-US" sz="1100" noProof="1"/>
          </a:p>
          <a:p>
            <a:pPr>
              <a:lnSpc>
                <a:spcPct val="162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医疗、金融、生产控制等高风险动作没有完善审批</a:t>
            </a:r>
            <a:endParaRPr lang="en-US" sz="1100" noProof="1"/>
          </a:p>
          <a:p>
            <a:pPr>
              <a:lnSpc>
                <a:spcPct val="162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后端没有稳定 API，只能靠脆弱 UI 自动化</a:t>
            </a:r>
            <a:endParaRPr lang="en-US" sz="1100" noProof="1"/>
          </a:p>
          <a:p>
            <a:pPr>
              <a:lnSpc>
                <a:spcPct val="162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任务不能定义成功证据，也无法安全回滚</a:t>
            </a:r>
            <a:endParaRPr lang="en-US" sz="1100" noProof="1"/>
          </a:p>
          <a:p>
            <a:pPr>
              <a:lnSpc>
                <a:spcPct val="162000"/>
              </a:lnSpc>
              <a:spcBef>
                <a:spcPts val="1000"/>
              </a:spcBef>
            </a:pP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讨论重点不是"能否全部用聊天替代"，而是</a:t>
            </a:r>
            <a:r>
              <a:rPr lang="en-US" sz="1100" noProof="1" b="1">
                <a:solidFill>
                  <a:srgbClr val="6E7480"/>
                </a:solidFill>
                <a:latin typeface="MiSans"/>
                <a:ea typeface="MiSans"/>
              </a:rPr>
              <a:t>哪些不确定部分交给 Agent 后，用户路径真正变短了</a:t>
            </a:r>
            <a:r>
              <a:rPr lang="en-US" sz="1100" noProof="1">
                <a:solidFill>
                  <a:srgbClr val="6E7480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</p:txBody>
      </p:sp>
      <p:sp>
        <p:nvSpPr>
          <p:cNvPr id="8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第八部分 · WebUI 迁移</a:t>
            </a:r>
            <a:endParaRPr lang="en-US" sz="900" noProof="1"/>
          </a:p>
        </p:txBody>
      </p:sp>
      <p:sp>
        <p:nvSpPr>
          <p:cNvPr id="9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31 / 36</a:t>
            </a:r>
            <a:endParaRPr lang="en-US" sz="900" noProof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第九部分 · 参考架构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一版可落地的参考架构：先简单做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arch-flow"/>
          <p:cNvSpPr txBox="1"/>
          <p:nvPr/>
        </p:nvSpPr>
        <p:spPr>
          <a:xfrm>
            <a:off x="812800" y="1422400"/>
            <a:ext cx="10566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Chat + Files + Cards + Artifacts → </a:t>
            </a: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Agent Runtime / Session Manager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（← AGENTS + Skill Catalog + Memory）→ Tools / Workflow / MCP / Subagents → Business APIs / Data / Workspace → Task State / Trace / Artifact Store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Permission / Sandbox / Identity / Audit 作为控制面，贯穿 Runtime 与能力层。</a:t>
            </a:r>
            <a:endParaRPr lang="en-US" sz="1200" noProof="1"/>
          </a:p>
        </p:txBody>
      </p:sp>
      <p:sp>
        <p:nvSpPr>
          <p:cNvPr id="6" name="comp-head"/>
          <p:cNvSpPr txBox="1"/>
          <p:nvPr/>
        </p:nvSpPr>
        <p:spPr>
          <a:xfrm>
            <a:off x="812800" y="23622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最小可用组件（九件）</a:t>
            </a:r>
            <a:endParaRPr lang="en-US" sz="1300" noProof="1"/>
          </a:p>
        </p:txBody>
      </p:sp>
      <p:graphicFrame>
        <p:nvGraphicFramePr>
          <p:cNvPr id="7" name="comp-table"/>
          <p:cNvGraphicFramePr>
            <a:graphicFrameLocks noGrp="1"/>
          </p:cNvGraphicFramePr>
          <p:nvPr/>
        </p:nvGraphicFramePr>
        <p:xfrm>
          <a:off x="812800" y="2667000"/>
          <a:ext cx="5588000" cy="3556000"/>
        </p:xfrm>
        <a:graphic>
          <a:graphicData uri="http://schemas.openxmlformats.org/drawingml/2006/table">
            <a:tbl>
              <a:tblPr/>
              <a:tblGrid>
                <a:gridCol w="2011680"/>
                <a:gridCol w="3576320"/>
              </a:tblGrid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14524B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 Runtime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模型调用、Tool Loop、取消、超时、停止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Session Manager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用户、项目、会话和 Task 的映射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Context Loader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AGENTS.md、Skill 目录和按需资源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Tool Gateway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统一 Schema、身份、错误、幂等、限流、审计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Workspace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文件上传、执行、Artifact 与隔离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Policy Layer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permission、沙箱、网络和凭据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Observability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事件、Trace、Tool Call、成本和失败原因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Eval Harness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触发、任务、安全和回归测试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1EEE5"/>
                    </a:solidFill>
                  </a:tcPr>
                </a:tc>
              </a:tr>
              <a:tr h="355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Hybrid UI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对话、参数卡、任务状态与 Artifact 预览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DD9CE"/>
                      </a:solidFill>
                    </a:lnT>
                    <a:lnB w="12700">
                      <a:solidFill>
                        <a:srgbClr val="DDD9C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rio-head"/>
          <p:cNvSpPr txBox="1"/>
          <p:nvPr/>
        </p:nvSpPr>
        <p:spPr>
          <a:xfrm>
            <a:off x="6858000" y="2362200"/>
            <a:ext cx="452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4524B"/>
                </a:solidFill>
                <a:latin typeface="MiSans"/>
                <a:ea typeface="MiSans"/>
              </a:rPr>
              <a:t>「先简单做」的优先级</a:t>
            </a:r>
            <a:endParaRPr lang="en-US" sz="1300" noProof="1"/>
          </a:p>
        </p:txBody>
      </p:sp>
      <p:sp>
        <p:nvSpPr>
          <p:cNvPr id="9" name="prio-list"/>
          <p:cNvSpPr txBox="1"/>
          <p:nvPr/>
        </p:nvSpPr>
        <p:spPr>
          <a:xfrm>
            <a:off x="6858000" y="2667000"/>
            <a:ext cx="45212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一个 Primary Agent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3–8 个窄而稳定的 Tools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一份简洁 AGENTS.md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1–3 个高价值 Skills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Session + Workspace + Artifact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permission + 系统隔离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10"/>
              </a:spcBef>
              <a:buAutoNum type="arabicPeriod"/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任务级验收与 Trace</a:t>
            </a:r>
            <a:endParaRPr lang="en-US" sz="1150" noProof="1"/>
          </a:p>
          <a:p>
            <a:pPr>
              <a:lnSpc>
                <a:spcPct val="162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⑧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 确认存在上下文隔离或独立验证需求后，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再加 Subagent</a:t>
            </a:r>
            <a:endParaRPr lang="en-US" sz="1150" noProof="1"/>
          </a:p>
          <a:p>
            <a:pPr>
              <a:lnSpc>
                <a:spcPct val="162000"/>
              </a:lnSpc>
            </a:pP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⑨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 确认存在跨系统 Agent 委托后，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再考虑 A2A</a:t>
            </a:r>
            <a:endParaRPr lang="en-US" sz="1150" noProof="1"/>
          </a:p>
        </p:txBody>
      </p:sp>
      <p:sp>
        <p:nvSpPr>
          <p:cNvPr id="10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第九部分 · 参考架构</a:t>
            </a:r>
            <a:endParaRPr lang="en-US" sz="900" noProof="1"/>
          </a:p>
        </p:txBody>
      </p:sp>
      <p:sp>
        <p:nvSpPr>
          <p:cNvPr id="11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32 / 36</a:t>
            </a:r>
            <a:endParaRPr lang="en-US" sz="900" noProof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第十部分 · 课堂练习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三个练习：选型、边界、Agent 化改造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ex1-head"/>
          <p:cNvSpPr txBox="1"/>
          <p:nvPr/>
        </p:nvSpPr>
        <p:spPr>
          <a:xfrm>
            <a:off x="812800" y="14224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4524B"/>
                </a:solidFill>
                <a:latin typeface="MiSans"/>
                <a:ea typeface="MiSans"/>
              </a:rPr>
              <a:t>练习一（10 分钟）判断应该使用什么机制</a:t>
            </a:r>
            <a:endParaRPr lang="en-US" sz="1350" noProof="1"/>
          </a:p>
        </p:txBody>
      </p:sp>
      <p:sp>
        <p:nvSpPr>
          <p:cNvPr id="6" name="ex1-body"/>
          <p:cNvSpPr txBox="1"/>
          <p:nvPr/>
        </p:nvSpPr>
        <p:spPr>
          <a:xfrm>
            <a:off x="812800" y="1752600"/>
            <a:ext cx="10566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针对每个需求选择 Tool、Skill、Workflow、MCP、Subagent 或 A2A，并说明理由：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① 查询订单实时状态　② 按团队规范完成一次生产发布　③ 每晚固定抽数、生成报表并发到指定系统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④ 让多个客户端统一访问企业知识与查询能力　⑤ 让独立上下文的 Reviewer 检查实现 Agent 的 Diff　⑥ 委托远程法务 Agent 完成数小时的有状态审查</a:t>
            </a:r>
            <a:endParaRPr lang="en-US" sz="1200" noProof="1"/>
          </a:p>
        </p:txBody>
      </p:sp>
      <p:sp>
        <p:nvSpPr>
          <p:cNvPr id="7" name="ex2-head"/>
          <p:cNvSpPr txBox="1"/>
          <p:nvPr/>
        </p:nvSpPr>
        <p:spPr>
          <a:xfrm>
            <a:off x="812800" y="31496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4524B"/>
                </a:solidFill>
                <a:latin typeface="MiSans"/>
                <a:ea typeface="MiSans"/>
              </a:rPr>
              <a:t>练习二（15 分钟）为一个 Skill 写触发边界</a:t>
            </a:r>
            <a:endParaRPr lang="en-US" sz="1350" noProof="1"/>
          </a:p>
        </p:txBody>
      </p:sp>
      <p:sp>
        <p:nvSpPr>
          <p:cNvPr id="8" name="ex2-body"/>
          <p:cNvSpPr txBox="1"/>
          <p:nvPr/>
        </p:nvSpPr>
        <p:spPr>
          <a:xfrm>
            <a:off x="812800" y="3479800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选择团队中的一个真实 SOP，交付：一段 ≤1024 字符的 description；5 条 should-trigger；5 条 should-not-trigger（至少 3 条近邻场景）；3 条输出质量断言；明确自动激活还是 explicit-only；若有外部写操作，写出确认与停止条件。</a:t>
            </a:r>
            <a:endParaRPr lang="en-US" sz="1200" noProof="1"/>
          </a:p>
        </p:txBody>
      </p:sp>
      <p:sp>
        <p:nvSpPr>
          <p:cNvPr id="9" name="ex3-head"/>
          <p:cNvSpPr txBox="1"/>
          <p:nvPr/>
        </p:nvSpPr>
        <p:spPr>
          <a:xfrm>
            <a:off x="812800" y="47244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4524B"/>
                </a:solidFill>
                <a:latin typeface="MiSans"/>
                <a:ea typeface="MiSans"/>
              </a:rPr>
              <a:t>练习三（20 分钟）把一个 WebUI 页面 Agent 化</a:t>
            </a:r>
            <a:endParaRPr lang="en-US" sz="1350" noProof="1"/>
          </a:p>
        </p:txBody>
      </p:sp>
      <p:sp>
        <p:nvSpPr>
          <p:cNvPr id="10" name="ex3-body"/>
          <p:cNvSpPr txBox="1"/>
          <p:nvPr/>
        </p:nvSpPr>
        <p:spPr>
          <a:xfrm>
            <a:off x="812800" y="5054600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选择现有页面，画出：页面动作背后的 API；Slot Schema；Tool 列表；仍应保留的参数卡、图表和按钮；一条自然语言任务示例；Agent 需要询问的最少问题；成功 Artifact 与验收证据。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23272E"/>
                </a:solidFill>
                <a:latin typeface="MiSans"/>
                <a:ea typeface="MiSans"/>
              </a:rPr>
              <a:t>讨论重点：</a:t>
            </a:r>
            <a:r>
              <a:rPr lang="en-US" sz="1200" noProof="1">
                <a:solidFill>
                  <a:srgbClr val="23272E"/>
                </a:solidFill>
                <a:latin typeface="MiSans"/>
                <a:ea typeface="MiSans"/>
              </a:rPr>
              <a:t>哪些不确定部分交给 Agent 后，用户路径真正变短了？</a:t>
            </a:r>
            <a:endParaRPr lang="en-US" sz="1200" noProof="1"/>
          </a:p>
        </p:txBody>
      </p:sp>
      <p:sp>
        <p:nvSpPr>
          <p:cNvPr id="11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第十部分 · 课堂练习</a:t>
            </a:r>
            <a:endParaRPr lang="en-US" sz="900" noProof="1"/>
          </a:p>
        </p:txBody>
      </p:sp>
      <p:sp>
        <p:nvSpPr>
          <p:cNvPr id="12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33 / 36</a:t>
            </a:r>
            <a:endParaRPr lang="en-US" sz="900" noProof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第十一部分 · 常见误区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八个需要避免的结论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myths-left"/>
          <p:cNvSpPr txBox="1"/>
          <p:nvPr/>
        </p:nvSpPr>
        <p:spPr>
          <a:xfrm>
            <a:off x="812800" y="1422400"/>
            <a:ext cx="5207000" cy="482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误区一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有系统 Prompt 就是 Agent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Prompt 只定义行为倾向；Agent 还需要循环、工具、状态、反馈和停止机制。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误区二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Skill 就是一个 Tool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Tool 是能力接口，Skill 是使用能力的程序性知识；两者可以互不依赖。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误区三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MCP 是多 Agent 协议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MCP 连接 Agent 应用与外部能力；A2A 才处理远程 Agent 的发现、任务状态和 Artifact。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误区四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工具和 Skill 越多，Agent 越强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过多相似能力增加选择错误、上下文污染、权限面和维护成本；目录精度比数量更重要。</a:t>
            </a:r>
            <a:endParaRPr lang="en-US" sz="1150" noProof="1"/>
          </a:p>
        </p:txBody>
      </p:sp>
      <p:sp>
        <p:nvSpPr>
          <p:cNvPr id="6" name="myths-right"/>
          <p:cNvSpPr txBox="1"/>
          <p:nvPr/>
        </p:nvSpPr>
        <p:spPr>
          <a:xfrm>
            <a:off x="6477000" y="1422400"/>
            <a:ext cx="4902200" cy="482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误区五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在 AGENTS.md 写禁止事项就足够安全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自然语言约束可能被误解或遗忘；高风险边界必须由 permission、sandbox、identity、网络策略和审计实现。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误区六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对话式应用应该删除表单和可视化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自然语言适合理解目标与例外；结构化 UI 适合精确输入、比较、审批和观察；两者应组合。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误区七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多 Agent 会自动提高正确率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共享同一错误前提的多个角色只会增加自洽文本；价值来自隔离、并行独立性或独立验证。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误区八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记忆就是把所有聊天永久保存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日志用于追溯，记忆用于改善决策；长期记忆必须经确认、限定作用域、支持过期和纠错。</a:t>
            </a:r>
            <a:endParaRPr lang="en-US" sz="1150" noProof="1"/>
          </a:p>
        </p:txBody>
      </p:sp>
      <p:sp>
        <p:nvSpPr>
          <p:cNvPr id="7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第十一部分 · 常见误区</a:t>
            </a:r>
            <a:endParaRPr lang="en-US" sz="900" noProof="1"/>
          </a:p>
        </p:txBody>
      </p:sp>
      <p:sp>
        <p:nvSpPr>
          <p:cNvPr id="8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34 / 36</a:t>
            </a:r>
            <a:endParaRPr lang="en-US" sz="900" noProof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4524B"/>
                </a:solidFill>
                <a:latin typeface="MiSans"/>
                <a:ea typeface="MiSans"/>
              </a:rPr>
              <a:t>第十二部分 · 课程总结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3272E"/>
                </a:solidFill>
                <a:latin typeface="MiSans"/>
                <a:ea typeface="MiSans"/>
              </a:rPr>
              <a:t>十句话带走本课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219200"/>
            <a:ext cx="10566400" cy="12700"/>
          </a:xfrm>
          <a:prstGeom prst="rect">
            <a:avLst/>
          </a:prstGeom>
          <a:solidFill>
            <a:srgbClr val="DDD9CE"/>
          </a:solidFill>
          <a:ln>
            <a:noFill/>
          </a:ln>
        </p:spPr>
      </p:sp>
      <p:sp>
        <p:nvSpPr>
          <p:cNvPr id="5" name="sum-left"/>
          <p:cNvSpPr txBox="1"/>
          <p:nvPr/>
        </p:nvSpPr>
        <p:spPr>
          <a:xfrm>
            <a:off x="812800" y="1422400"/>
            <a:ext cx="5207000" cy="426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Chatbot 暴露模型的语言能力，Agent 暴露模型在受控世界中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持续工作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的能力。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RAG 解决"知道什么"，Tool 解决"能做什么"，Skill 解决"应该怎样做"。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Workflow 把控制流交给开发者，Agent 把部分下一步决策交给模型。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4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Agent 的核心不是人格，而是带状态的</a:t>
            </a:r>
            <a:r>
              <a:rPr lang="en-US" sz="1150" noProof="1" b="1">
                <a:solidFill>
                  <a:srgbClr val="23272E"/>
                </a:solidFill>
                <a:latin typeface="MiSans"/>
                <a:ea typeface="MiSans"/>
              </a:rPr>
              <a:t>观察—决策—行动—反馈循环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5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AGENTS.md 是项目共识，Skill 是场景方法，Permission 和 Sandbox 才是硬边界。</a:t>
            </a:r>
            <a:endParaRPr lang="en-US" sz="1150" noProof="1"/>
          </a:p>
        </p:txBody>
      </p:sp>
      <p:sp>
        <p:nvSpPr>
          <p:cNvPr id="6" name="sum-right"/>
          <p:cNvSpPr txBox="1"/>
          <p:nvPr/>
        </p:nvSpPr>
        <p:spPr>
          <a:xfrm>
            <a:off x="6477000" y="1422400"/>
            <a:ext cx="4902200" cy="426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6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API 应先变成稳定、结构化、可审计的 Tool，再由 Skill 教 Agent 正确使用。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7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stdout 给机器数据，stderr 给诊断，大结果给 Artifact，聊天给人解释。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8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Skill 要分别测试触发质量和输出质量；explicit-only 必须由 Harness 强制。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9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Multi-Agent 应服务于上下文隔离、独立并行或独立验证，而不是模拟组织架构。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10</a:t>
            </a: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　最好的 Agent WebUI 通常不是纯聊天框，而是"对话 + 结构化控件 + 工作区 + 可验证产物"。</a:t>
            </a:r>
            <a:endParaRPr lang="en-US" sz="1150" noProof="1"/>
          </a:p>
        </p:txBody>
      </p:sp>
      <p:sp>
        <p:nvSpPr>
          <p:cNvPr id="7" name="goal-bar"/>
          <p:cNvSpPr/>
          <p:nvPr/>
        </p:nvSpPr>
        <p:spPr>
          <a:xfrm>
            <a:off x="812800" y="5816600"/>
            <a:ext cx="50800" cy="508000"/>
          </a:xfrm>
          <a:prstGeom prst="rect">
            <a:avLst/>
          </a:prstGeom>
          <a:solidFill>
            <a:srgbClr val="C4532A"/>
          </a:solidFill>
          <a:ln>
            <a:noFill/>
          </a:ln>
        </p:spPr>
      </p:sp>
      <p:sp>
        <p:nvSpPr>
          <p:cNvPr id="8" name="goal"/>
          <p:cNvSpPr txBox="1"/>
          <p:nvPr/>
        </p:nvSpPr>
        <p:spPr>
          <a:xfrm>
            <a:off x="1066800" y="5816600"/>
            <a:ext cx="10312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3272E"/>
                </a:solidFill>
                <a:latin typeface="MiSans"/>
                <a:ea typeface="MiSans"/>
              </a:rPr>
              <a:t>设计目标：</a:t>
            </a: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不是让模型拥有尽可能多的自由，而是给它一个足够丰富、反馈真实、状态可恢复、边界不可绕过、结果可验证的工作世界。</a:t>
            </a:r>
            <a:endParaRPr lang="en-US" sz="1300" noProof="1"/>
          </a:p>
        </p:txBody>
      </p:sp>
      <p:sp>
        <p:nvSpPr>
          <p:cNvPr id="9" name="footer-label"/>
          <p:cNvSpPr txBox="1"/>
          <p:nvPr/>
        </p:nvSpPr>
        <p:spPr>
          <a:xfrm>
            <a:off x="8128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第十二部分 · 课程总结</a:t>
            </a:r>
            <a:endParaRPr lang="en-US" sz="900" noProof="1"/>
          </a:p>
        </p:txBody>
      </p:sp>
      <p:sp>
        <p:nvSpPr>
          <p:cNvPr id="10" name="page-num"/>
          <p:cNvSpPr txBox="1"/>
          <p:nvPr/>
        </p:nvSpPr>
        <p:spPr>
          <a:xfrm>
            <a:off x="10795000" y="65786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E7480"/>
                </a:solidFill>
                <a:latin typeface="MiSans"/>
                <a:ea typeface="MiSans"/>
              </a:rPr>
              <a:t>35 / 36</a:t>
            </a:r>
            <a:endParaRPr lang="en-US" sz="900" noProof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45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2032000"/>
            <a:ext cx="711200" cy="63500"/>
          </a:xfrm>
          <a:prstGeom prst="rect">
            <a:avLst/>
          </a:prstGeom>
          <a:solidFill>
            <a:srgbClr val="C4532A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812800" y="2413000"/>
            <a:ext cx="10566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FFFFFF"/>
                </a:solidFill>
                <a:latin typeface="MiSans"/>
                <a:ea typeface="MiSans"/>
              </a:rPr>
              <a:t>把确定性沉淀到环境，把验证做成闭环</a:t>
            </a:r>
            <a:endParaRPr lang="en-US" sz="3400" noProof="1"/>
          </a:p>
        </p:txBody>
      </p:sp>
      <p:sp>
        <p:nvSpPr>
          <p:cNvPr id="4" name="sub"/>
          <p:cNvSpPr txBox="1"/>
          <p:nvPr/>
        </p:nvSpPr>
        <p:spPr>
          <a:xfrm>
            <a:off x="812800" y="34036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500" noProof="1">
                <a:solidFill>
                  <a:srgbClr val="D8E4DE"/>
                </a:solidFill>
                <a:latin typeface="MiSans"/>
                <a:ea typeface="MiSans"/>
              </a:rPr>
              <a:t>课后行动：用附录 A 的项目检查表盘点你当前的 Agent 系统——</a:t>
            </a:r>
            <a:endParaRPr lang="en-US" sz="1500" noProof="1"/>
          </a:p>
          <a:p>
            <a:pPr>
              <a:lnSpc>
                <a:spcPct val="165000"/>
              </a:lnSpc>
            </a:pPr>
            <a:r>
              <a:rPr lang="en-US" sz="1500" noProof="1">
                <a:solidFill>
                  <a:srgbClr val="D8E4DE"/>
                </a:solidFill>
                <a:latin typeface="MiSans"/>
                <a:ea typeface="MiSans"/>
              </a:rPr>
              <a:t>Runtime、Context 与 Skill、Tool 与 API、Multi-Agent、Security、WebUI Agent 化，六个维度逐项过一遍。</a:t>
            </a:r>
            <a:endParaRPr lang="en-US" sz="1500" noProof="1"/>
          </a:p>
        </p:txBody>
      </p:sp>
      <p:sp>
        <p:nvSpPr>
          <p:cNvPr id="5" name="divider-line"/>
          <p:cNvSpPr/>
          <p:nvPr/>
        </p:nvSpPr>
        <p:spPr>
          <a:xfrm>
            <a:off x="812800" y="4826000"/>
            <a:ext cx="10566400" cy="12700"/>
          </a:xfrm>
          <a:prstGeom prst="rect">
            <a:avLst/>
          </a:prstGeom>
          <a:solidFill>
            <a:srgbClr val="3A6E64"/>
          </a:solidFill>
          <a:ln>
            <a:noFill/>
          </a:ln>
        </p:spPr>
      </p:sp>
      <p:sp>
        <p:nvSpPr>
          <p:cNvPr id="6" name="refs"/>
          <p:cNvSpPr txBox="1"/>
          <p:nvPr/>
        </p:nvSpPr>
        <p:spPr>
          <a:xfrm>
            <a:off x="812800" y="5080000"/>
            <a:ext cx="10566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A8C2B9"/>
                </a:solidFill>
                <a:latin typeface="MiSans"/>
                <a:ea typeface="MiSans"/>
              </a:rPr>
              <a:t>主要参考：OpenCode Docs · Agent Skills（agentskills.io）· MCP Specification · A2A Protocol · ReAct（arXiv:2210.03629）· GitHub Spec-driven development</a:t>
            </a:r>
            <a:endParaRPr lang="en-US" sz="1150" noProof="1"/>
          </a:p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A8C2B9"/>
                </a:solidFill>
                <a:latin typeface="MiSans"/>
                <a:ea typeface="MiSans"/>
              </a:rPr>
              <a:t>资料核对日期 2026-08-09；Agent 平台和协议变化很快，具体配置以部署版本的官方文档为准。</a:t>
            </a:r>
            <a:endParaRPr lang="en-US" sz="1150" noProof="1"/>
          </a:p>
        </p:txBody>
      </p:sp>
      <p:sp>
        <p:nvSpPr>
          <p:cNvPr id="7" name="thanks"/>
          <p:cNvSpPr txBox="1"/>
          <p:nvPr/>
        </p:nvSpPr>
        <p:spPr>
          <a:xfrm>
            <a:off x="812800" y="6096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谢谢，欢迎讨论。</a:t>
            </a:r>
            <a:endParaRPr lang="en-US" sz="14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Company>Moonshot</Company>
  <Slides>36</Slides>
</Properties>
</file>

<file path=docProps/core.xml><?xml version="1.0" encoding="utf-8"?>
<cp:coreProperties xmlns:dc="http://purl.org/dc/elements/1.1/" xmlns:cp="http://schemas.openxmlformats.org/package/2006/metadata/core-properties">
  <dc:title>Agent 平台架构、Skill 与 Vibe Coding</dc:title>
  <dc:subject>Agent 平台架构、Skill 与 Vibe Coding</dc:subject>
  <dc:creator>Kimi</dc:creator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>{"Label":"Agent 平台架构、Skill 与 Vibe Coding","ContentProducer":"001191110108MACG2KBH8F10000","ProduceID":"agent-teaching","ReservedCode1":"","ContentPropagator":"001191110108MACG2KBH8F20000","PropagateID":"agent:main:main:conversation:c7f4d946-830b-48c3-af27-85e2c10895a8","ReservedCode2":""}</vt:lpwstr>
  </property>
</Properties>
</file>