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  <p:embeddedFontLst>
    <p:embeddedFont>
      <p:font typeface="MiSans" charset="-122" pitchFamily="34"/>
      <p:regular r:id="rId18"/>
    </p:embeddedFont>
    <p:embeddedFont>
      <p:font typeface="JetBrains Mono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863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技术分享 · CODING AGENT 应用模式</a:t>
            </a:r>
            <a:endParaRPr lang="en-US" sz="1100" noProof="1"/>
          </a:p>
        </p:txBody>
      </p:sp>
      <p:sp>
        <p:nvSpPr>
          <p:cNvPr id="3" name="rule"/>
          <p:cNvSpPr/>
          <p:nvPr/>
        </p:nvSpPr>
        <p:spPr>
          <a:xfrm>
            <a:off x="762000" y="1905000"/>
            <a:ext cx="533400" cy="508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4" name="main-title"/>
          <p:cNvSpPr txBox="1"/>
          <p:nvPr/>
        </p:nvSpPr>
        <p:spPr>
          <a:xfrm>
            <a:off x="762000" y="2260600"/>
            <a:ext cx="10668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3600" noProof="1" b="1">
                <a:solidFill>
                  <a:srgbClr val="26282E"/>
                </a:solidFill>
                <a:latin typeface="MiSans"/>
                <a:ea typeface="MiSans"/>
              </a:rPr>
              <a:t>从“接需求写应用”，</a:t>
            </a:r>
            <a:endParaRPr lang="en-US" sz="3600" noProof="1"/>
          </a:p>
          <a:p>
            <a:pPr algn="l">
              <a:lnSpc>
                <a:spcPct val="145000"/>
              </a:lnSpc>
            </a:pPr>
            <a:r>
              <a:rPr lang="en-US" sz="3600" noProof="1" b="1">
                <a:solidFill>
                  <a:srgbClr val="26282E"/>
                </a:solidFill>
                <a:latin typeface="MiSans"/>
                <a:ea typeface="MiSans"/>
              </a:rPr>
              <a:t>到“封装能力，让</a:t>
            </a:r>
            <a:r>
              <a:rPr lang="en-US" sz="3600" noProof="1" b="1">
                <a:solidFill>
                  <a:srgbClr val="C2591C"/>
                </a:solidFill>
                <a:latin typeface="MiSans"/>
                <a:ea typeface="MiSans"/>
              </a:rPr>
              <a:t>用户自助组合</a:t>
            </a:r>
            <a:r>
              <a:rPr lang="en-US" sz="3600" noProof="1" b="1">
                <a:solidFill>
                  <a:srgbClr val="26282E"/>
                </a:solidFill>
                <a:latin typeface="MiSans"/>
                <a:ea typeface="MiSans"/>
              </a:rPr>
              <a:t>”</a:t>
            </a:r>
            <a:endParaRPr lang="en-US" sz="3600" noProof="1"/>
          </a:p>
        </p:txBody>
      </p:sp>
      <p:sp>
        <p:nvSpPr>
          <p:cNvPr id="5" name="subtitle"/>
          <p:cNvSpPr txBox="1"/>
          <p:nvPr/>
        </p:nvSpPr>
        <p:spPr>
          <a:xfrm>
            <a:off x="762000" y="40386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8A8578"/>
                </a:solidFill>
                <a:latin typeface="MiSans"/>
                <a:ea typeface="MiSans"/>
              </a:rPr>
              <a:t>我对 Coding Agent 应用模式、Skill 与 Workspace 的理解</a:t>
            </a:r>
            <a:endParaRPr lang="en-US" sz="1500" noProof="1"/>
          </a:p>
        </p:txBody>
      </p:sp>
      <p:sp>
        <p:nvSpPr>
          <p:cNvPr id="6" name="meta"/>
          <p:cNvSpPr txBox="1"/>
          <p:nvPr/>
        </p:nvSpPr>
        <p:spPr>
          <a:xfrm>
            <a:off x="762000" y="5969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8A8578"/>
                </a:solidFill>
                <a:latin typeface="MiSans"/>
                <a:ea typeface="MiSans"/>
              </a:rPr>
              <a:t>分享初稿 · 约 15–20 分钟</a:t>
            </a:r>
            <a:endParaRPr lang="en-US" sz="1000" noProof="1"/>
          </a:p>
        </p:txBody>
      </p:sp>
      <p:sp>
        <p:nvSpPr>
          <p:cNvPr id="7" name="motif-line"/>
          <p:cNvSpPr/>
          <p:nvPr/>
        </p:nvSpPr>
        <p:spPr>
          <a:xfrm>
            <a:off x="8382000" y="5537200"/>
            <a:ext cx="2286000" cy="1905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8" name="motif-dot1"/>
          <p:cNvSpPr/>
          <p:nvPr/>
        </p:nvSpPr>
        <p:spPr>
          <a:xfrm>
            <a:off x="8331200" y="5486400"/>
            <a:ext cx="114300" cy="1143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9" name="motif-dot2"/>
          <p:cNvSpPr/>
          <p:nvPr/>
        </p:nvSpPr>
        <p:spPr>
          <a:xfrm>
            <a:off x="9474200" y="5486400"/>
            <a:ext cx="114300" cy="114300"/>
          </a:xfrm>
          <a:prstGeom prst="rect">
            <a:avLst/>
          </a:prstGeom>
          <a:solidFill>
            <a:srgbClr val="26282E"/>
          </a:solidFill>
          <a:ln>
            <a:noFill/>
          </a:ln>
        </p:spPr>
      </p:sp>
      <p:sp>
        <p:nvSpPr>
          <p:cNvPr id="10" name="motif-dot3"/>
          <p:cNvSpPr/>
          <p:nvPr/>
        </p:nvSpPr>
        <p:spPr>
          <a:xfrm>
            <a:off x="10617200" y="5486400"/>
            <a:ext cx="114300" cy="114300"/>
          </a:xfrm>
          <a:prstGeom prst="rect">
            <a:avLst/>
          </a:prstGeom>
          <a:solidFill>
            <a:srgbClr val="5F7A61"/>
          </a:solidFill>
          <a:ln>
            <a:noFill/>
          </a:ln>
        </p:spPr>
      </p:sp>
      <p:sp>
        <p:nvSpPr>
          <p:cNvPr id="11" name="motif-lb1"/>
          <p:cNvSpPr txBox="1"/>
          <p:nvPr/>
        </p:nvSpPr>
        <p:spPr>
          <a:xfrm>
            <a:off x="8128000" y="5715000"/>
            <a:ext cx="533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能力内核</a:t>
            </a:r>
            <a:endParaRPr lang="en-US" sz="900" noProof="1"/>
          </a:p>
        </p:txBody>
      </p:sp>
      <p:sp>
        <p:nvSpPr>
          <p:cNvPr id="12" name="motif-lb2"/>
          <p:cNvSpPr txBox="1"/>
          <p:nvPr/>
        </p:nvSpPr>
        <p:spPr>
          <a:xfrm>
            <a:off x="9296400" y="5715000"/>
            <a:ext cx="482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Web UI</a:t>
            </a:r>
            <a:endParaRPr lang="en-US" sz="900" noProof="1"/>
          </a:p>
        </p:txBody>
      </p:sp>
      <p:sp>
        <p:nvSpPr>
          <p:cNvPr id="13" name="motif-lb3"/>
          <p:cNvSpPr txBox="1"/>
          <p:nvPr/>
        </p:nvSpPr>
        <p:spPr>
          <a:xfrm>
            <a:off x="10464800" y="5715000"/>
            <a:ext cx="431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对话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01 · 痛点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传统交付往往是一次性工程：代码留下了，工程资产没有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left-head"/>
          <p:cNvSpPr txBox="1"/>
          <p:nvPr/>
        </p:nvSpPr>
        <p:spPr>
          <a:xfrm>
            <a:off x="762000" y="1473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传统开发流程</a:t>
            </a:r>
            <a:endParaRPr lang="en-US" sz="1300" noProof="1"/>
          </a:p>
        </p:txBody>
      </p:sp>
      <p:sp>
        <p:nvSpPr>
          <p:cNvPr id="6" name="left-line"/>
          <p:cNvSpPr/>
          <p:nvPr/>
        </p:nvSpPr>
        <p:spPr>
          <a:xfrm>
            <a:off x="825500" y="1879600"/>
            <a:ext cx="19050" cy="33274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7" name="step1"/>
          <p:cNvSpPr txBox="1"/>
          <p:nvPr/>
        </p:nvSpPr>
        <p:spPr>
          <a:xfrm>
            <a:off x="1092200" y="18034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01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接到需求</a:t>
            </a:r>
            <a:endParaRPr lang="en-US" sz="1600" noProof="1"/>
          </a:p>
        </p:txBody>
      </p:sp>
      <p:sp>
        <p:nvSpPr>
          <p:cNvPr id="8" name="step2"/>
          <p:cNvSpPr txBox="1"/>
          <p:nvPr/>
        </p:nvSpPr>
        <p:spPr>
          <a:xfrm>
            <a:off x="1092200" y="24638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02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找数据库、接口、文档和工具</a:t>
            </a:r>
            <a:endParaRPr lang="en-US" sz="1600" noProof="1"/>
          </a:p>
        </p:txBody>
      </p:sp>
      <p:sp>
        <p:nvSpPr>
          <p:cNvPr id="9" name="step3"/>
          <p:cNvSpPr txBox="1"/>
          <p:nvPr/>
        </p:nvSpPr>
        <p:spPr>
          <a:xfrm>
            <a:off x="1092200" y="31242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03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写代码、做页面、跑通测试</a:t>
            </a:r>
            <a:endParaRPr lang="en-US" sz="1600" noProof="1"/>
          </a:p>
        </p:txBody>
      </p:sp>
      <p:sp>
        <p:nvSpPr>
          <p:cNvPr id="10" name="step4"/>
          <p:cNvSpPr txBox="1"/>
          <p:nvPr/>
        </p:nvSpPr>
        <p:spPr>
          <a:xfrm>
            <a:off x="1092200" y="37846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04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交给用户验收</a:t>
            </a:r>
            <a:endParaRPr lang="en-US" sz="1600" noProof="1"/>
          </a:p>
        </p:txBody>
      </p:sp>
      <p:sp>
        <p:nvSpPr>
          <p:cNvPr id="11" name="step5"/>
          <p:cNvSpPr txBox="1"/>
          <p:nvPr/>
        </p:nvSpPr>
        <p:spPr>
          <a:xfrm>
            <a:off x="1092200" y="44450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05</a:t>
            </a:r>
            <a:r>
              <a:rPr lang="en-US" sz="1300" noProof="1">
                <a:solidFill>
                  <a:srgbClr val="333333"/>
                </a:solidFill>
                <a:latin typeface="MiSans"/>
                <a:ea typeface="MiSans"/>
              </a:rPr>
              <a:t>新需求或问题出现，再重新理解当初的代码和背景</a:t>
            </a:r>
            <a:endParaRPr lang="en-US" sz="1600" noProof="1"/>
          </a:p>
        </p:txBody>
      </p:sp>
      <p:sp>
        <p:nvSpPr>
          <p:cNvPr id="12" name="divider"/>
          <p:cNvSpPr/>
          <p:nvPr/>
        </p:nvSpPr>
        <p:spPr>
          <a:xfrm>
            <a:off x="6070600" y="1473200"/>
            <a:ext cx="12700" cy="37338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right-head"/>
          <p:cNvSpPr txBox="1"/>
          <p:nvPr/>
        </p:nvSpPr>
        <p:spPr>
          <a:xfrm>
            <a:off x="6477000" y="14732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交付之后，真正容易丢失的</a:t>
            </a:r>
            <a:endParaRPr lang="en-US" sz="1300" noProof="1"/>
          </a:p>
        </p:txBody>
      </p:sp>
      <p:sp>
        <p:nvSpPr>
          <p:cNvPr id="14" name="lost1"/>
          <p:cNvSpPr txBox="1"/>
          <p:nvPr/>
        </p:nvSpPr>
        <p:spPr>
          <a:xfrm>
            <a:off x="6477000" y="1803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282E"/>
                </a:solidFill>
                <a:latin typeface="MiSans"/>
                <a:ea typeface="MiSans"/>
              </a:rPr>
              <a:t>— 当时为什么这样设计</a:t>
            </a:r>
            <a:endParaRPr lang="en-US" sz="1300" noProof="1"/>
          </a:p>
        </p:txBody>
      </p:sp>
      <p:sp>
        <p:nvSpPr>
          <p:cNvPr id="15" name="lost2"/>
          <p:cNvSpPr txBox="1"/>
          <p:nvPr/>
        </p:nvSpPr>
        <p:spPr>
          <a:xfrm>
            <a:off x="6477000" y="2463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282E"/>
                </a:solidFill>
                <a:latin typeface="MiSans"/>
                <a:ea typeface="MiSans"/>
              </a:rPr>
              <a:t>— 底层用了哪些数据和工具</a:t>
            </a:r>
            <a:endParaRPr lang="en-US" sz="1300" noProof="1"/>
          </a:p>
        </p:txBody>
      </p:sp>
      <p:sp>
        <p:nvSpPr>
          <p:cNvPr id="16" name="lost3"/>
          <p:cNvSpPr txBox="1"/>
          <p:nvPr/>
        </p:nvSpPr>
        <p:spPr>
          <a:xfrm>
            <a:off x="6477000" y="31242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282E"/>
                </a:solidFill>
                <a:latin typeface="MiSans"/>
                <a:ea typeface="MiSans"/>
              </a:rPr>
              <a:t>— 每个模块的能力边界是什么</a:t>
            </a:r>
            <a:endParaRPr lang="en-US" sz="1300" noProof="1"/>
          </a:p>
        </p:txBody>
      </p:sp>
      <p:sp>
        <p:nvSpPr>
          <p:cNvPr id="17" name="lost4"/>
          <p:cNvSpPr txBox="1"/>
          <p:nvPr/>
        </p:nvSpPr>
        <p:spPr>
          <a:xfrm>
            <a:off x="6477000" y="3784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282E"/>
                </a:solidFill>
                <a:latin typeface="MiSans"/>
                <a:ea typeface="MiSans"/>
              </a:rPr>
              <a:t>— 哪些规则是确定的，哪些是临时判断</a:t>
            </a:r>
            <a:endParaRPr lang="en-US" sz="1300" noProof="1"/>
          </a:p>
        </p:txBody>
      </p:sp>
      <p:sp>
        <p:nvSpPr>
          <p:cNvPr id="18" name="lost5"/>
          <p:cNvSpPr txBox="1"/>
          <p:nvPr/>
        </p:nvSpPr>
        <p:spPr>
          <a:xfrm>
            <a:off x="6477000" y="44450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6282E"/>
                </a:solidFill>
                <a:latin typeface="MiSans"/>
                <a:ea typeface="MiSans"/>
              </a:rPr>
              <a:t>— 系统应该怎样测试和验收</a:t>
            </a:r>
            <a:endParaRPr lang="en-US" sz="1300" noProof="1"/>
          </a:p>
        </p:txBody>
      </p:sp>
      <p:sp>
        <p:nvSpPr>
          <p:cNvPr id="19" name="bottom-rule"/>
          <p:cNvSpPr/>
          <p:nvPr/>
        </p:nvSpPr>
        <p:spPr>
          <a:xfrm>
            <a:off x="762000" y="56896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0" name="conclusion"/>
          <p:cNvSpPr txBox="1"/>
          <p:nvPr/>
        </p:nvSpPr>
        <p:spPr>
          <a:xfrm>
            <a:off x="762000" y="5842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二开困难不只是“忘了代码”——需求、能力、规则和验收方式，都没有成为</a:t>
            </a:r>
            <a:r>
              <a:rPr lang="en-US" sz="1400" noProof="1" b="1">
                <a:solidFill>
                  <a:srgbClr val="C2591C"/>
                </a:solidFill>
                <a:latin typeface="MiSans"/>
                <a:ea typeface="MiSans"/>
              </a:rPr>
              <a:t>可持续复用的工程资产</a:t>
            </a: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。</a:t>
            </a:r>
            <a:endParaRPr lang="en-US" sz="1400" noProof="1"/>
          </a:p>
        </p:txBody>
      </p:sp>
      <p:sp>
        <p:nvSpPr>
          <p:cNvPr id="21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2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01 · 痛点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两种交付模式的差异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graphicFrame>
        <p:nvGraphicFramePr>
          <p:cNvPr id="5" name="compare-table"/>
          <p:cNvGraphicFramePr>
            <a:graphicFrameLocks noGrp="1"/>
          </p:cNvGraphicFramePr>
          <p:nvPr/>
        </p:nvGraphicFramePr>
        <p:xfrm>
          <a:off x="762000" y="1574800"/>
          <a:ext cx="10668000" cy="4267200"/>
        </p:xfrm>
        <a:graphic>
          <a:graphicData uri="http://schemas.openxmlformats.org/drawingml/2006/table">
            <a:tbl>
              <a:tblPr/>
              <a:tblGrid>
                <a:gridCol w="1813560"/>
                <a:gridCol w="4320540"/>
                <a:gridCol w="4533900"/>
              </a:tblGrid>
              <a:tr h="64008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传统应用交付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能力化、Agent 化交付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主要交付物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页面和代码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能力内核、使用入口、说明与验证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用户能做什么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使用预设功能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使用预设功能，也能组合已有能力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需求变化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重新找开发者改页面、改流程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先通过对话组合；高频组合再固化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问题定位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从整个应用重新排查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按能力模块、调用记录和验证结果定位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知识留存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依赖开发者记忆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留在 Skill、Workspace、测试和运行记录中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762000" y="604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AI 辅助编程会放大这个问题：代码生成得更快，但如果代码仍是一整块，开发者反而更难建立对系统的整体掌控。</a:t>
            </a:r>
            <a:endParaRPr lang="en-US" sz="11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8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3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02 · 方案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一套能力内核，两个使用入口，一套持续工作环境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caption"/>
          <p:cNvSpPr txBox="1"/>
          <p:nvPr/>
        </p:nvSpPr>
        <p:spPr>
          <a:xfrm>
            <a:off x="762000" y="13462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Web UI 和 Agent 调用同一套 API、脚本和业务规则，不维护两套业务逻辑。</a:t>
            </a:r>
            <a:endParaRPr lang="en-US" sz="1100" noProof="1"/>
          </a:p>
        </p:txBody>
      </p:sp>
      <p:sp>
        <p:nvSpPr>
          <p:cNvPr id="6" name="node-src"/>
          <p:cNvSpPr/>
          <p:nvPr/>
        </p:nvSpPr>
        <p:spPr>
          <a:xfrm>
            <a:off x="762000" y="2603500"/>
            <a:ext cx="2133600" cy="1143000"/>
          </a:xfrm>
          <a:prstGeom prst="rect">
            <a:avLst/>
          </a:prstGeom>
          <a:solidFill>
            <a:srgbClr val="F3F0E8"/>
          </a:solidFill>
          <a:ln w="12700">
            <a:solidFill>
              <a:srgbClr val="DDD8CC"/>
            </a:solidFill>
          </a:ln>
        </p:spPr>
      </p:sp>
      <p:sp>
        <p:nvSpPr>
          <p:cNvPr id="7" name="node-src-text"/>
          <p:cNvSpPr txBox="1"/>
          <p:nvPr/>
        </p:nvSpPr>
        <p:spPr>
          <a:xfrm>
            <a:off x="914400" y="2730500"/>
            <a:ext cx="1828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40000"/>
              </a:lnSpc>
            </a:pPr>
            <a:r>
              <a:rPr lang="en-US" sz="1200" noProof="1">
                <a:solidFill>
                  <a:srgbClr val="26282E"/>
                </a:solidFill>
                <a:latin typeface="MiSans"/>
                <a:ea typeface="MiSans"/>
              </a:rPr>
              <a:t>数据、业务系统</a:t>
            </a:r>
            <a:r>
              <a:rPr lang="en-US" sz="1200" noProof="1">
                <a:solidFill>
                  <a:srgbClr val="26282E"/>
                </a:solidFill>
                <a:latin typeface="MiSans"/>
                <a:ea typeface="MiSans"/>
              </a:rPr>
              <a:t>与原始资料</a:t>
            </a:r>
            <a:endParaRPr lang="en-US" sz="1200" noProof="1"/>
          </a:p>
        </p:txBody>
      </p:sp>
      <p:sp>
        <p:nvSpPr>
          <p:cNvPr id="8" name="arrow-src-core"/>
          <p:cNvSpPr/>
          <p:nvPr>
            <p:extLst>
              <p:ext uri="{F5677B7D-0D2A-4D9B-9A5C-6D8D7D0E5A5D}">
                <pptd:line encoding="base64url">eyJ2aWV3Qm94IjpbNjIsNF0sInBvaW50cyI6IjAsMiA2MiwyIiwiY3VydmUiOiJzaGFycCJ9</pptd:line>
              </p:ext>
            </p:extLst>
          </p:nvPr>
        </p:nvSpPr>
        <p:spPr>
          <a:xfrm>
            <a:off x="2946400" y="31496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62" h="4">
                <a:moveTo>
                  <a:pt x="0" y="2"/>
                </a:moveTo>
                <a:lnTo>
                  <a:pt x="62" y="2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9" name="node-core"/>
          <p:cNvSpPr/>
          <p:nvPr/>
        </p:nvSpPr>
        <p:spPr>
          <a:xfrm>
            <a:off x="3810000" y="2413000"/>
            <a:ext cx="28956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2591C"/>
            </a:solidFill>
          </a:ln>
        </p:spPr>
      </p:sp>
      <p:sp>
        <p:nvSpPr>
          <p:cNvPr id="10" name="node-core-title"/>
          <p:cNvSpPr txBox="1"/>
          <p:nvPr/>
        </p:nvSpPr>
        <p:spPr>
          <a:xfrm>
            <a:off x="3810000" y="26416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C2591C"/>
                </a:solidFill>
                <a:latin typeface="MiSans"/>
                <a:ea typeface="MiSans"/>
              </a:rPr>
              <a:t>统一能力内核</a:t>
            </a:r>
            <a:endParaRPr lang="en-US" sz="1500" noProof="1"/>
          </a:p>
        </p:txBody>
      </p:sp>
      <p:sp>
        <p:nvSpPr>
          <p:cNvPr id="11" name="node-core-sub"/>
          <p:cNvSpPr txBox="1"/>
          <p:nvPr/>
        </p:nvSpPr>
        <p:spPr>
          <a:xfrm>
            <a:off x="3810000" y="3048000"/>
            <a:ext cx="289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API · 脚本 · 规则 · 知识</a:t>
            </a:r>
            <a:endParaRPr lang="en-US" sz="11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输入输出清晰 · 权限明确</a:t>
            </a:r>
            <a:endParaRPr lang="en-US" sz="1100" noProof="1"/>
          </a:p>
        </p:txBody>
      </p:sp>
      <p:sp>
        <p:nvSpPr>
          <p:cNvPr id="12" name="arrow-core-web"/>
          <p:cNvSpPr/>
          <p:nvPr>
            <p:extLst>
              <p:ext uri="{F5677B7D-0D2A-4D9B-9A5C-6D8D7D0E5A5D}">
                <pptd:line encoding="base64url">eyJ2aWV3Qm94IjpbODYsNDRdLCJwb2ludHMiOiIwLDQ0IDg2LDAiLCJjdXJ2ZSI6InNoYXJwIn0</pptd:line>
              </p:ext>
            </p:extLst>
          </p:nvPr>
        </p:nvSpPr>
        <p:spPr>
          <a:xfrm>
            <a:off x="6731000" y="2286000"/>
            <a:ext cx="1092200" cy="558800"/>
          </a:xfrm>
          <a:custGeom>
            <a:avLst/>
            <a:gdLst/>
            <a:ahLst/>
            <a:cxnLst/>
            <a:rect l="l" t="t" r="r" b="b"/>
            <a:pathLst>
              <a:path w="86" h="44">
                <a:moveTo>
                  <a:pt x="0" y="44"/>
                </a:moveTo>
                <a:lnTo>
                  <a:pt x="86" y="0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13" name="arrow-core-agent"/>
          <p:cNvSpPr/>
          <p:nvPr>
            <p:extLst>
              <p:ext uri="{F5677B7D-0D2A-4D9B-9A5C-6D8D7D0E5A5D}">
                <pptd:line encoding="base64url">eyJ2aWV3Qm94IjpbODYsMTRdLCJwb2ludHMiOiIwLDAgODYsMTQiLCJjdXJ2ZSI6InNoYXJwIn0</pptd:line>
              </p:ext>
            </p:extLst>
          </p:nvPr>
        </p:nvSpPr>
        <p:spPr>
          <a:xfrm>
            <a:off x="6731000" y="3530600"/>
            <a:ext cx="1092200" cy="177800"/>
          </a:xfrm>
          <a:custGeom>
            <a:avLst/>
            <a:gdLst/>
            <a:ahLst/>
            <a:cxnLst/>
            <a:rect l="l" t="t" r="r" b="b"/>
            <a:pathLst>
              <a:path w="86" h="14">
                <a:moveTo>
                  <a:pt x="0" y="0"/>
                </a:moveTo>
                <a:lnTo>
                  <a:pt x="86" y="14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14" name="node-web"/>
          <p:cNvSpPr/>
          <p:nvPr/>
        </p:nvSpPr>
        <p:spPr>
          <a:xfrm>
            <a:off x="7874000" y="1828800"/>
            <a:ext cx="355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82E"/>
            </a:solidFill>
          </a:ln>
        </p:spPr>
      </p:sp>
      <p:sp>
        <p:nvSpPr>
          <p:cNvPr id="15" name="node-web-title"/>
          <p:cNvSpPr txBox="1"/>
          <p:nvPr/>
        </p:nvSpPr>
        <p:spPr>
          <a:xfrm>
            <a:off x="8077200" y="1955800"/>
            <a:ext cx="314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Web UI</a:t>
            </a:r>
            <a:endParaRPr lang="en-US" sz="1300" noProof="1"/>
          </a:p>
        </p:txBody>
      </p:sp>
      <p:sp>
        <p:nvSpPr>
          <p:cNvPr id="16" name="node-web-sub"/>
          <p:cNvSpPr txBox="1"/>
          <p:nvPr/>
        </p:nvSpPr>
        <p:spPr>
          <a:xfrm>
            <a:off x="8077200" y="2235200"/>
            <a:ext cx="314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8A8578"/>
                </a:solidFill>
                <a:latin typeface="MiSans"/>
                <a:ea typeface="MiSans"/>
              </a:rPr>
              <a:t>高频 · 固定 · 字段明确 · 风险较高的任务</a:t>
            </a:r>
            <a:endParaRPr lang="en-US" sz="1050" noProof="1"/>
          </a:p>
        </p:txBody>
      </p:sp>
      <p:sp>
        <p:nvSpPr>
          <p:cNvPr id="17" name="node-agent"/>
          <p:cNvSpPr/>
          <p:nvPr/>
        </p:nvSpPr>
        <p:spPr>
          <a:xfrm>
            <a:off x="7874000" y="3200400"/>
            <a:ext cx="355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282E"/>
            </a:solidFill>
          </a:ln>
        </p:spPr>
      </p:sp>
      <p:sp>
        <p:nvSpPr>
          <p:cNvPr id="18" name="node-agent-title"/>
          <p:cNvSpPr txBox="1"/>
          <p:nvPr/>
        </p:nvSpPr>
        <p:spPr>
          <a:xfrm>
            <a:off x="8077200" y="3327400"/>
            <a:ext cx="314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对话式 Agent</a:t>
            </a:r>
            <a:endParaRPr lang="en-US" sz="1300" noProof="1"/>
          </a:p>
        </p:txBody>
      </p:sp>
      <p:sp>
        <p:nvSpPr>
          <p:cNvPr id="19" name="node-agent-sub"/>
          <p:cNvSpPr txBox="1"/>
          <p:nvPr/>
        </p:nvSpPr>
        <p:spPr>
          <a:xfrm>
            <a:off x="8077200" y="3606800"/>
            <a:ext cx="314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050" noProof="1">
                <a:solidFill>
                  <a:srgbClr val="8A8578"/>
                </a:solidFill>
                <a:latin typeface="MiSans"/>
                <a:ea typeface="MiSans"/>
              </a:rPr>
              <a:t>探索分析 · 跨能力组合 · 低频变化 · 临时二开</a:t>
            </a:r>
            <a:endParaRPr lang="en-US" sz="1050" noProof="1"/>
          </a:p>
        </p:txBody>
      </p:sp>
      <p:sp>
        <p:nvSpPr>
          <p:cNvPr id="20" name="node-sw"/>
          <p:cNvSpPr/>
          <p:nvPr/>
        </p:nvSpPr>
        <p:spPr>
          <a:xfrm>
            <a:off x="3810000" y="4470400"/>
            <a:ext cx="2895600" cy="685800"/>
          </a:xfrm>
          <a:prstGeom prst="rect">
            <a:avLst/>
          </a:prstGeom>
          <a:solidFill>
            <a:srgbClr val="EFF2EC"/>
          </a:solidFill>
          <a:ln w="12700">
            <a:solidFill>
              <a:srgbClr val="5F7A61"/>
            </a:solidFill>
          </a:ln>
        </p:spPr>
      </p:sp>
      <p:sp>
        <p:nvSpPr>
          <p:cNvPr id="21" name="node-sw-title"/>
          <p:cNvSpPr txBox="1"/>
          <p:nvPr/>
        </p:nvSpPr>
        <p:spPr>
          <a:xfrm>
            <a:off x="3810000" y="4559300"/>
            <a:ext cx="2895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5F7A61"/>
                </a:solidFill>
                <a:latin typeface="MiSans"/>
                <a:ea typeface="MiSans"/>
              </a:rPr>
              <a:t>Skill / Workspace</a:t>
            </a:r>
            <a:endParaRPr lang="en-US" sz="1200" noProof="1"/>
          </a:p>
        </p:txBody>
      </p:sp>
      <p:sp>
        <p:nvSpPr>
          <p:cNvPr id="22" name="node-sw-sub"/>
          <p:cNvSpPr txBox="1"/>
          <p:nvPr/>
        </p:nvSpPr>
        <p:spPr>
          <a:xfrm>
            <a:off x="3810000" y="4813300"/>
            <a:ext cx="2895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8A8578"/>
                </a:solidFill>
                <a:latin typeface="MiSans"/>
                <a:ea typeface="MiSans"/>
              </a:rPr>
              <a:t>说明 · 路由 · 验证 · 记录</a:t>
            </a:r>
            <a:endParaRPr lang="en-US" sz="1000" noProof="1"/>
          </a:p>
        </p:txBody>
      </p:sp>
      <p:sp>
        <p:nvSpPr>
          <p:cNvPr id="23" name="arrow-sw-agent"/>
          <p:cNvSpPr/>
          <p:nvPr>
            <p:extLst>
              <p:ext uri="{F5677B7D-0D2A-4D9B-9A5C-6D8D7D0E5A5D}">
                <pptd:line encoding="base64url">eyJ2aWV3Qm94IjpbMjMyLDU3XSwicG9pbnRzIjoiMCw1NyAyMzIsNTcgMjMyLDAiLCJjdXJ2ZSI6InNoYXJwIn0</pptd:line>
              </p:ext>
            </p:extLst>
          </p:nvPr>
        </p:nvSpPr>
        <p:spPr>
          <a:xfrm>
            <a:off x="6705600" y="4089400"/>
            <a:ext cx="2946400" cy="723900"/>
          </a:xfrm>
          <a:custGeom>
            <a:avLst/>
            <a:gdLst/>
            <a:ahLst/>
            <a:cxnLst/>
            <a:rect l="l" t="t" r="r" b="b"/>
            <a:pathLst>
              <a:path w="232" h="57">
                <a:moveTo>
                  <a:pt x="0" y="57"/>
                </a:moveTo>
                <a:lnTo>
                  <a:pt x="232" y="57"/>
                </a:lnTo>
                <a:lnTo>
                  <a:pt x="232" y="0"/>
                </a:lnTo>
              </a:path>
            </a:pathLst>
          </a:custGeom>
          <a:noFill/>
          <a:ln w="15240">
            <a:solidFill>
              <a:srgbClr val="5F7A61"/>
            </a:solidFill>
            <a:prstDash val="dash"/>
            <a:tailEnd type="stealth"/>
          </a:ln>
        </p:spPr>
      </p:sp>
      <p:sp>
        <p:nvSpPr>
          <p:cNvPr id="24" name="arrow-sw-label"/>
          <p:cNvSpPr txBox="1"/>
          <p:nvPr/>
        </p:nvSpPr>
        <p:spPr>
          <a:xfrm>
            <a:off x="8890000" y="44196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F7A61"/>
                </a:solidFill>
                <a:latin typeface="MiSans"/>
                <a:ea typeface="MiSans"/>
              </a:rPr>
              <a:t>教会它怎么做 / 记住做到哪</a:t>
            </a:r>
            <a:endParaRPr lang="en-US" sz="950" noProof="1"/>
          </a:p>
        </p:txBody>
      </p:sp>
      <p:sp>
        <p:nvSpPr>
          <p:cNvPr id="25" name="bottom-rule"/>
          <p:cNvSpPr/>
          <p:nvPr/>
        </p:nvSpPr>
        <p:spPr>
          <a:xfrm>
            <a:off x="762000" y="57404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26" name="bottom-note"/>
          <p:cNvSpPr txBox="1"/>
          <p:nvPr/>
        </p:nvSpPr>
        <p:spPr>
          <a:xfrm>
            <a:off x="762000" y="58928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“双入口”不是每个功能做两遍：先有统一能力内核，再按任务特点选择提供表单、对话，或两者同时提供。</a:t>
            </a:r>
            <a:endParaRPr lang="en-US" sz="1250" noProof="1"/>
          </a:p>
        </p:txBody>
      </p:sp>
      <p:sp>
        <p:nvSpPr>
          <p:cNvPr id="27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02 · 方案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开发流程：从“完成这一次需求”到“准备可复用的能力”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s1"/>
          <p:cNvSpPr txBox="1"/>
          <p:nvPr/>
        </p:nvSpPr>
        <p:spPr>
          <a:xfrm>
            <a:off x="762000" y="14986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1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确认任务和验收标准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用户要完成什么，结果怎样才算正确</a:t>
            </a:r>
            <a:endParaRPr lang="en-US" sz="1600" noProof="1"/>
          </a:p>
        </p:txBody>
      </p:sp>
      <p:sp>
        <p:nvSpPr>
          <p:cNvPr id="6" name="s2"/>
          <p:cNvSpPr txBox="1"/>
          <p:nvPr/>
        </p:nvSpPr>
        <p:spPr>
          <a:xfrm>
            <a:off x="762000" y="21082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2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盘点可用资源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数据库、现有 API、脚本、文档与知识来源</a:t>
            </a:r>
            <a:endParaRPr lang="en-US" sz="1600" noProof="1"/>
          </a:p>
        </p:txBody>
      </p:sp>
      <p:sp>
        <p:nvSpPr>
          <p:cNvPr id="7" name="s3"/>
          <p:cNvSpPr txBox="1"/>
          <p:nvPr/>
        </p:nvSpPr>
        <p:spPr>
          <a:xfrm>
            <a:off x="762000" y="27178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3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封装少量稳定能力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明确输入、输出和权限边界，不暴露内部实现</a:t>
            </a:r>
            <a:endParaRPr lang="en-US" sz="1600" noProof="1"/>
          </a:p>
        </p:txBody>
      </p:sp>
      <p:sp>
        <p:nvSpPr>
          <p:cNvPr id="8" name="s4"/>
          <p:cNvSpPr txBox="1"/>
          <p:nvPr/>
        </p:nvSpPr>
        <p:spPr>
          <a:xfrm>
            <a:off x="762000" y="33274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4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分离确定性与变化性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稳定逻辑进代码，理解与组合交给 Agent</a:t>
            </a:r>
            <a:endParaRPr lang="en-US" sz="1600" noProof="1"/>
          </a:p>
        </p:txBody>
      </p:sp>
      <p:sp>
        <p:nvSpPr>
          <p:cNvPr id="9" name="s5"/>
          <p:cNvSpPr txBox="1"/>
          <p:nvPr/>
        </p:nvSpPr>
        <p:spPr>
          <a:xfrm>
            <a:off x="762000" y="39370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5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两个入口复用同一能力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避免 Web 页面与对话结果不一致</a:t>
            </a:r>
            <a:endParaRPr lang="en-US" sz="1600" noProof="1"/>
          </a:p>
        </p:txBody>
      </p:sp>
      <p:sp>
        <p:nvSpPr>
          <p:cNvPr id="10" name="s6"/>
          <p:cNvSpPr txBox="1"/>
          <p:nvPr/>
        </p:nvSpPr>
        <p:spPr>
          <a:xfrm>
            <a:off x="762000" y="45466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6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交付 Skill 与可验证的 Workspace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能力说明、示例、测试方式与运行记录</a:t>
            </a:r>
            <a:endParaRPr lang="en-US" sz="1600" noProof="1"/>
          </a:p>
        </p:txBody>
      </p:sp>
      <p:sp>
        <p:nvSpPr>
          <p:cNvPr id="11" name="s7"/>
          <p:cNvSpPr txBox="1"/>
          <p:nvPr/>
        </p:nvSpPr>
        <p:spPr>
          <a:xfrm>
            <a:off x="762000" y="5156200"/>
            <a:ext cx="596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C2591C"/>
                </a:solidFill>
                <a:latin typeface="JetBrains Mono"/>
                <a:ea typeface="JetBrains Mono"/>
              </a:rPr>
              <a:t>7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从真实使用中继续固化</a:t>
            </a: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　高频稳定的组合沉淀为正式功能</a:t>
            </a:r>
            <a:endParaRPr lang="en-US" sz="1600" noProof="1"/>
          </a:p>
        </p:txBody>
      </p:sp>
      <p:sp>
        <p:nvSpPr>
          <p:cNvPr id="12" name="divider"/>
          <p:cNvSpPr/>
          <p:nvPr/>
        </p:nvSpPr>
        <p:spPr>
          <a:xfrm>
            <a:off x="7112000" y="1498600"/>
            <a:ext cx="12700" cy="42164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3" name="loop-head"/>
          <p:cNvSpPr txBox="1"/>
          <p:nvPr/>
        </p:nvSpPr>
        <p:spPr>
          <a:xfrm>
            <a:off x="7518400" y="1473200"/>
            <a:ext cx="391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朴素的循环</a:t>
            </a:r>
            <a:endParaRPr lang="en-US" sz="1300" noProof="1"/>
          </a:p>
        </p:txBody>
      </p:sp>
      <p:sp>
        <p:nvSpPr>
          <p:cNvPr id="14" name="loop-n1"/>
          <p:cNvSpPr/>
          <p:nvPr/>
        </p:nvSpPr>
        <p:spPr>
          <a:xfrm>
            <a:off x="7518400" y="1854200"/>
            <a:ext cx="342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2591C"/>
            </a:solidFill>
          </a:ln>
        </p:spPr>
      </p:sp>
      <p:sp>
        <p:nvSpPr>
          <p:cNvPr id="15" name="loop-n1t"/>
          <p:cNvSpPr txBox="1"/>
          <p:nvPr/>
        </p:nvSpPr>
        <p:spPr>
          <a:xfrm>
            <a:off x="7518400" y="18542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6282E"/>
                </a:solidFill>
                <a:latin typeface="MiSans"/>
                <a:ea typeface="MiSans"/>
              </a:rPr>
              <a:t>开发者封装能力</a:t>
            </a:r>
            <a:endParaRPr lang="en-US" sz="1250" noProof="1"/>
          </a:p>
        </p:txBody>
      </p:sp>
      <p:sp>
        <p:nvSpPr>
          <p:cNvPr id="16" name="loop-a1"/>
          <p:cNvSpPr/>
          <p:nvPr>
            <p:extLst>
              <p:ext uri="{F5677B7D-0D2A-4D9B-9A5C-6D8D7D0E5A5D}">
                <pptd:line encoding="base64url">eyJ2aWV3Qm94IjpbNCwyMl0sInBvaW50cyI6IjIsMCAyLDIyIiwiY3VydmUiOiJzaGFycCJ9</pptd:line>
              </p:ext>
            </p:extLst>
          </p:nvPr>
        </p:nvSpPr>
        <p:spPr>
          <a:xfrm>
            <a:off x="9207500" y="2362200"/>
            <a:ext cx="50800" cy="279400"/>
          </a:xfrm>
          <a:custGeom>
            <a:avLst/>
            <a:gdLst/>
            <a:ahLst/>
            <a:cxnLst/>
            <a:rect l="l" t="t" r="r" b="b"/>
            <a:pathLst>
              <a:path w="4" h="22">
                <a:moveTo>
                  <a:pt x="2" y="0"/>
                </a:moveTo>
                <a:lnTo>
                  <a:pt x="2" y="22"/>
                </a:lnTo>
              </a:path>
            </a:pathLst>
          </a:custGeom>
          <a:noFill/>
          <a:ln w="15240">
            <a:solidFill>
              <a:srgbClr val="8A8578"/>
            </a:solidFill>
            <a:tailEnd type="stealth"/>
          </a:ln>
        </p:spPr>
      </p:sp>
      <p:sp>
        <p:nvSpPr>
          <p:cNvPr id="17" name="loop-n2"/>
          <p:cNvSpPr/>
          <p:nvPr/>
        </p:nvSpPr>
        <p:spPr>
          <a:xfrm>
            <a:off x="7518400" y="2667000"/>
            <a:ext cx="342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18" name="loop-n2t"/>
          <p:cNvSpPr txBox="1"/>
          <p:nvPr/>
        </p:nvSpPr>
        <p:spPr>
          <a:xfrm>
            <a:off x="7518400" y="26670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用户自助组合</a:t>
            </a:r>
            <a:endParaRPr lang="en-US" sz="1250" noProof="1"/>
          </a:p>
        </p:txBody>
      </p:sp>
      <p:sp>
        <p:nvSpPr>
          <p:cNvPr id="19" name="loop-a2"/>
          <p:cNvSpPr/>
          <p:nvPr>
            <p:extLst>
              <p:ext uri="{F5677B7D-0D2A-4D9B-9A5C-6D8D7D0E5A5D}">
                <pptd:line encoding="base64url">eyJ2aWV3Qm94IjpbNCwyMl0sInBvaW50cyI6IjIsMCAyLDIyIiwiY3VydmUiOiJzaGFycCJ9</pptd:line>
              </p:ext>
            </p:extLst>
          </p:nvPr>
        </p:nvSpPr>
        <p:spPr>
          <a:xfrm>
            <a:off x="9207500" y="3175000"/>
            <a:ext cx="50800" cy="279400"/>
          </a:xfrm>
          <a:custGeom>
            <a:avLst/>
            <a:gdLst/>
            <a:ahLst/>
            <a:cxnLst/>
            <a:rect l="l" t="t" r="r" b="b"/>
            <a:pathLst>
              <a:path w="4" h="22">
                <a:moveTo>
                  <a:pt x="2" y="0"/>
                </a:moveTo>
                <a:lnTo>
                  <a:pt x="2" y="22"/>
                </a:lnTo>
              </a:path>
            </a:pathLst>
          </a:custGeom>
          <a:noFill/>
          <a:ln w="15240">
            <a:solidFill>
              <a:srgbClr val="8A8578"/>
            </a:solidFill>
            <a:tailEnd type="stealth"/>
          </a:ln>
        </p:spPr>
      </p:sp>
      <p:sp>
        <p:nvSpPr>
          <p:cNvPr id="20" name="loop-n3"/>
          <p:cNvSpPr/>
          <p:nvPr/>
        </p:nvSpPr>
        <p:spPr>
          <a:xfrm>
            <a:off x="7518400" y="3479800"/>
            <a:ext cx="342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21" name="loop-n3t"/>
          <p:cNvSpPr txBox="1"/>
          <p:nvPr/>
        </p:nvSpPr>
        <p:spPr>
          <a:xfrm>
            <a:off x="7518400" y="34798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发现高频模式</a:t>
            </a:r>
            <a:endParaRPr lang="en-US" sz="1250" noProof="1"/>
          </a:p>
        </p:txBody>
      </p:sp>
      <p:sp>
        <p:nvSpPr>
          <p:cNvPr id="22" name="loop-a3"/>
          <p:cNvSpPr/>
          <p:nvPr>
            <p:extLst>
              <p:ext uri="{F5677B7D-0D2A-4D9B-9A5C-6D8D7D0E5A5D}">
                <pptd:line encoding="base64url">eyJ2aWV3Qm94IjpbNCwyMl0sInBvaW50cyI6IjIsMCAyLDIyIiwiY3VydmUiOiJzaGFycCJ9</pptd:line>
              </p:ext>
            </p:extLst>
          </p:nvPr>
        </p:nvSpPr>
        <p:spPr>
          <a:xfrm>
            <a:off x="9207500" y="3987800"/>
            <a:ext cx="50800" cy="279400"/>
          </a:xfrm>
          <a:custGeom>
            <a:avLst/>
            <a:gdLst/>
            <a:ahLst/>
            <a:cxnLst/>
            <a:rect l="l" t="t" r="r" b="b"/>
            <a:pathLst>
              <a:path w="4" h="22">
                <a:moveTo>
                  <a:pt x="2" y="0"/>
                </a:moveTo>
                <a:lnTo>
                  <a:pt x="2" y="22"/>
                </a:lnTo>
              </a:path>
            </a:pathLst>
          </a:custGeom>
          <a:noFill/>
          <a:ln w="15240">
            <a:solidFill>
              <a:srgbClr val="8A8578"/>
            </a:solidFill>
            <a:tailEnd type="stealth"/>
          </a:ln>
        </p:spPr>
      </p:sp>
      <p:sp>
        <p:nvSpPr>
          <p:cNvPr id="23" name="loop-n4"/>
          <p:cNvSpPr/>
          <p:nvPr/>
        </p:nvSpPr>
        <p:spPr>
          <a:xfrm>
            <a:off x="7518400" y="4292600"/>
            <a:ext cx="3429000" cy="48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24" name="loop-n4t"/>
          <p:cNvSpPr txBox="1"/>
          <p:nvPr/>
        </p:nvSpPr>
        <p:spPr>
          <a:xfrm>
            <a:off x="7518400" y="4292600"/>
            <a:ext cx="3429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开发者再次固化</a:t>
            </a:r>
            <a:endParaRPr lang="en-US" sz="1250" noProof="1"/>
          </a:p>
        </p:txBody>
      </p:sp>
      <p:sp>
        <p:nvSpPr>
          <p:cNvPr id="25" name="loop-back"/>
          <p:cNvSpPr/>
          <p:nvPr>
            <p:extLst>
              <p:ext uri="{F5677B7D-0D2A-4D9B-9A5C-6D8D7D0E5A5D}">
                <pptd:line encoding="base64url">eyJ2aWV3Qm94IjpbMjIsMTkyXSwicG9pbnRzIjoiMCwxOTIgMjIsMTkyIDIyLDAgMCwwIiwiY3VydmUiOiJzaGFycCJ9</pptd:line>
              </p:ext>
            </p:extLst>
          </p:nvPr>
        </p:nvSpPr>
        <p:spPr>
          <a:xfrm>
            <a:off x="10998200" y="2095500"/>
            <a:ext cx="279400" cy="2438400"/>
          </a:xfrm>
          <a:custGeom>
            <a:avLst/>
            <a:gdLst/>
            <a:ahLst/>
            <a:cxnLst/>
            <a:rect l="l" t="t" r="r" b="b"/>
            <a:pathLst>
              <a:path w="22" h="192">
                <a:moveTo>
                  <a:pt x="0" y="192"/>
                </a:moveTo>
                <a:lnTo>
                  <a:pt x="22" y="192"/>
                </a:lnTo>
                <a:lnTo>
                  <a:pt x="22" y="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C2591C"/>
            </a:solidFill>
            <a:prstDash val="dash"/>
            <a:tailEnd type="stealth"/>
          </a:ln>
        </p:spPr>
      </p:sp>
      <p:sp>
        <p:nvSpPr>
          <p:cNvPr id="26" name="loop-caption"/>
          <p:cNvSpPr txBox="1"/>
          <p:nvPr/>
        </p:nvSpPr>
        <p:spPr>
          <a:xfrm>
            <a:off x="7518400" y="5029200"/>
            <a:ext cx="391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对话不是替代正式开发，而是发现需求和孵化功能的前置空间。</a:t>
            </a:r>
            <a:endParaRPr lang="en-US" sz="1100" noProof="1"/>
          </a:p>
        </p:txBody>
      </p:sp>
      <p:sp>
        <p:nvSpPr>
          <p:cNvPr id="27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5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03 · 澄清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Agent 化 ≠ 把每个模块都做成 Agent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lead"/>
          <p:cNvSpPr txBox="1"/>
          <p:nvPr/>
        </p:nvSpPr>
        <p:spPr>
          <a:xfrm>
            <a:off x="762000" y="13716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目标不是制造很多有角色名称的 Agent，而是让一个能力变得——</a:t>
            </a:r>
            <a:endParaRPr lang="en-US" sz="1200" noProof="1"/>
          </a:p>
        </p:txBody>
      </p:sp>
      <p:sp>
        <p:nvSpPr>
          <p:cNvPr id="6" name="c1"/>
          <p:cNvSpPr txBox="1"/>
          <p:nvPr/>
        </p:nvSpPr>
        <p:spPr>
          <a:xfrm>
            <a:off x="762000" y="18034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01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Agent 能发现它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在能力目录中被检索和路由到</a:t>
            </a:r>
            <a:endParaRPr lang="en-US" sz="1600" noProof="1"/>
          </a:p>
        </p:txBody>
      </p:sp>
      <p:sp>
        <p:nvSpPr>
          <p:cNvPr id="7" name="c2"/>
          <p:cNvSpPr txBox="1"/>
          <p:nvPr/>
        </p:nvSpPr>
        <p:spPr>
          <a:xfrm>
            <a:off x="6223000" y="18034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02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能理解它适合做什么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说明适用范围与例外</a:t>
            </a:r>
            <a:endParaRPr lang="en-US" sz="16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6162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03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能正确传入参数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输入输出结构化、含义清楚</a:t>
            </a:r>
            <a:endParaRPr lang="en-US" sz="1600" noProof="1"/>
          </a:p>
        </p:txBody>
      </p:sp>
      <p:sp>
        <p:nvSpPr>
          <p:cNvPr id="9" name="c4"/>
          <p:cNvSpPr txBox="1"/>
          <p:nvPr/>
        </p:nvSpPr>
        <p:spPr>
          <a:xfrm>
            <a:off x="6223000" y="26162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04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出错后能看懂并纠正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错误指向具体参数、规则或权限</a:t>
            </a:r>
            <a:endParaRPr lang="en-US" sz="16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4290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05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执行结果能够被验证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得到“通过 / 不通过”和原因</a:t>
            </a:r>
            <a:endParaRPr lang="en-US" sz="1600" noProof="1"/>
          </a:p>
        </p:txBody>
      </p:sp>
      <p:sp>
        <p:nvSpPr>
          <p:cNvPr id="11" name="c6"/>
          <p:cNvSpPr txBox="1"/>
          <p:nvPr/>
        </p:nvSpPr>
        <p:spPr>
          <a:xfrm>
            <a:off x="6223000" y="3429000"/>
            <a:ext cx="520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06</a:t>
            </a:r>
            <a:r>
              <a:rPr lang="en-US" sz="1300" noProof="1" b="1">
                <a:solidFill>
                  <a:srgbClr val="333333"/>
                </a:solidFill>
                <a:latin typeface="MiSans"/>
                <a:ea typeface="MiSans"/>
              </a:rPr>
              <a:t>重要操作可确认、审计、追溯</a:t>
            </a:r>
            <a:endParaRPr lang="en-US" sz="1600" noProof="1"/>
          </a:p>
          <a:p>
            <a:pPr marL="330200">
              <a:lnSpc>
                <a:spcPct val="14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保留调用参数、结果与确认记录</a:t>
            </a:r>
            <a:endParaRPr lang="en-US" sz="1600" noProof="1"/>
          </a:p>
        </p:txBody>
      </p:sp>
      <p:sp>
        <p:nvSpPr>
          <p:cNvPr id="12" name="quote-bar"/>
          <p:cNvSpPr/>
          <p:nvPr/>
        </p:nvSpPr>
        <p:spPr>
          <a:xfrm>
            <a:off x="762000" y="4343400"/>
            <a:ext cx="38100" cy="7366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13" name="quote"/>
          <p:cNvSpPr txBox="1"/>
          <p:nvPr/>
        </p:nvSpPr>
        <p:spPr>
          <a:xfrm>
            <a:off x="1041400" y="4343400"/>
            <a:ext cx="10388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600" noProof="1" b="1">
                <a:solidFill>
                  <a:srgbClr val="26282E"/>
                </a:solidFill>
                <a:latin typeface="MiSans"/>
                <a:ea typeface="MiSans"/>
              </a:rPr>
              <a:t>不是把所有东西都变成 Agent，而是把底层能力变成 </a:t>
            </a:r>
            <a:r>
              <a:rPr lang="en-US" sz="1600" noProof="1" b="1">
                <a:solidFill>
                  <a:srgbClr val="C2591C"/>
                </a:solidFill>
                <a:latin typeface="MiSans"/>
                <a:ea typeface="MiSans"/>
              </a:rPr>
              <a:t>Agent 可消费的对象</a:t>
            </a:r>
            <a:r>
              <a:rPr lang="en-US" sz="1600" noProof="1" b="1">
                <a:solidFill>
                  <a:srgbClr val="26282E"/>
                </a:solidFill>
                <a:latin typeface="MiSans"/>
                <a:ea typeface="MiSans"/>
              </a:rPr>
              <a:t>，再由 Agent 负责理解、选择和组合。</a:t>
            </a:r>
            <a:endParaRPr lang="en-US" sz="1600" noProof="1"/>
          </a:p>
        </p:txBody>
      </p:sp>
      <p:sp>
        <p:nvSpPr>
          <p:cNvPr id="14" name="bottom-rule"/>
          <p:cNvSpPr/>
          <p:nvPr/>
        </p:nvSpPr>
        <p:spPr>
          <a:xfrm>
            <a:off x="762000" y="54864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5" name="bottom-note"/>
          <p:cNvSpPr txBox="1"/>
          <p:nvPr/>
        </p:nvSpPr>
        <p:spPr>
          <a:xfrm>
            <a:off x="762000" y="56388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掌控的新含义：不必逐行手写所有代码，但要能回答——系统分哪些模块、每个模块解决什么问题、输入输出和副作用是什么、通过什么测试确认可用、出错定位到哪里。验收从“这个大应用看起来能跑”，变成“这些能力分别经过验证，组合后满足需求”。</a:t>
            </a:r>
            <a:endParaRPr lang="en-US" sz="1200" noProof="1"/>
          </a:p>
        </p:txBody>
      </p:sp>
      <p:sp>
        <p:nvSpPr>
          <p:cNvPr id="16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7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04 · 分工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开发者负责后厨，业务用户负责搭配，Agent 负责翻译和组合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caption"/>
          <p:cNvSpPr txBox="1"/>
          <p:nvPr/>
        </p:nvSpPr>
        <p:spPr>
          <a:xfrm>
            <a:off x="762000" y="1346200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业务用户最了解字段的真实含义和结果是否有用；开发者最了解数据库、接口、权限和开发环境。</a:t>
            </a:r>
            <a:endParaRPr lang="en-US" sz="1100" noProof="1"/>
          </a:p>
        </p:txBody>
      </p:sp>
      <p:sp>
        <p:nvSpPr>
          <p:cNvPr id="6" name="node-dev"/>
          <p:cNvSpPr/>
          <p:nvPr/>
        </p:nvSpPr>
        <p:spPr>
          <a:xfrm>
            <a:off x="762000" y="1879600"/>
            <a:ext cx="3048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7" name="node-dev-icon"/>
          <p:cNvSpPr/>
          <p:nvPr>
            <p:extLst>
              <p:ext uri="{F5677B7D-0D2A-4D9B-9A5C-6D8D7D0E5A5D}">
                <pptd:icon encoding="base64url">eyJpY29uTmFtZSI6ImZhczpraXRjaGVuLXNldCJ9</pptd:icon>
              </p:ext>
            </p:extLst>
          </p:nvPr>
        </p:nvSpPr>
        <p:spPr>
          <a:xfrm>
            <a:off x="1016000" y="2108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4" y="176"/>
                </a:moveTo>
                <a:cubicBezTo>
                  <a:pt x="270" y="240"/>
                  <a:pt x="213" y="288"/>
                  <a:pt x="144" y="288"/>
                </a:cubicBezTo>
                <a:cubicBezTo>
                  <a:pt x="65" y="288"/>
                  <a:pt x="0" y="224"/>
                  <a:pt x="0" y="144"/>
                </a:cubicBezTo>
                <a:cubicBezTo>
                  <a:pt x="0" y="65"/>
                  <a:pt x="65" y="0"/>
                  <a:pt x="144" y="0"/>
                </a:cubicBezTo>
                <a:cubicBezTo>
                  <a:pt x="213" y="0"/>
                  <a:pt x="270" y="48"/>
                  <a:pt x="284" y="112"/>
                </a:cubicBezTo>
                <a:lnTo>
                  <a:pt x="356" y="112"/>
                </a:lnTo>
                <a:cubicBezTo>
                  <a:pt x="365" y="102"/>
                  <a:pt x="378" y="96"/>
                  <a:pt x="392" y="96"/>
                </a:cubicBezTo>
                <a:lnTo>
                  <a:pt x="496" y="96"/>
                </a:lnTo>
                <a:cubicBezTo>
                  <a:pt x="523" y="96"/>
                  <a:pt x="544" y="118"/>
                  <a:pt x="544" y="144"/>
                </a:cubicBezTo>
                <a:cubicBezTo>
                  <a:pt x="544" y="171"/>
                  <a:pt x="523" y="192"/>
                  <a:pt x="496" y="192"/>
                </a:cubicBezTo>
                <a:lnTo>
                  <a:pt x="392" y="192"/>
                </a:lnTo>
                <a:cubicBezTo>
                  <a:pt x="378" y="192"/>
                  <a:pt x="365" y="186"/>
                  <a:pt x="356" y="176"/>
                </a:cubicBezTo>
                <a:lnTo>
                  <a:pt x="284" y="176"/>
                </a:lnTo>
                <a:close/>
                <a:moveTo>
                  <a:pt x="240" y="144"/>
                </a:moveTo>
                <a:cubicBezTo>
                  <a:pt x="240" y="91"/>
                  <a:pt x="197" y="48"/>
                  <a:pt x="144" y="48"/>
                </a:cubicBezTo>
                <a:cubicBezTo>
                  <a:pt x="91" y="48"/>
                  <a:pt x="48" y="91"/>
                  <a:pt x="48" y="144"/>
                </a:cubicBezTo>
                <a:cubicBezTo>
                  <a:pt x="48" y="197"/>
                  <a:pt x="91" y="240"/>
                  <a:pt x="144" y="240"/>
                </a:cubicBezTo>
                <a:cubicBezTo>
                  <a:pt x="197" y="240"/>
                  <a:pt x="240" y="197"/>
                  <a:pt x="240" y="144"/>
                </a:cubicBezTo>
                <a:close/>
              </a:path>
              <a:path w="576" h="512">
                <a:moveTo>
                  <a:pt x="144" y="80"/>
                </a:moveTo>
                <a:cubicBezTo>
                  <a:pt x="179" y="80"/>
                  <a:pt x="208" y="109"/>
                  <a:pt x="208" y="144"/>
                </a:cubicBezTo>
                <a:cubicBezTo>
                  <a:pt x="208" y="179"/>
                  <a:pt x="179" y="208"/>
                  <a:pt x="144" y="208"/>
                </a:cubicBezTo>
                <a:cubicBezTo>
                  <a:pt x="109" y="208"/>
                  <a:pt x="80" y="179"/>
                  <a:pt x="80" y="144"/>
                </a:cubicBezTo>
                <a:cubicBezTo>
                  <a:pt x="80" y="109"/>
                  <a:pt x="109" y="80"/>
                  <a:pt x="144" y="80"/>
                </a:cubicBezTo>
                <a:close/>
              </a:path>
              <a:path w="576" h="512">
                <a:moveTo>
                  <a:pt x="400" y="240"/>
                </a:moveTo>
                <a:cubicBezTo>
                  <a:pt x="413" y="240"/>
                  <a:pt x="424" y="251"/>
                  <a:pt x="424" y="264"/>
                </a:cubicBezTo>
                <a:lnTo>
                  <a:pt x="424" y="272"/>
                </a:lnTo>
                <a:lnTo>
                  <a:pt x="520" y="272"/>
                </a:lnTo>
                <a:cubicBezTo>
                  <a:pt x="533" y="272"/>
                  <a:pt x="544" y="283"/>
                  <a:pt x="544" y="296"/>
                </a:cubicBezTo>
                <a:cubicBezTo>
                  <a:pt x="544" y="309"/>
                  <a:pt x="533" y="320"/>
                  <a:pt x="520" y="320"/>
                </a:cubicBezTo>
                <a:lnTo>
                  <a:pt x="280" y="320"/>
                </a:lnTo>
                <a:cubicBezTo>
                  <a:pt x="267" y="320"/>
                  <a:pt x="256" y="309"/>
                  <a:pt x="256" y="296"/>
                </a:cubicBezTo>
                <a:cubicBezTo>
                  <a:pt x="256" y="283"/>
                  <a:pt x="267" y="272"/>
                  <a:pt x="280" y="272"/>
                </a:cubicBezTo>
                <a:lnTo>
                  <a:pt x="376" y="272"/>
                </a:lnTo>
                <a:lnTo>
                  <a:pt x="376" y="264"/>
                </a:lnTo>
                <a:cubicBezTo>
                  <a:pt x="376" y="251"/>
                  <a:pt x="387" y="240"/>
                  <a:pt x="400" y="240"/>
                </a:cubicBezTo>
                <a:close/>
              </a:path>
              <a:path w="576" h="512">
                <a:moveTo>
                  <a:pt x="288" y="464"/>
                </a:moveTo>
                <a:lnTo>
                  <a:pt x="288" y="352"/>
                </a:lnTo>
                <a:lnTo>
                  <a:pt x="512" y="352"/>
                </a:lnTo>
                <a:lnTo>
                  <a:pt x="512" y="464"/>
                </a:lnTo>
                <a:cubicBezTo>
                  <a:pt x="512" y="491"/>
                  <a:pt x="491" y="512"/>
                  <a:pt x="464" y="512"/>
                </a:cubicBezTo>
                <a:lnTo>
                  <a:pt x="336" y="512"/>
                </a:lnTo>
                <a:cubicBezTo>
                  <a:pt x="310" y="512"/>
                  <a:pt x="288" y="491"/>
                  <a:pt x="288" y="464"/>
                </a:cubicBezTo>
                <a:close/>
              </a:path>
              <a:path w="576" h="512">
                <a:moveTo>
                  <a:pt x="48" y="320"/>
                </a:moveTo>
                <a:lnTo>
                  <a:pt x="176" y="320"/>
                </a:lnTo>
                <a:cubicBezTo>
                  <a:pt x="203" y="320"/>
                  <a:pt x="224" y="342"/>
                  <a:pt x="224" y="368"/>
                </a:cubicBezTo>
                <a:cubicBezTo>
                  <a:pt x="224" y="395"/>
                  <a:pt x="203" y="416"/>
                  <a:pt x="176" y="416"/>
                </a:cubicBezTo>
                <a:lnTo>
                  <a:pt x="160" y="416"/>
                </a:lnTo>
                <a:cubicBezTo>
                  <a:pt x="160" y="434"/>
                  <a:pt x="146" y="448"/>
                  <a:pt x="128" y="448"/>
                </a:cubicBezTo>
                <a:lnTo>
                  <a:pt x="64" y="448"/>
                </a:lnTo>
                <a:cubicBezTo>
                  <a:pt x="46" y="448"/>
                  <a:pt x="32" y="434"/>
                  <a:pt x="32" y="416"/>
                </a:cubicBezTo>
                <a:lnTo>
                  <a:pt x="32" y="336"/>
                </a:lnTo>
                <a:cubicBezTo>
                  <a:pt x="32" y="327"/>
                  <a:pt x="39" y="320"/>
                  <a:pt x="48" y="320"/>
                </a:cubicBezTo>
                <a:close/>
                <a:moveTo>
                  <a:pt x="176" y="384"/>
                </a:moveTo>
                <a:cubicBezTo>
                  <a:pt x="185" y="384"/>
                  <a:pt x="192" y="377"/>
                  <a:pt x="192" y="368"/>
                </a:cubicBezTo>
                <a:cubicBezTo>
                  <a:pt x="192" y="359"/>
                  <a:pt x="185" y="352"/>
                  <a:pt x="176" y="352"/>
                </a:cubicBezTo>
                <a:lnTo>
                  <a:pt x="160" y="352"/>
                </a:lnTo>
                <a:lnTo>
                  <a:pt x="160" y="384"/>
                </a:lnTo>
                <a:lnTo>
                  <a:pt x="176" y="384"/>
                </a:lnTo>
                <a:close/>
              </a:path>
              <a:path w="576" h="512">
                <a:moveTo>
                  <a:pt x="24" y="464"/>
                </a:moveTo>
                <a:lnTo>
                  <a:pt x="200" y="464"/>
                </a:lnTo>
                <a:cubicBezTo>
                  <a:pt x="213" y="464"/>
                  <a:pt x="224" y="475"/>
                  <a:pt x="224" y="488"/>
                </a:cubicBezTo>
                <a:cubicBezTo>
                  <a:pt x="224" y="501"/>
                  <a:pt x="213" y="512"/>
                  <a:pt x="200" y="512"/>
                </a:cubicBezTo>
                <a:lnTo>
                  <a:pt x="24" y="512"/>
                </a:lnTo>
                <a:cubicBezTo>
                  <a:pt x="11" y="512"/>
                  <a:pt x="0" y="501"/>
                  <a:pt x="0" y="488"/>
                </a:cubicBezTo>
                <a:cubicBezTo>
                  <a:pt x="0" y="475"/>
                  <a:pt x="11" y="464"/>
                  <a:pt x="24" y="464"/>
                </a:cubicBezTo>
                <a:close/>
              </a:path>
            </a:pathLst>
          </a:custGeom>
          <a:solidFill>
            <a:srgbClr val="C2591C"/>
          </a:solidFill>
          <a:ln>
            <a:noFill/>
          </a:ln>
        </p:spPr>
      </p:sp>
      <p:sp>
        <p:nvSpPr>
          <p:cNvPr id="8" name="node-dev-title"/>
          <p:cNvSpPr txBox="1"/>
          <p:nvPr/>
        </p:nvSpPr>
        <p:spPr>
          <a:xfrm>
            <a:off x="1422400" y="2108200"/>
            <a:ext cx="2133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开发者 · 后厨</a:t>
            </a:r>
            <a:endParaRPr lang="en-US" sz="1400" noProof="1"/>
          </a:p>
        </p:txBody>
      </p:sp>
      <p:sp>
        <p:nvSpPr>
          <p:cNvPr id="9" name="node-dev-list"/>
          <p:cNvSpPr txBox="1"/>
          <p:nvPr/>
        </p:nvSpPr>
        <p:spPr>
          <a:xfrm>
            <a:off x="1016000" y="25400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数据访问与能力封装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安全、权限与稳定性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验证与质量控制</a:t>
            </a:r>
            <a:endParaRPr lang="en-US" sz="1150" noProof="1"/>
          </a:p>
        </p:txBody>
      </p:sp>
      <p:sp>
        <p:nvSpPr>
          <p:cNvPr id="10" name="arrow-dev-agent"/>
          <p:cNvSpPr/>
          <p:nvPr>
            <p:extLst>
              <p:ext uri="{F5677B7D-0D2A-4D9B-9A5C-6D8D7D0E5A5D}">
                <pptd:line encoding="base64url">eyJ2aWV3Qm94IjpbNjQsNF0sInBvaW50cyI6IjAsMiA2NCwyIiwiY3VydmUiOiJzaGFycCJ9</pptd:line>
              </p:ext>
            </p:extLst>
          </p:nvPr>
        </p:nvSpPr>
        <p:spPr>
          <a:xfrm>
            <a:off x="3835400" y="25908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64" h="4">
                <a:moveTo>
                  <a:pt x="0" y="2"/>
                </a:moveTo>
                <a:lnTo>
                  <a:pt x="64" y="2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11" name="arrow-dev-label"/>
          <p:cNvSpPr txBox="1"/>
          <p:nvPr/>
        </p:nvSpPr>
        <p:spPr>
          <a:xfrm>
            <a:off x="3733800" y="23114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8A8578"/>
                </a:solidFill>
                <a:latin typeface="MiSans"/>
                <a:ea typeface="MiSans"/>
              </a:rPr>
              <a:t>能力与边界</a:t>
            </a:r>
            <a:endParaRPr lang="en-US" sz="950" noProof="1"/>
          </a:p>
        </p:txBody>
      </p:sp>
      <p:sp>
        <p:nvSpPr>
          <p:cNvPr id="12" name="node-agent"/>
          <p:cNvSpPr/>
          <p:nvPr/>
        </p:nvSpPr>
        <p:spPr>
          <a:xfrm>
            <a:off x="4699000" y="2057400"/>
            <a:ext cx="2794000" cy="1524000"/>
          </a:xfrm>
          <a:prstGeom prst="rect">
            <a:avLst/>
          </a:prstGeom>
          <a:solidFill>
            <a:srgbClr val="F3F0E8"/>
          </a:solidFill>
          <a:ln w="19050">
            <a:solidFill>
              <a:srgbClr val="26282E"/>
            </a:solidFill>
          </a:ln>
        </p:spPr>
      </p:sp>
      <p:sp>
        <p:nvSpPr>
          <p:cNvPr id="13" name="node-agent-icon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4953000" y="2260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26282E"/>
          </a:solidFill>
          <a:ln>
            <a:noFill/>
          </a:ln>
        </p:spPr>
      </p:sp>
      <p:sp>
        <p:nvSpPr>
          <p:cNvPr id="14" name="node-agent-title"/>
          <p:cNvSpPr txBox="1"/>
          <p:nvPr/>
        </p:nvSpPr>
        <p:spPr>
          <a:xfrm>
            <a:off x="5308600" y="2260600"/>
            <a:ext cx="198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26282E"/>
                </a:solidFill>
                <a:latin typeface="MiSans"/>
                <a:ea typeface="MiSans"/>
              </a:rPr>
              <a:t>Agent · 翻译与组合</a:t>
            </a:r>
            <a:endParaRPr lang="en-US" sz="1350" noProof="1"/>
          </a:p>
        </p:txBody>
      </p:sp>
      <p:sp>
        <p:nvSpPr>
          <p:cNvPr id="15" name="node-agent-sub"/>
          <p:cNvSpPr txBox="1"/>
          <p:nvPr/>
        </p:nvSpPr>
        <p:spPr>
          <a:xfrm>
            <a:off x="4953000" y="2641600"/>
            <a:ext cx="2286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把业务语言映射成能力调用，再把执行结果解释给用户</a:t>
            </a:r>
            <a:endParaRPr lang="en-US" sz="1100" noProof="1"/>
          </a:p>
        </p:txBody>
      </p:sp>
      <p:sp>
        <p:nvSpPr>
          <p:cNvPr id="16" name="arrow-agent-user"/>
          <p:cNvSpPr/>
          <p:nvPr>
            <p:extLst>
              <p:ext uri="{F5677B7D-0D2A-4D9B-9A5C-6D8D7D0E5A5D}">
                <pptd:line encoding="base64url">eyJ2aWV3Qm94IjpbNjQsNF0sInBvaW50cyI6IjAsMiA2NCwyIiwiY3VydmUiOiJzaGFycCJ9</pptd:line>
              </p:ext>
            </p:extLst>
          </p:nvPr>
        </p:nvSpPr>
        <p:spPr>
          <a:xfrm>
            <a:off x="7518400" y="24384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64" h="4">
                <a:moveTo>
                  <a:pt x="0" y="2"/>
                </a:moveTo>
                <a:lnTo>
                  <a:pt x="64" y="2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17" name="arrow-agent-user-label"/>
          <p:cNvSpPr txBox="1"/>
          <p:nvPr/>
        </p:nvSpPr>
        <p:spPr>
          <a:xfrm>
            <a:off x="7416800" y="21590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8A8578"/>
                </a:solidFill>
                <a:latin typeface="MiSans"/>
                <a:ea typeface="MiSans"/>
              </a:rPr>
              <a:t>结果解释</a:t>
            </a:r>
            <a:endParaRPr lang="en-US" sz="950" noProof="1"/>
          </a:p>
        </p:txBody>
      </p:sp>
      <p:sp>
        <p:nvSpPr>
          <p:cNvPr id="18" name="arrow-user-agent"/>
          <p:cNvSpPr/>
          <p:nvPr>
            <p:extLst>
              <p:ext uri="{F5677B7D-0D2A-4D9B-9A5C-6D8D7D0E5A5D}">
                <pptd:line encoding="base64url">eyJ2aWV3Qm94IjpbNjQsNF0sInBvaW50cyI6IjAsMiA2NCwyIiwiY3VydmUiOiJzaGFycCJ9</pptd:line>
              </p:ext>
            </p:extLst>
          </p:nvPr>
        </p:nvSpPr>
        <p:spPr>
          <a:xfrm>
            <a:off x="7518400" y="3022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64" h="4">
                <a:moveTo>
                  <a:pt x="0" y="2"/>
                </a:moveTo>
                <a:lnTo>
                  <a:pt x="64" y="2"/>
                </a:lnTo>
              </a:path>
            </a:pathLst>
          </a:custGeom>
          <a:noFill/>
          <a:ln w="19050">
            <a:solidFill>
              <a:srgbClr val="8A8578"/>
            </a:solidFill>
            <a:headEnd type="stealth"/>
          </a:ln>
        </p:spPr>
      </p:sp>
      <p:sp>
        <p:nvSpPr>
          <p:cNvPr id="19" name="arrow-user-agent-label"/>
          <p:cNvSpPr txBox="1"/>
          <p:nvPr/>
        </p:nvSpPr>
        <p:spPr>
          <a:xfrm>
            <a:off x="7416800" y="3149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8A8578"/>
                </a:solidFill>
                <a:latin typeface="MiSans"/>
                <a:ea typeface="MiSans"/>
              </a:rPr>
              <a:t>业务语言</a:t>
            </a:r>
            <a:endParaRPr lang="en-US" sz="950" noProof="1"/>
          </a:p>
        </p:txBody>
      </p:sp>
      <p:sp>
        <p:nvSpPr>
          <p:cNvPr id="20" name="node-user"/>
          <p:cNvSpPr/>
          <p:nvPr/>
        </p:nvSpPr>
        <p:spPr>
          <a:xfrm>
            <a:off x="8382000" y="1879600"/>
            <a:ext cx="3048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</a:ln>
        </p:spPr>
      </p:sp>
      <p:sp>
        <p:nvSpPr>
          <p:cNvPr id="21" name="node-user-icon"/>
          <p:cNvSpPr/>
          <p:nvPr>
            <p:extLst>
              <p:ext uri="{F5677B7D-0D2A-4D9B-9A5C-6D8D7D0E5A5D}">
                <pptd:icon encoding="base64url">eyJpY29uTmFtZSI6ImZhczp1c2VyLWNoZWNrIn0</pptd:icon>
              </p:ext>
            </p:extLst>
          </p:nvPr>
        </p:nvSpPr>
        <p:spPr>
          <a:xfrm>
            <a:off x="8636000" y="2108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5F7A61"/>
          </a:solidFill>
          <a:ln>
            <a:noFill/>
          </a:ln>
        </p:spPr>
      </p:sp>
      <p:sp>
        <p:nvSpPr>
          <p:cNvPr id="22" name="node-user-title"/>
          <p:cNvSpPr txBox="1"/>
          <p:nvPr/>
        </p:nvSpPr>
        <p:spPr>
          <a:xfrm>
            <a:off x="9042400" y="2108200"/>
            <a:ext cx="2133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业务用户 · 搭配</a:t>
            </a:r>
            <a:endParaRPr lang="en-US" sz="1400" noProof="1"/>
          </a:p>
        </p:txBody>
      </p:sp>
      <p:sp>
        <p:nvSpPr>
          <p:cNvPr id="23" name="node-user-list"/>
          <p:cNvSpPr txBox="1"/>
          <p:nvPr/>
        </p:nvSpPr>
        <p:spPr>
          <a:xfrm>
            <a:off x="8636000" y="2540000"/>
            <a:ext cx="2540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描述实际问题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选择分析方向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判断结果是否满足需要</a:t>
            </a:r>
            <a:endParaRPr lang="en-US" sz="1150" noProof="1"/>
          </a:p>
        </p:txBody>
      </p:sp>
      <p:sp>
        <p:nvSpPr>
          <p:cNvPr id="24" name="quote-bar"/>
          <p:cNvSpPr/>
          <p:nvPr/>
        </p:nvSpPr>
        <p:spPr>
          <a:xfrm>
            <a:off x="762000" y="4267200"/>
            <a:ext cx="38100" cy="5588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25" name="buffet-note"/>
          <p:cNvSpPr txBox="1"/>
          <p:nvPr/>
        </p:nvSpPr>
        <p:spPr>
          <a:xfrm>
            <a:off x="1041400" y="4267200"/>
            <a:ext cx="10388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“自助餐”不等于让用户进入后厨：自助发生在开发者准备好的</a:t>
            </a:r>
            <a:r>
              <a:rPr lang="en-US" sz="1400" noProof="1" b="1">
                <a:solidFill>
                  <a:srgbClr val="C2591C"/>
                </a:solidFill>
                <a:latin typeface="MiSans"/>
                <a:ea typeface="MiSans"/>
              </a:rPr>
              <a:t>安全能力范围</a:t>
            </a:r>
            <a:r>
              <a:rPr lang="en-US" sz="1400" noProof="1" b="1">
                <a:solidFill>
                  <a:srgbClr val="26282E"/>
                </a:solidFill>
                <a:latin typeface="MiSans"/>
                <a:ea typeface="MiSans"/>
              </a:rPr>
              <a:t>之内。</a:t>
            </a:r>
            <a:endParaRPr lang="en-US" sz="1400" noProof="1"/>
          </a:p>
        </p:txBody>
      </p:sp>
      <p:sp>
        <p:nvSpPr>
          <p:cNvPr id="26" name="bottom-note"/>
          <p:cNvSpPr txBox="1"/>
          <p:nvPr/>
        </p:nvSpPr>
        <p:spPr>
          <a:xfrm>
            <a:off x="762000" y="5105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用户不直接执行任意 SQL、不接触数据库凭据、不让 Agent 随意修改生产数据；写操作先 dry-run、展示影响范围，再按规则确认。权限在 API 与工具层执行，而不只写在提示词里。</a:t>
            </a:r>
            <a:endParaRPr lang="en-US" sz="1200" noProof="1"/>
          </a:p>
        </p:txBody>
      </p:sp>
      <p:sp>
        <p:nvSpPr>
          <p:cNvPr id="27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05 · 机制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Skill、Agent、Workspace：教会、执行、记住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graphicFrame>
        <p:nvGraphicFramePr>
          <p:cNvPr id="5" name="asw-table"/>
          <p:cNvGraphicFramePr>
            <a:graphicFrameLocks noGrp="1"/>
          </p:cNvGraphicFramePr>
          <p:nvPr/>
        </p:nvGraphicFramePr>
        <p:xfrm>
          <a:off x="762000" y="1549400"/>
          <a:ext cx="10668000" cy="2870200"/>
        </p:xfrm>
        <a:graphic>
          <a:graphicData uri="http://schemas.openxmlformats.org/drawingml/2006/table">
            <a:tbl>
              <a:tblPr/>
              <a:tblGrid>
                <a:gridCol w="1493520"/>
                <a:gridCol w="4907280"/>
                <a:gridCol w="4267200"/>
              </a:tblGrid>
              <a:tr h="5740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简单定义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不应该承担的事情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82E"/>
                    </a:solidFill>
                  </a:tcPr>
                </a:tc>
              </a:tr>
              <a:tr h="76347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根据当前任务理解、选择、调用和组合能力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不重复实现已有的确定性业务逻辑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3473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Skill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一份可按需加载的“能力使用说明书与操作流程”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不把所有文档、代码和知识全部塞进主提示词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3F0E8"/>
                    </a:solidFill>
                  </a:tcPr>
                </a:tc>
              </a:tr>
              <a:tr h="76921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 b="1">
                          <a:solidFill>
                            <a:srgbClr val="8A8578"/>
                          </a:solidFill>
                          <a:latin typeface="Times New Roman"/>
                          <a:ea typeface="Times New Roman"/>
                        </a:rPr>
                        <a:t>Workspace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当前项目的工作台，保存输入、输出、阶段状态和执行记录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5000"/>
                        </a:lnSpc>
                      </a:pPr>
                      <a:r>
                        <a:rPr lang="en-US" sz="1200" noProof="1">
                          <a:solidFill>
                            <a:srgbClr val="26282E"/>
                          </a:solidFill>
                          <a:latin typeface="Times New Roman"/>
                          <a:ea typeface="Times New Roman"/>
                        </a:rPr>
                        <a:t>不代替可复用的 Skill 和正式数据源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8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quote-bar"/>
          <p:cNvSpPr/>
          <p:nvPr/>
        </p:nvSpPr>
        <p:spPr>
          <a:xfrm>
            <a:off x="762000" y="4800600"/>
            <a:ext cx="38100" cy="5588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7" name="quote"/>
          <p:cNvSpPr txBox="1"/>
          <p:nvPr/>
        </p:nvSpPr>
        <p:spPr>
          <a:xfrm>
            <a:off x="1041400" y="4800600"/>
            <a:ext cx="10388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500" noProof="1" b="1">
                <a:solidFill>
                  <a:srgbClr val="26282E"/>
                </a:solidFill>
                <a:latin typeface="MiSans"/>
                <a:ea typeface="MiSans"/>
              </a:rPr>
              <a:t>Agent 负责做决定，Skill 负责教会它怎么做，Workspace 负责让它记得</a:t>
            </a:r>
            <a:r>
              <a:rPr lang="en-US" sz="1500" noProof="1" b="1">
                <a:solidFill>
                  <a:srgbClr val="C2591C"/>
                </a:solidFill>
                <a:latin typeface="MiSans"/>
                <a:ea typeface="MiSans"/>
              </a:rPr>
              <a:t>做到哪里、产生了什么</a:t>
            </a:r>
            <a:r>
              <a:rPr lang="en-US" sz="1500" noProof="1" b="1">
                <a:solidFill>
                  <a:srgbClr val="26282E"/>
                </a:solidFill>
                <a:latin typeface="MiSans"/>
                <a:ea typeface="MiSans"/>
              </a:rPr>
              <a:t>。</a:t>
            </a:r>
            <a:endParaRPr lang="en-US" sz="1500" noProof="1"/>
          </a:p>
        </p:txBody>
      </p:sp>
      <p:sp>
        <p:nvSpPr>
          <p:cNvPr id="8" name="note"/>
          <p:cNvSpPr txBox="1"/>
          <p:nvPr/>
        </p:nvSpPr>
        <p:spPr>
          <a:xfrm>
            <a:off x="762000" y="56642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Skill 不是巨大百科全书：主文件只写何时使用、基本流程、资源路由、边界与验收方式；数据字典、业务规则和示例按需读取，而不是每次全部放进上下文。</a:t>
            </a:r>
            <a:endParaRPr lang="en-US" sz="1200" noProof="1"/>
          </a:p>
        </p:txBody>
      </p:sp>
      <p:sp>
        <p:nvSpPr>
          <p:cNvPr id="9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0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8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05 · 机制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能力封装到“稳定业务原语”：能说明、能测试、能复用、能组合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q-head"/>
          <p:cNvSpPr txBox="1"/>
          <p:nvPr/>
        </p:nvSpPr>
        <p:spPr>
          <a:xfrm>
            <a:off x="762000" y="142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6282E"/>
                </a:solidFill>
                <a:latin typeface="MiSans"/>
                <a:ea typeface="MiSans"/>
              </a:rPr>
              <a:t>判断粒度的四个问题</a:t>
            </a:r>
            <a:endParaRPr lang="en-US" sz="1250" noProof="1"/>
          </a:p>
        </p:txBody>
      </p:sp>
      <p:sp>
        <p:nvSpPr>
          <p:cNvPr id="6" name="q1"/>
          <p:cNvSpPr txBox="1"/>
          <p:nvPr/>
        </p:nvSpPr>
        <p:spPr>
          <a:xfrm>
            <a:off x="762000" y="17780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Q1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能否用一句业务语言说明它做什么？</a:t>
            </a:r>
            <a:endParaRPr lang="en-US" sz="1600" noProof="1"/>
          </a:p>
        </p:txBody>
      </p:sp>
      <p:sp>
        <p:nvSpPr>
          <p:cNvPr id="7" name="q2"/>
          <p:cNvSpPr txBox="1"/>
          <p:nvPr/>
        </p:nvSpPr>
        <p:spPr>
          <a:xfrm>
            <a:off x="762000" y="23368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Q2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是否有清楚的输入、输出和副作用？</a:t>
            </a:r>
            <a:endParaRPr lang="en-US" sz="1600" noProof="1"/>
          </a:p>
        </p:txBody>
      </p:sp>
      <p:sp>
        <p:nvSpPr>
          <p:cNvPr id="8" name="q3"/>
          <p:cNvSpPr txBox="1"/>
          <p:nvPr/>
        </p:nvSpPr>
        <p:spPr>
          <a:xfrm>
            <a:off x="762000" y="28956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Q3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是否可以单独测试？</a:t>
            </a:r>
            <a:endParaRPr lang="en-US" sz="1600" noProof="1"/>
          </a:p>
        </p:txBody>
      </p:sp>
      <p:sp>
        <p:nvSpPr>
          <p:cNvPr id="9" name="q4"/>
          <p:cNvSpPr txBox="1"/>
          <p:nvPr/>
        </p:nvSpPr>
        <p:spPr>
          <a:xfrm>
            <a:off x="762000" y="3454400"/>
            <a:ext cx="508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Q4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用户能否在不知道内部数据库和代码细节的情况下，将它与其他能力组合？</a:t>
            </a:r>
            <a:endParaRPr lang="en-US" sz="1600" noProof="1"/>
          </a:p>
        </p:txBody>
      </p:sp>
      <p:sp>
        <p:nvSpPr>
          <p:cNvPr id="10" name="q-note"/>
          <p:cNvSpPr txBox="1"/>
          <p:nvPr/>
        </p:nvSpPr>
        <p:spPr>
          <a:xfrm>
            <a:off x="762000" y="4267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四个问题大体都答“是”，粒度通常就比较合适。</a:t>
            </a:r>
            <a:endParaRPr lang="en-US" sz="1100" noProof="1"/>
          </a:p>
        </p:txBody>
      </p:sp>
      <p:sp>
        <p:nvSpPr>
          <p:cNvPr id="11" name="divider"/>
          <p:cNvSpPr/>
          <p:nvPr/>
        </p:nvSpPr>
        <p:spPr>
          <a:xfrm>
            <a:off x="6223000" y="1422400"/>
            <a:ext cx="12700" cy="31750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2" name="ex-bad"/>
          <p:cNvSpPr txBox="1"/>
          <p:nvPr/>
        </p:nvSpPr>
        <p:spPr>
          <a:xfrm>
            <a:off x="6629400" y="1422400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8A8578"/>
                </a:solidFill>
                <a:latin typeface="MiSans"/>
                <a:ea typeface="MiSans"/>
              </a:rPr>
              <a:t>✗ 与其直接开放：</a:t>
            </a:r>
            <a:r>
              <a:rPr lang="en-US" sz="1250" noProof="1" strike="sngStrike">
                <a:solidFill>
                  <a:srgbClr val="8A8578"/>
                </a:solidFill>
                <a:latin typeface="MiSans"/>
                <a:ea typeface="MiSans"/>
              </a:rPr>
              <a:t>执行任意 SQL</a:t>
            </a:r>
            <a:endParaRPr lang="en-US" sz="1600" noProof="1"/>
          </a:p>
        </p:txBody>
      </p:sp>
      <p:sp>
        <p:nvSpPr>
          <p:cNvPr id="13" name="ex-arrow"/>
          <p:cNvSpPr/>
          <p:nvPr>
            <p:extLst>
              <p:ext uri="{F5677B7D-0D2A-4D9B-9A5C-6D8D7D0E5A5D}">
                <pptd:line encoding="base64url">eyJ2aWV3Qm94IjpbMzAsNF0sInBvaW50cyI6IjAsMiAzMCwyIiwiY3VydmUiOiJzaGFycCJ9</pptd:line>
              </p:ext>
            </p:extLst>
          </p:nvPr>
        </p:nvSpPr>
        <p:spPr>
          <a:xfrm>
            <a:off x="6629400" y="1879600"/>
            <a:ext cx="381000" cy="50800"/>
          </a:xfrm>
          <a:custGeom>
            <a:avLst/>
            <a:gdLst/>
            <a:ahLst/>
            <a:cxnLst/>
            <a:rect l="l" t="t" r="r" b="b"/>
            <a:pathLst>
              <a:path w="30" h="4">
                <a:moveTo>
                  <a:pt x="0" y="2"/>
                </a:moveTo>
                <a:lnTo>
                  <a:pt x="30" y="2"/>
                </a:lnTo>
              </a:path>
            </a:pathLst>
          </a:custGeom>
          <a:noFill/>
          <a:ln w="19050">
            <a:solidFill>
              <a:srgbClr val="8A8578"/>
            </a:solidFill>
            <a:tailEnd type="stealth"/>
          </a:ln>
        </p:spPr>
      </p:sp>
      <p:sp>
        <p:nvSpPr>
          <p:cNvPr id="14" name="ex-good-head"/>
          <p:cNvSpPr txBox="1"/>
          <p:nvPr/>
        </p:nvSpPr>
        <p:spPr>
          <a:xfrm>
            <a:off x="6629400" y="2082800"/>
            <a:ext cx="4800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5F7A61"/>
                </a:solidFill>
                <a:latin typeface="MiSans"/>
                <a:ea typeface="MiSans"/>
              </a:rPr>
              <a:t>✓ 不如提供业务原语：</a:t>
            </a:r>
            <a:endParaRPr lang="en-US" sz="1250" noProof="1"/>
          </a:p>
        </p:txBody>
      </p:sp>
      <p:sp>
        <p:nvSpPr>
          <p:cNvPr id="15" name="ex-good-list"/>
          <p:cNvSpPr txBox="1"/>
          <p:nvPr/>
        </p:nvSpPr>
        <p:spPr>
          <a:xfrm>
            <a:off x="6629400" y="2413000"/>
            <a:ext cx="4800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· 查询指定范围的数据</a:t>
            </a:r>
            <a:endParaRPr lang="en-US" sz="1250" noProof="1"/>
          </a:p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· 对一组参数执行规则校验</a:t>
            </a:r>
            <a:endParaRPr lang="en-US" sz="1250" noProof="1"/>
          </a:p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· 比较两个版本的差异</a:t>
            </a:r>
            <a:endParaRPr lang="en-US" sz="1250" noProof="1"/>
          </a:p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· 生成标准格式的分析报告</a:t>
            </a:r>
            <a:endParaRPr lang="en-US" sz="1250" noProof="1"/>
          </a:p>
        </p:txBody>
      </p:sp>
      <p:sp>
        <p:nvSpPr>
          <p:cNvPr id="16" name="bottom-rule"/>
          <p:cNvSpPr/>
          <p:nvPr/>
        </p:nvSpPr>
        <p:spPr>
          <a:xfrm>
            <a:off x="762000" y="48768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7" name="pr-head"/>
          <p:cNvSpPr txBox="1"/>
          <p:nvPr/>
        </p:nvSpPr>
        <p:spPr>
          <a:xfrm>
            <a:off x="762000" y="5029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6282E"/>
                </a:solidFill>
                <a:latin typeface="MiSans"/>
                <a:ea typeface="MiSans"/>
              </a:rPr>
              <a:t>六条封装原则</a:t>
            </a:r>
            <a:endParaRPr lang="en-US" sz="1250" noProof="1"/>
          </a:p>
        </p:txBody>
      </p:sp>
      <p:sp>
        <p:nvSpPr>
          <p:cNvPr id="18" name="pr-col1"/>
          <p:cNvSpPr txBox="1"/>
          <p:nvPr/>
        </p:nvSpPr>
        <p:spPr>
          <a:xfrm>
            <a:off x="762000" y="5334000"/>
            <a:ext cx="5207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API 不直接暴露数据库秘密，凭据留在服务端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脚本不依赖交互式问答，参数结构化传入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返回值既给机器也给人：结构化数据 + 简短摘要</a:t>
            </a:r>
            <a:endParaRPr lang="en-US" sz="1100" noProof="1"/>
          </a:p>
        </p:txBody>
      </p:sp>
      <p:sp>
        <p:nvSpPr>
          <p:cNvPr id="19" name="pr-col2"/>
          <p:cNvSpPr txBox="1"/>
          <p:nvPr/>
        </p:nvSpPr>
        <p:spPr>
          <a:xfrm>
            <a:off x="6350000" y="5334000"/>
            <a:ext cx="50800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错误要能帮助纠正：指向参数、规则或权限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写操作先 dry-run，展示影响再确认</a:t>
            </a:r>
            <a:endParaRPr lang="en-US" sz="1100" noProof="1"/>
          </a:p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大结果落盘为文件，只回摘要、位置和关键指标</a:t>
            </a:r>
            <a:endParaRPr lang="en-US" sz="1100" noProof="1"/>
          </a:p>
        </p:txBody>
      </p:sp>
      <p:sp>
        <p:nvSpPr>
          <p:cNvPr id="20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1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9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05 · 机制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最小 Skill 结构：主文件只写路由与边界，内容按需加载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tree-panel"/>
          <p:cNvSpPr/>
          <p:nvPr/>
        </p:nvSpPr>
        <p:spPr>
          <a:xfrm>
            <a:off x="762000" y="1473200"/>
            <a:ext cx="5080000" cy="3403600"/>
          </a:xfrm>
          <a:prstGeom prst="rect">
            <a:avLst/>
          </a:prstGeom>
          <a:solidFill>
            <a:srgbClr val="F3F0E8"/>
          </a:solidFill>
          <a:ln w="12700">
            <a:solidFill>
              <a:srgbClr val="DDD8CC"/>
            </a:solidFill>
          </a:ln>
        </p:spPr>
      </p:sp>
      <p:sp>
        <p:nvSpPr>
          <p:cNvPr id="6" name="tree"/>
          <p:cNvSpPr txBox="1"/>
          <p:nvPr/>
        </p:nvSpPr>
        <p:spPr>
          <a:xfrm>
            <a:off x="1016000" y="1676400"/>
            <a:ext cx="4572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business-self-service/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SKILL.md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scripts/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│├── query_data.py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│└── validate_result.py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references/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│├── capabilities.md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│├── data-dictionary.md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│├── business-rules.md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│└── examples.md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└── assets/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└── report-template.md</a:t>
            </a:r>
            <a:endParaRPr lang="en-US" sz="1200" noProof="1"/>
          </a:p>
        </p:txBody>
      </p:sp>
      <p:sp>
        <p:nvSpPr>
          <p:cNvPr id="7" name="part1"/>
          <p:cNvSpPr txBox="1"/>
          <p:nvPr/>
        </p:nvSpPr>
        <p:spPr>
          <a:xfrm>
            <a:off x="6350000" y="14732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SKILL.md</a:t>
            </a: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　何时使用、基本流程、资源路由、边界与验收方式</a:t>
            </a:r>
            <a:endParaRPr lang="en-US" sz="1600" noProof="1"/>
          </a:p>
        </p:txBody>
      </p:sp>
      <p:sp>
        <p:nvSpPr>
          <p:cNvPr id="8" name="part2"/>
          <p:cNvSpPr txBox="1"/>
          <p:nvPr/>
        </p:nvSpPr>
        <p:spPr>
          <a:xfrm>
            <a:off x="6350000" y="22860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scripts/</a:t>
            </a: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　稳定、可重复、可独立验证的执行逻辑或 API 适配器</a:t>
            </a:r>
            <a:endParaRPr lang="en-US" sz="1600" noProof="1"/>
          </a:p>
        </p:txBody>
      </p:sp>
      <p:sp>
        <p:nvSpPr>
          <p:cNvPr id="9" name="part3"/>
          <p:cNvSpPr txBox="1"/>
          <p:nvPr/>
        </p:nvSpPr>
        <p:spPr>
          <a:xfrm>
            <a:off x="6350000" y="3098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references/</a:t>
            </a: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　能力目录、数据字典、业务规则与示例，按需读取</a:t>
            </a:r>
            <a:endParaRPr lang="en-US" sz="1600" noProof="1"/>
          </a:p>
        </p:txBody>
      </p:sp>
      <p:sp>
        <p:nvSpPr>
          <p:cNvPr id="10" name="part4"/>
          <p:cNvSpPr txBox="1"/>
          <p:nvPr/>
        </p:nvSpPr>
        <p:spPr>
          <a:xfrm>
            <a:off x="6350000" y="39116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assets/</a:t>
            </a: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　需要原样复用的模板或静态资源</a:t>
            </a:r>
            <a:endParaRPr lang="en-US" sz="1600" noProof="1"/>
          </a:p>
        </p:txBody>
      </p:sp>
      <p:sp>
        <p:nvSpPr>
          <p:cNvPr id="11" name="bottom-rule"/>
          <p:cNvSpPr/>
          <p:nvPr/>
        </p:nvSpPr>
        <p:spPr>
          <a:xfrm>
            <a:off x="762000" y="50546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2" name="note1"/>
          <p:cNvSpPr txBox="1"/>
          <p:nvPr/>
        </p:nvSpPr>
        <p:spPr>
          <a:xfrm>
            <a:off x="762000" y="5207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骨架的重点不是提示词很长，而是让 Agent 知道五件事：</a:t>
            </a:r>
            <a:r>
              <a:rPr lang="en-US" sz="1250" noProof="1" b="1">
                <a:solidFill>
                  <a:srgbClr val="26282E"/>
                </a:solidFill>
                <a:latin typeface="MiSans"/>
                <a:ea typeface="MiSans"/>
              </a:rPr>
              <a:t>何时使用、先做什么后做什么、去哪里取信息、什么不能做、怎样算完成</a:t>
            </a: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13" name="note2"/>
          <p:cNvSpPr txBox="1"/>
          <p:nvPr/>
        </p:nvSpPr>
        <p:spPr>
          <a:xfrm>
            <a:off x="762000" y="5816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Skill 不必复制完整 API 服务端代码；它装配的是能力入口、调用方法、适配脚本、业务知识、验证方法与权限边界。已有“知识目录”可先统一放进 references/，规模明显不同再拆分。</a:t>
            </a:r>
            <a:endParaRPr lang="en-US" sz="11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06 · 落地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Workspace 只保存“这次工作”的状态；落地从 3–5 个能力的小试点开始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ws-panel"/>
          <p:cNvSpPr/>
          <p:nvPr/>
        </p:nvSpPr>
        <p:spPr>
          <a:xfrm>
            <a:off x="762000" y="1473200"/>
            <a:ext cx="4191000" cy="1498600"/>
          </a:xfrm>
          <a:prstGeom prst="rect">
            <a:avLst/>
          </a:prstGeom>
          <a:solidFill>
            <a:srgbClr val="F3F0E8"/>
          </a:solidFill>
          <a:ln w="12700">
            <a:solidFill>
              <a:srgbClr val="DDD8CC"/>
            </a:solidFill>
          </a:ln>
        </p:spPr>
      </p:sp>
      <p:sp>
        <p:nvSpPr>
          <p:cNvPr id="6" name="ws-tree"/>
          <p:cNvSpPr txBox="1"/>
          <p:nvPr/>
        </p:nvSpPr>
        <p:spPr>
          <a:xfrm>
            <a:off x="990600" y="1625600"/>
            <a:ext cx="3733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workspace/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context.md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input/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├── output/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26282E"/>
                </a:solidFill>
                <a:latin typeface="JetBrains Mono"/>
                <a:ea typeface="JetBrains Mono"/>
              </a:rPr>
              <a:t>└── runs/</a:t>
            </a:r>
            <a:endParaRPr lang="en-US" sz="1200" noProof="1"/>
          </a:p>
        </p:txBody>
      </p:sp>
      <p:sp>
        <p:nvSpPr>
          <p:cNvPr id="7" name="ws-desc"/>
          <p:cNvSpPr txBox="1"/>
          <p:nvPr/>
        </p:nvSpPr>
        <p:spPr>
          <a:xfrm>
            <a:off x="762000" y="3149600"/>
            <a:ext cx="431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context.md：项目目标、已确认约束、未决问题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input/：本次任务输入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output/：交付物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· runs/：每次执行的参数、结果、错误和验证记录</a:t>
            </a:r>
            <a:endParaRPr lang="en-US" sz="1100" noProof="1"/>
          </a:p>
        </p:txBody>
      </p:sp>
      <p:sp>
        <p:nvSpPr>
          <p:cNvPr id="8" name="ws-note"/>
          <p:cNvSpPr txBox="1"/>
          <p:nvPr/>
        </p:nvSpPr>
        <p:spPr>
          <a:xfrm>
            <a:off x="762000" y="4648200"/>
            <a:ext cx="431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 b="1">
                <a:solidFill>
                  <a:srgbClr val="26282E"/>
                </a:solidFill>
                <a:latin typeface="MiSans"/>
                <a:ea typeface="MiSans"/>
              </a:rPr>
              <a:t>Skill 是可复用的方法，Workspace 是一次具体工作的状态。</a:t>
            </a:r>
            <a:r>
              <a:rPr lang="en-US" sz="1150" noProof="1">
                <a:solidFill>
                  <a:srgbClr val="26282E"/>
                </a:solidFill>
                <a:latin typeface="MiSans"/>
                <a:ea typeface="MiSans"/>
              </a:rPr>
              <a:t>分开，Skill 才不会被单个用户的临时信息污染。</a:t>
            </a:r>
            <a:endParaRPr lang="en-US" sz="1150" noProof="1"/>
          </a:p>
        </p:txBody>
      </p:sp>
      <p:sp>
        <p:nvSpPr>
          <p:cNvPr id="9" name="divider"/>
          <p:cNvSpPr/>
          <p:nvPr/>
        </p:nvSpPr>
        <p:spPr>
          <a:xfrm>
            <a:off x="5461000" y="1473200"/>
            <a:ext cx="12700" cy="43180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0" name="mv-head"/>
          <p:cNvSpPr txBox="1"/>
          <p:nvPr/>
        </p:nvSpPr>
        <p:spPr>
          <a:xfrm>
            <a:off x="5867400" y="1422400"/>
            <a:ext cx="5562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6282E"/>
                </a:solidFill>
                <a:latin typeface="MiSans"/>
                <a:ea typeface="MiSans"/>
              </a:rPr>
              <a:t>最小可行落地</a:t>
            </a:r>
            <a:r>
              <a:rPr lang="en-US" sz="1150" noProof="1">
                <a:solidFill>
                  <a:srgbClr val="8A8578"/>
                </a:solidFill>
                <a:latin typeface="MiSans"/>
                <a:ea typeface="MiSans"/>
              </a:rPr>
              <a:t>　不要先做庞大的 Agent 平台，选一个“经常有小改动”的现有应用</a:t>
            </a:r>
            <a:endParaRPr lang="en-US" sz="1250" noProof="1"/>
          </a:p>
        </p:txBody>
      </p:sp>
      <p:sp>
        <p:nvSpPr>
          <p:cNvPr id="11" name="mv1"/>
          <p:cNvSpPr txBox="1"/>
          <p:nvPr/>
        </p:nvSpPr>
        <p:spPr>
          <a:xfrm>
            <a:off x="5867400" y="1981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1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从现有代码找出 3–5 个可独立测试的业务能力</a:t>
            </a:r>
            <a:endParaRPr lang="en-US" sz="1600" noProof="1"/>
          </a:p>
        </p:txBody>
      </p:sp>
      <p:sp>
        <p:nvSpPr>
          <p:cNvPr id="12" name="mv2"/>
          <p:cNvSpPr txBox="1"/>
          <p:nvPr/>
        </p:nvSpPr>
        <p:spPr>
          <a:xfrm>
            <a:off x="5867400" y="2616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2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为每个能力补齐名称、输入、输出、错误和一个示例</a:t>
            </a:r>
            <a:endParaRPr lang="en-US" sz="1600" noProof="1"/>
          </a:p>
        </p:txBody>
      </p:sp>
      <p:sp>
        <p:nvSpPr>
          <p:cNvPr id="13" name="mv3"/>
          <p:cNvSpPr txBox="1"/>
          <p:nvPr/>
        </p:nvSpPr>
        <p:spPr>
          <a:xfrm>
            <a:off x="5867400" y="3251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3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让原 Web UI 与对话入口复用同一能力层</a:t>
            </a:r>
            <a:endParaRPr lang="en-US" sz="1600" noProof="1"/>
          </a:p>
        </p:txBody>
      </p:sp>
      <p:sp>
        <p:nvSpPr>
          <p:cNvPr id="14" name="mv4"/>
          <p:cNvSpPr txBox="1"/>
          <p:nvPr/>
        </p:nvSpPr>
        <p:spPr>
          <a:xfrm>
            <a:off x="5867400" y="3886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4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写一个最小 Skill，说明怎样选择、调用和验证这些能力</a:t>
            </a:r>
            <a:endParaRPr lang="en-US" sz="1600" noProof="1"/>
          </a:p>
        </p:txBody>
      </p:sp>
      <p:sp>
        <p:nvSpPr>
          <p:cNvPr id="15" name="mv5"/>
          <p:cNvSpPr txBox="1"/>
          <p:nvPr/>
        </p:nvSpPr>
        <p:spPr>
          <a:xfrm>
            <a:off x="5867400" y="4521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5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邀请少量业务用户试用，记录反复提出的需求和失败点</a:t>
            </a:r>
            <a:endParaRPr lang="en-US" sz="1600" noProof="1"/>
          </a:p>
        </p:txBody>
      </p:sp>
      <p:sp>
        <p:nvSpPr>
          <p:cNvPr id="16" name="mv6"/>
          <p:cNvSpPr txBox="1"/>
          <p:nvPr/>
        </p:nvSpPr>
        <p:spPr>
          <a:xfrm>
            <a:off x="5867400" y="51562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6</a:t>
            </a:r>
            <a:r>
              <a:rPr lang="en-US" sz="1250" noProof="1">
                <a:solidFill>
                  <a:srgbClr val="333333"/>
                </a:solidFill>
                <a:latin typeface="MiSans"/>
                <a:ea typeface="MiSans"/>
              </a:rPr>
              <a:t>只把高频、稳定、确实有价值的组合固化成新能力</a:t>
            </a:r>
            <a:endParaRPr lang="en-US" sz="1600" noProof="1"/>
          </a:p>
        </p:txBody>
      </p:sp>
      <p:sp>
        <p:nvSpPr>
          <p:cNvPr id="17" name="bottom-rule"/>
          <p:cNvSpPr/>
          <p:nvPr/>
        </p:nvSpPr>
        <p:spPr>
          <a:xfrm>
            <a:off x="762000" y="59944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8" name="bottom-note"/>
          <p:cNvSpPr txBox="1"/>
          <p:nvPr/>
        </p:nvSpPr>
        <p:spPr>
          <a:xfrm>
            <a:off x="762000" y="6121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6282E"/>
                </a:solidFill>
                <a:latin typeface="MiSans"/>
                <a:ea typeface="MiSans"/>
              </a:rPr>
              <a:t>先证明“用户能否在受控范围内完成一次真实自助”，再决定是否扩展目录、协议、角色或自动化机制。</a:t>
            </a:r>
            <a:endParaRPr lang="en-US" sz="1200" noProof="1"/>
          </a:p>
        </p:txBody>
      </p:sp>
      <p:sp>
        <p:nvSpPr>
          <p:cNvPr id="19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11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07 · 案例（预留）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实践案例 · 一（请替换为实际案例标题）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placeholder-box"/>
          <p:cNvSpPr/>
          <p:nvPr/>
        </p:nvSpPr>
        <p:spPr>
          <a:xfrm>
            <a:off x="762000" y="1549400"/>
            <a:ext cx="6604000" cy="4318000"/>
          </a:xfrm>
          <a:prstGeom prst="rect">
            <a:avLst/>
          </a:prstGeom>
          <a:solidFill>
            <a:srgbClr val="F3F0E8"/>
          </a:solidFill>
          <a:ln w="19050">
            <a:solidFill>
              <a:srgbClr val="8A8578"/>
            </a:solidFill>
            <a:prstDash val="dash"/>
          </a:ln>
        </p:spPr>
      </p:sp>
      <p:sp>
        <p:nvSpPr>
          <p:cNvPr id="6" name="placeholder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3632200" y="320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A8578"/>
          </a:solidFill>
          <a:ln>
            <a:noFill/>
          </a:ln>
        </p:spPr>
      </p:sp>
      <p:sp>
        <p:nvSpPr>
          <p:cNvPr id="7" name="placeholder-text"/>
          <p:cNvSpPr txBox="1"/>
          <p:nvPr/>
        </p:nvSpPr>
        <p:spPr>
          <a:xfrm>
            <a:off x="1397000" y="39624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8A8578"/>
                </a:solidFill>
                <a:latin typeface="MiSans"/>
                <a:ea typeface="MiSans"/>
              </a:rPr>
              <a:t>在此粘贴案例截图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例如：改造前后的界面对比、能力调用效果</a:t>
            </a:r>
            <a:endParaRPr lang="en-US" sz="1300" noProof="1"/>
          </a:p>
        </p:txBody>
      </p:sp>
      <p:sp>
        <p:nvSpPr>
          <p:cNvPr id="8" name="hints-head"/>
          <p:cNvSpPr txBox="1"/>
          <p:nvPr/>
        </p:nvSpPr>
        <p:spPr>
          <a:xfrm>
            <a:off x="7874000" y="15494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建议补充的说明</a:t>
            </a:r>
            <a:endParaRPr lang="en-US" sz="1300" noProof="1"/>
          </a:p>
        </p:txBody>
      </p:sp>
      <p:sp>
        <p:nvSpPr>
          <p:cNvPr id="9" name="hints"/>
          <p:cNvSpPr txBox="1"/>
          <p:nvPr/>
        </p:nvSpPr>
        <p:spPr>
          <a:xfrm>
            <a:off x="7874000" y="1930400"/>
            <a:ext cx="3556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背景与痛点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封装了哪些能力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用户如何自助组合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效果与反馈</a:t>
            </a:r>
            <a:endParaRPr lang="en-US" sz="1200" noProof="1"/>
          </a:p>
        </p:txBody>
      </p:sp>
      <p:sp>
        <p:nvSpPr>
          <p:cNvPr id="10" name="hint-note"/>
          <p:cNvSpPr txBox="1"/>
          <p:nvPr/>
        </p:nvSpPr>
        <p:spPr>
          <a:xfrm>
            <a:off x="7874000" y="5334000"/>
            <a:ext cx="355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8A8578"/>
                </a:solidFill>
                <a:latin typeface="MiSans"/>
                <a:ea typeface="MiSans"/>
              </a:rPr>
              <a:t>占位页：替换内容后可删除本提示与左侧虚线框。</a:t>
            </a:r>
            <a:endParaRPr lang="en-US" sz="1050" noProof="1"/>
          </a:p>
        </p:txBody>
      </p:sp>
      <p:sp>
        <p:nvSpPr>
          <p:cNvPr id="11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12</a:t>
            </a:r>
            <a:endParaRPr lang="en-US" sz="9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07 · 案例（预留）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实践案例 · 二（请替换为实际案例标题）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placeholder-box"/>
          <p:cNvSpPr/>
          <p:nvPr/>
        </p:nvSpPr>
        <p:spPr>
          <a:xfrm>
            <a:off x="762000" y="1549400"/>
            <a:ext cx="6604000" cy="4318000"/>
          </a:xfrm>
          <a:prstGeom prst="rect">
            <a:avLst/>
          </a:prstGeom>
          <a:solidFill>
            <a:srgbClr val="F3F0E8"/>
          </a:solidFill>
          <a:ln w="19050">
            <a:solidFill>
              <a:srgbClr val="8A8578"/>
            </a:solidFill>
            <a:prstDash val="dash"/>
          </a:ln>
        </p:spPr>
      </p:sp>
      <p:sp>
        <p:nvSpPr>
          <p:cNvPr id="6" name="placeholder-icon"/>
          <p:cNvSpPr/>
          <p:nvPr>
            <p:extLst>
              <p:ext uri="{F5677B7D-0D2A-4D9B-9A5C-6D8D7D0E5A5D}">
                <pptd:icon encoding="base64url">eyJpY29uTmFtZSI6ImZhcjppbWFnZSJ9</pptd:icon>
              </p:ext>
            </p:extLst>
          </p:nvPr>
        </p:nvSpPr>
        <p:spPr>
          <a:xfrm>
            <a:off x="3632200" y="320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>
            <a:srgbClr val="8A8578"/>
          </a:solidFill>
          <a:ln>
            <a:noFill/>
          </a:ln>
        </p:spPr>
      </p:sp>
      <p:sp>
        <p:nvSpPr>
          <p:cNvPr id="7" name="placeholder-text"/>
          <p:cNvSpPr txBox="1"/>
          <p:nvPr/>
        </p:nvSpPr>
        <p:spPr>
          <a:xfrm>
            <a:off x="1397000" y="39624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8A8578"/>
                </a:solidFill>
                <a:latin typeface="MiSans"/>
                <a:ea typeface="MiSans"/>
              </a:rPr>
              <a:t>在此粘贴案例截图</a:t>
            </a:r>
            <a:endParaRPr lang="en-US" sz="1300" noProof="1"/>
          </a:p>
          <a:p>
            <a:pPr algn="ctr">
              <a:lnSpc>
                <a:spcPct val="150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例如：对话入口的实际调用记录、验证结果</a:t>
            </a:r>
            <a:endParaRPr lang="en-US" sz="1300" noProof="1"/>
          </a:p>
        </p:txBody>
      </p:sp>
      <p:sp>
        <p:nvSpPr>
          <p:cNvPr id="8" name="hints-head"/>
          <p:cNvSpPr txBox="1"/>
          <p:nvPr/>
        </p:nvSpPr>
        <p:spPr>
          <a:xfrm>
            <a:off x="7874000" y="15494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6282E"/>
                </a:solidFill>
                <a:latin typeface="MiSans"/>
                <a:ea typeface="MiSans"/>
              </a:rPr>
              <a:t>建议补充的说明</a:t>
            </a:r>
            <a:endParaRPr lang="en-US" sz="1300" noProof="1"/>
          </a:p>
        </p:txBody>
      </p:sp>
      <p:sp>
        <p:nvSpPr>
          <p:cNvPr id="9" name="hints"/>
          <p:cNvSpPr txBox="1"/>
          <p:nvPr/>
        </p:nvSpPr>
        <p:spPr>
          <a:xfrm>
            <a:off x="7874000" y="1930400"/>
            <a:ext cx="3556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用户提出的原始问题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Agent 选择了哪些能力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如何验证结果</a:t>
            </a:r>
            <a:endParaRPr lang="en-US" sz="1200" noProof="1"/>
          </a:p>
          <a:p>
            <a:pPr>
              <a:lnSpc>
                <a:spcPct val="19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· 后续固化了什么</a:t>
            </a:r>
            <a:endParaRPr lang="en-US" sz="1200" noProof="1"/>
          </a:p>
        </p:txBody>
      </p:sp>
      <p:sp>
        <p:nvSpPr>
          <p:cNvPr id="10" name="hint-note"/>
          <p:cNvSpPr txBox="1"/>
          <p:nvPr/>
        </p:nvSpPr>
        <p:spPr>
          <a:xfrm>
            <a:off x="7874000" y="5334000"/>
            <a:ext cx="35560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8A8578"/>
                </a:solidFill>
                <a:latin typeface="MiSans"/>
                <a:ea typeface="MiSans"/>
              </a:rPr>
              <a:t>占位页：替换内容后可删除本提示与左侧虚线框。</a:t>
            </a:r>
            <a:endParaRPr lang="en-US" sz="1050" noProof="1"/>
          </a:p>
        </p:txBody>
      </p:sp>
      <p:sp>
        <p:nvSpPr>
          <p:cNvPr id="11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13</a:t>
            </a:r>
            <a:endParaRPr lang="en-US" sz="9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08 · 讨论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开放讨论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d1"/>
          <p:cNvSpPr txBox="1"/>
          <p:nvPr/>
        </p:nvSpPr>
        <p:spPr>
          <a:xfrm>
            <a:off x="762000" y="14732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Q1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能力应该封装到多底层？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封装到稳定业务原语：能说明、能测试、能复用、能组合</a:t>
            </a:r>
            <a:endParaRPr lang="en-US" sz="1600" noProof="1"/>
          </a:p>
        </p:txBody>
      </p:sp>
      <p:sp>
        <p:nvSpPr>
          <p:cNvPr id="6" name="d2"/>
          <p:cNvSpPr txBox="1"/>
          <p:nvPr/>
        </p:nvSpPr>
        <p:spPr>
          <a:xfrm>
            <a:off x="6350000" y="14732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Q2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API、脚本和 MCP 怎样选？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远程多用户用 API，本地批处理用脚本，多种客户端再补 MCP 适配</a:t>
            </a:r>
            <a:endParaRPr lang="en-US" sz="1600" noProof="1"/>
          </a:p>
        </p:txBody>
      </p:sp>
      <p:sp>
        <p:nvSpPr>
          <p:cNvPr id="7" name="d3"/>
          <p:cNvSpPr txBox="1"/>
          <p:nvPr/>
        </p:nvSpPr>
        <p:spPr>
          <a:xfrm>
            <a:off x="762000" y="26670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Q3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知识文件应该复制进 Skill 吗？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只放小、稳定、高频的核心知识，大或常变的内容按需检索，避免“第二真相”</a:t>
            </a:r>
            <a:endParaRPr lang="en-US" sz="1600" noProof="1"/>
          </a:p>
        </p:txBody>
      </p:sp>
      <p:sp>
        <p:nvSpPr>
          <p:cNvPr id="8" name="d4"/>
          <p:cNvSpPr txBox="1"/>
          <p:nvPr/>
        </p:nvSpPr>
        <p:spPr>
          <a:xfrm>
            <a:off x="6350000" y="26670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Q4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为什么既要 Web UI 又要对话入口？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表单把稳定流程做快做稳，对话处理模糊需求与临时组合，共用同一内核</a:t>
            </a:r>
            <a:endParaRPr lang="en-US" sz="1600" noProof="1"/>
          </a:p>
        </p:txBody>
      </p:sp>
      <p:sp>
        <p:nvSpPr>
          <p:cNvPr id="9" name="d5"/>
          <p:cNvSpPr txBox="1"/>
          <p:nvPr/>
        </p:nvSpPr>
        <p:spPr>
          <a:xfrm>
            <a:off x="762000" y="38608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Q5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用户自助生成的东西，谁负责质量？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进入共享或生产前需要“毕业机制”：补测试、权限、说明和负责人</a:t>
            </a:r>
            <a:endParaRPr lang="en-US" sz="1600" noProof="1"/>
          </a:p>
        </p:txBody>
      </p:sp>
      <p:sp>
        <p:nvSpPr>
          <p:cNvPr id="10" name="d6"/>
          <p:cNvSpPr txBox="1"/>
          <p:nvPr/>
        </p:nvSpPr>
        <p:spPr>
          <a:xfrm>
            <a:off x="6350000" y="38608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Q6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怎样避免 Agent 乱调用、乱改数据？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白名单能力、权限在工具层执行、写操作 dry-run、留存调用与验证记录</a:t>
            </a:r>
            <a:endParaRPr lang="en-US" sz="1600" noProof="1"/>
          </a:p>
        </p:txBody>
      </p:sp>
      <p:sp>
        <p:nvSpPr>
          <p:cNvPr id="11" name="d7"/>
          <p:cNvSpPr txBox="1"/>
          <p:nvPr/>
        </p:nvSpPr>
        <p:spPr>
          <a:xfrm>
            <a:off x="762000" y="50546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Q7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这会不会让开发者前期工作更多？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有额外封装成本；目标是降低第二次、第三次变化的边际成本</a:t>
            </a:r>
            <a:endParaRPr lang="en-US" sz="1600" noProof="1"/>
          </a:p>
        </p:txBody>
      </p:sp>
      <p:sp>
        <p:nvSpPr>
          <p:cNvPr id="12" name="d8"/>
          <p:cNvSpPr txBox="1"/>
          <p:nvPr/>
        </p:nvSpPr>
        <p:spPr>
          <a:xfrm>
            <a:off x="6350000" y="50546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C2591C"/>
                </a:solidFill>
                <a:latin typeface="JetBrains Mono"/>
                <a:ea typeface="JetBrains Mono"/>
              </a:rPr>
              <a:t>Q8</a:t>
            </a:r>
            <a:r>
              <a:rPr lang="en-US" sz="1250" noProof="1" b="1">
                <a:solidFill>
                  <a:srgbClr val="333333"/>
                </a:solidFill>
                <a:latin typeface="MiSans"/>
                <a:ea typeface="MiSans"/>
              </a:rPr>
              <a:t>对话产生的“二开”怎样反哺正式系统？</a:t>
            </a:r>
            <a:endParaRPr lang="en-US" sz="1600" noProof="1"/>
          </a:p>
          <a:p>
            <a:pPr marL="355600">
              <a:lnSpc>
                <a:spcPct val="145000"/>
              </a:lnSpc>
            </a:pPr>
            <a:r>
              <a:rPr lang="en-US" sz="1100" noProof="1">
                <a:solidFill>
                  <a:srgbClr val="8A8578"/>
                </a:solidFill>
                <a:latin typeface="MiSans"/>
                <a:ea typeface="MiSans"/>
              </a:rPr>
              <a:t>重复组合作为候选需求，评估频率、价值和验证成本后再固化</a:t>
            </a:r>
            <a:endParaRPr lang="en-US" sz="16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14</a:t>
            </a:r>
            <a:endParaRPr lang="en-US" sz="9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8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8A8578"/>
                </a:solidFill>
                <a:latin typeface="MiSans"/>
                <a:ea typeface="MiSans"/>
              </a:rPr>
              <a:t>09 · 结语</a:t>
            </a:r>
            <a:endParaRPr lang="en-US" sz="1100" noProof="1"/>
          </a:p>
        </p:txBody>
      </p:sp>
      <p:sp>
        <p:nvSpPr>
          <p:cNvPr id="3" name="page-title"/>
          <p:cNvSpPr txBox="1"/>
          <p:nvPr/>
        </p:nvSpPr>
        <p:spPr>
          <a:xfrm>
            <a:off x="762000" y="635000"/>
            <a:ext cx="1066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26282E"/>
                </a:solidFill>
                <a:latin typeface="MiSans"/>
                <a:ea typeface="MiSans"/>
              </a:rPr>
              <a:t>三句话总结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762000" y="1168400"/>
            <a:ext cx="330200" cy="38100"/>
          </a:xfrm>
          <a:prstGeom prst="rect">
            <a:avLst/>
          </a:prstGeom>
          <a:solidFill>
            <a:srgbClr val="C2591C"/>
          </a:solidFill>
          <a:ln>
            <a:noFill/>
          </a:ln>
        </p:spPr>
      </p:sp>
      <p:sp>
        <p:nvSpPr>
          <p:cNvPr id="5" name="t1"/>
          <p:cNvSpPr txBox="1"/>
          <p:nvPr/>
        </p:nvSpPr>
        <p:spPr>
          <a:xfrm>
            <a:off x="762000" y="1625600"/>
            <a:ext cx="1066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C2591C"/>
                </a:solidFill>
                <a:latin typeface="JetBrains Mono"/>
                <a:ea typeface="JetBrains Mono"/>
              </a:rPr>
              <a:t>01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一套能力内核，两个使用入口</a:t>
            </a:r>
            <a:endParaRPr lang="en-US" sz="1600" noProof="1"/>
          </a:p>
          <a:p>
            <a:pPr marL="457200">
              <a:lnSpc>
                <a:spcPct val="14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表单负责稳定，对话负责灵活，两者不分裂成两套业务逻辑</a:t>
            </a:r>
            <a:endParaRPr lang="en-US" sz="1600" noProof="1"/>
          </a:p>
        </p:txBody>
      </p:sp>
      <p:sp>
        <p:nvSpPr>
          <p:cNvPr id="6" name="sep1"/>
          <p:cNvSpPr/>
          <p:nvPr/>
        </p:nvSpPr>
        <p:spPr>
          <a:xfrm>
            <a:off x="762000" y="27178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7" name="t2"/>
          <p:cNvSpPr txBox="1"/>
          <p:nvPr/>
        </p:nvSpPr>
        <p:spPr>
          <a:xfrm>
            <a:off x="762000" y="2946400"/>
            <a:ext cx="1066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C2591C"/>
                </a:solidFill>
                <a:latin typeface="JetBrains Mono"/>
                <a:ea typeface="JetBrains Mono"/>
              </a:rPr>
              <a:t>02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确定性交给代码，变化性交给 Agent</a:t>
            </a:r>
            <a:endParaRPr lang="en-US" sz="1600" noProof="1"/>
          </a:p>
          <a:p>
            <a:pPr marL="457200">
              <a:lnSpc>
                <a:spcPct val="14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不为 Agent 化而把所有东西都变成 Agent</a:t>
            </a:r>
            <a:endParaRPr lang="en-US" sz="1600" noProof="1"/>
          </a:p>
        </p:txBody>
      </p:sp>
      <p:sp>
        <p:nvSpPr>
          <p:cNvPr id="8" name="sep2"/>
          <p:cNvSpPr/>
          <p:nvPr/>
        </p:nvSpPr>
        <p:spPr>
          <a:xfrm>
            <a:off x="762000" y="40386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9" name="t3"/>
          <p:cNvSpPr txBox="1"/>
          <p:nvPr/>
        </p:nvSpPr>
        <p:spPr>
          <a:xfrm>
            <a:off x="762000" y="4267200"/>
            <a:ext cx="1066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400" noProof="1">
                <a:solidFill>
                  <a:srgbClr val="C2591C"/>
                </a:solidFill>
                <a:latin typeface="JetBrains Mono"/>
                <a:ea typeface="JetBrains Mono"/>
              </a:rPr>
              <a:t>03</a:t>
            </a:r>
            <a:r>
              <a:rPr lang="en-US" sz="1900" noProof="1" b="1">
                <a:solidFill>
                  <a:srgbClr val="333333"/>
                </a:solidFill>
                <a:latin typeface="MiSans"/>
                <a:ea typeface="MiSans"/>
              </a:rPr>
              <a:t>Skill 负责教会，Workspace 负责记住</a:t>
            </a:r>
            <a:endParaRPr lang="en-US" sz="1600" noProof="1"/>
          </a:p>
          <a:p>
            <a:pPr marL="457200">
              <a:lnSpc>
                <a:spcPct val="140000"/>
              </a:lnSpc>
            </a:pPr>
            <a:r>
              <a:rPr lang="en-US" sz="1200" noProof="1">
                <a:solidFill>
                  <a:srgbClr val="8A8578"/>
                </a:solidFill>
                <a:latin typeface="MiSans"/>
                <a:ea typeface="MiSans"/>
              </a:rPr>
              <a:t>让项目的背景、能力、边界和验证方式成为资产，而不是只存在于某位开发者的记忆里</a:t>
            </a:r>
            <a:endParaRPr lang="en-US" sz="1600" noProof="1"/>
          </a:p>
        </p:txBody>
      </p:sp>
      <p:sp>
        <p:nvSpPr>
          <p:cNvPr id="10" name="sep3"/>
          <p:cNvSpPr/>
          <p:nvPr/>
        </p:nvSpPr>
        <p:spPr>
          <a:xfrm>
            <a:off x="762000" y="5359400"/>
            <a:ext cx="10668000" cy="12700"/>
          </a:xfrm>
          <a:prstGeom prst="rect">
            <a:avLst/>
          </a:prstGeom>
          <a:solidFill>
            <a:srgbClr val="DDD8CC"/>
          </a:solidFill>
          <a:ln>
            <a:noFill/>
          </a:ln>
        </p:spPr>
      </p:sp>
      <p:sp>
        <p:nvSpPr>
          <p:cNvPr id="11" name="closing"/>
          <p:cNvSpPr txBox="1"/>
          <p:nvPr/>
        </p:nvSpPr>
        <p:spPr>
          <a:xfrm>
            <a:off x="762000" y="5562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Coding Agent 真正有意思的地方，不只是写得更快，而是让开发者把熟悉的技术资源，封装成业务用户可以</a:t>
            </a:r>
            <a:r>
              <a:rPr lang="en-US" sz="1250" noProof="1" b="1">
                <a:solidFill>
                  <a:srgbClr val="C2591C"/>
                </a:solidFill>
                <a:latin typeface="MiSans"/>
                <a:ea typeface="MiSans"/>
              </a:rPr>
              <a:t>安全理解和组合的能力</a:t>
            </a:r>
            <a:r>
              <a:rPr lang="en-US" sz="1250" noProof="1">
                <a:solidFill>
                  <a:srgbClr val="26282E"/>
                </a:solidFill>
                <a:latin typeface="MiSans"/>
                <a:ea typeface="MiSans"/>
              </a:rPr>
              <a:t>——这还不是成熟答案，可以从一个很小的试点开始验证。谢谢大家，欢迎讨论。</a:t>
            </a:r>
            <a:endParaRPr lang="en-US" sz="1250" noProof="1"/>
          </a:p>
        </p:txBody>
      </p:sp>
      <p:sp>
        <p:nvSpPr>
          <p:cNvPr id="12" name="footer-left"/>
          <p:cNvSpPr txBox="1"/>
          <p:nvPr/>
        </p:nvSpPr>
        <p:spPr>
          <a:xfrm>
            <a:off x="762000" y="652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从交付应用到交付可组合能力</a:t>
            </a:r>
            <a:endParaRPr lang="en-US" sz="90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11226800" y="6527800"/>
            <a:ext cx="20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8578"/>
                </a:solidFill>
                <a:latin typeface="MiSans"/>
                <a:ea typeface="MiSans"/>
              </a:rPr>
              <a:t>15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从"接需求写应用"到"封装能力，让用户自助组合"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