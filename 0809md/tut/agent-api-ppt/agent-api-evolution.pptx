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customXml" Target="../customXml/item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得分 (%)</c:v>
                </c:pt>
              </c:strCache>
            </c:strRef>
          </c:tx>
          <c:spPr>
            <a:solidFill>
              <a:srgbClr val="4A44C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>
                    <a:solidFill>
                      <a:srgbClr val="23252D"/>
                    </a:solidFill>
                    <a:latin typeface="MiSans"/>
                    <a:ea typeface="MiSans"/>
                  </a:defRPr>
                </a:pPr>
                <a:endParaRPr/>
              </a:p>
            </c:txPr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ARC 官方 Harness</c:v>
                </c:pt>
                <c:pt idx="1">
                  <c:v>Reasoning + Compaction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13.3</c:v>
                </c:pt>
                <c:pt idx="1">
                  <c:v>38.3</c:v>
                </c:pt>
              </c:numCache>
            </c:numRef>
          </c:val>
        </c:ser>
        <c:axId val="-2068027336"/>
        <c:axId val="-2113994440"/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900">
                <a:solidFill>
                  <a:srgbClr val="54555A"/>
                </a:solidFill>
                <a:latin typeface="MiSans"/>
                <a:ea typeface="Mi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5.0"/>
          <c:min val="0.0"/>
        </c:scaling>
        <c:delete val="0"/>
        <c:axPos val="b"/>
        <c:majorGridlines>
          <c:spPr>
            <a:ln>
              <a:solidFill>
                <a:srgbClr val="DBDEE4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900">
                <a:solidFill>
                  <a:srgbClr val="54555A"/>
                </a:solidFill>
                <a:latin typeface="MiSans"/>
                <a:ea typeface="MiSans"/>
              </a:defRPr>
            </a:pPr>
          </a:p>
        </c:txPr>
        <c:crossAx val="-2068027336"/>
        <c:crosses val="autoZero"/>
      </c:valAx>
    </c:plotArea>
    <c:dispBlanksAs val="gap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&lt;!--pageType:table_of_contents--&gt;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penai.com/index/how-two-settings-tripled-our-arc-agi-3-scores/" TargetMode="External"/><Relationship Id="rId3" Type="http://schemas.openxmlformats.org/officeDocument/2006/relationships/hyperlink" Target="https://developers.openai.com/api/docs/guides/reasoning" TargetMode="External"/><Relationship Id="rId4" Type="http://schemas.openxmlformats.org/officeDocument/2006/relationships/hyperlink" Target="https://developers.openai.com/api/docs/guides/compaction" TargetMode="External"/><Relationship Id="rId5" Type="http://schemas.openxmlformats.org/officeDocument/2006/relationships/hyperlink" Target="https://developers.openai.com/api/docs/guides/tools-tool-search" TargetMode="External"/><Relationship Id="rId6" Type="http://schemas.openxmlformats.org/officeDocument/2006/relationships/hyperlink" Target="https://developers.openai.com/api/docs/guides/tools-programmatic-tool-calling" TargetMode="External"/><Relationship Id="rId7" Type="http://schemas.openxmlformats.org/officeDocument/2006/relationships/hyperlink" Target="https://developers.openai.com/api/docs/guides/tools-connectors-mcp" TargetMode="External"/><Relationship Id="rId8" Type="http://schemas.openxmlformats.org/officeDocument/2006/relationships/hyperlink" Target="https://modelcontextprotocol.io/specification/2026-07-28/server/tools" TargetMode="External"/><Relationship Id="rId9" Type="http://schemas.openxmlformats.org/officeDocument/2006/relationships/hyperlink" Target="https://a2a-protocol.org/latest/specification/" TargetMode="External"/><Relationship Id="rId10" Type="http://schemas.openxmlformats.org/officeDocument/2006/relationships/hyperlink" Target="https://a2a-protocol.org/latest/topics/streaming-and-async/" TargetMode="External"/><Relationship Id="rId11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6233F"/>
            </a:gs>
            <a:gs pos="100000">
              <a:srgbClr val="3D3580"/>
            </a:gs>
          </a:gsLst>
          <a:lin scaled="1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deco-circle-1"/>
          <p:cNvSpPr/>
          <p:nvPr/>
        </p:nvSpPr>
        <p:spPr>
          <a:xfrm>
            <a:off x="10096500" y="152400"/>
            <a:ext cx="1619250" cy="1619250"/>
          </a:xfrm>
          <a:prstGeom prst="ellipse">
            <a:avLst/>
          </a:prstGeom>
          <a:solidFill>
            <a:srgbClr val="FFFFFF">
              <a:alpha val="352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eco-circle-2"/>
          <p:cNvSpPr/>
          <p:nvPr/>
        </p:nvSpPr>
        <p:spPr>
          <a:xfrm>
            <a:off x="10763250" y="5562600"/>
            <a:ext cx="1047750" cy="1047750"/>
          </a:xfrm>
          <a:prstGeom prst="ellipse">
            <a:avLst/>
          </a:prstGeom>
          <a:solidFill>
            <a:srgbClr val="FFFFFF">
              <a:alpha val="274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eco-line"/>
          <p:cNvSpPr/>
          <p:nvPr/>
        </p:nvSpPr>
        <p:spPr>
          <a:xfrm>
            <a:off x="876300" y="1409700"/>
            <a:ext cx="533400" cy="47625"/>
          </a:xfrm>
          <a:prstGeom prst="rect">
            <a:avLst/>
          </a:prstGeom>
          <a:solidFill>
            <a:srgbClr val="E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kicker"/>
          <p:cNvSpPr txBox="1"/>
          <p:nvPr/>
        </p:nvSpPr>
        <p:spPr>
          <a:xfrm>
            <a:off x="857250" y="1600200"/>
            <a:ext cx="8191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25" noProof="1" spc="300">
                <a:solidFill>
                  <a:srgbClr val="B9B4E0"/>
                </a:solidFill>
                <a:latin typeface="MiSans"/>
                <a:ea typeface="MiSans"/>
              </a:rPr>
              <a:t>技术分享 · 大模型推理接口与 AGENT 协议演进</a:t>
            </a:r>
          </a:p>
        </p:txBody>
      </p:sp>
      <p:sp>
        <p:nvSpPr>
          <p:cNvPr id="6" name="dsl:main-title"/>
          <p:cNvSpPr txBox="1"/>
          <p:nvPr/>
        </p:nvSpPr>
        <p:spPr>
          <a:xfrm>
            <a:off x="857250" y="1962150"/>
            <a:ext cx="10668000" cy="1219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300" noProof="1">
                <a:solidFill>
                  <a:srgbClr val="FFFFFF"/>
                </a:solidFill>
                <a:latin typeface="alimamashuheiti"/>
                <a:ea typeface="alimamashuheiti"/>
              </a:rPr>
              <a:t>从 Chat API 到 Agent Runtime</a:t>
            </a:r>
          </a:p>
          <a:p>
            <a:pPr algn="l">
              <a:lnSpc>
                <a:spcPct val="135000"/>
              </a:lnSpc>
            </a:pPr>
            <a:r>
              <a:rPr sz="3300" noProof="1">
                <a:solidFill>
                  <a:srgbClr val="FFFFFF"/>
                </a:solidFill>
                <a:latin typeface="alimamashuheiti"/>
                <a:ea typeface="alimamashuheiti"/>
              </a:rPr>
              <a:t>接口如何解锁模型的隐藏能力</a:t>
            </a:r>
          </a:p>
        </p:txBody>
      </p:sp>
      <p:sp>
        <p:nvSpPr>
          <p:cNvPr id="7" name="dsl:subtitle"/>
          <p:cNvSpPr txBox="1"/>
          <p:nvPr/>
        </p:nvSpPr>
        <p:spPr>
          <a:xfrm>
            <a:off x="857250" y="3352800"/>
            <a:ext cx="8763000" cy="5905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75" noProof="1">
                <a:solidFill>
                  <a:srgbClr val="CFCAE8"/>
                </a:solidFill>
                <a:latin typeface="MiSans"/>
                <a:ea typeface="MiSans"/>
              </a:rPr>
              <a:t>同一个模型，不换权重、不重新训练——只改接口与状态管理方式，基准测试得分翻了近三倍。这份分享讲清楚它为什么有效，以及你该怎么用。</a:t>
            </a:r>
          </a:p>
        </p:txBody>
      </p:sp>
      <p:sp>
        <p:nvSpPr>
          <p:cNvPr id="8" name="dsl:chip-1-bg"/>
          <p:cNvSpPr/>
          <p:nvPr/>
        </p:nvSpPr>
        <p:spPr>
          <a:xfrm>
            <a:off x="857250" y="4343400"/>
            <a:ext cx="3333750" cy="1028700"/>
          </a:xfrm>
          <a:prstGeom prst="roundRect">
            <a:avLst>
              <a:gd name="adj" fmla="val 12000"/>
            </a:avLst>
          </a:prstGeom>
          <a:solidFill>
            <a:srgbClr val="FFFFFF">
              <a:alpha val="6274"/>
            </a:srgbClr>
          </a:solidFill>
          <a:ln w="12700">
            <a:solidFill>
              <a:srgbClr val="FFFFFF">
                <a:alpha val="14901"/>
              </a:srgb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chip-1-num"/>
          <p:cNvSpPr txBox="1"/>
          <p:nvPr/>
        </p:nvSpPr>
        <p:spPr>
          <a:xfrm>
            <a:off x="1104900" y="4514850"/>
            <a:ext cx="287655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250" noProof="1">
                <a:solidFill>
                  <a:srgbClr val="F2B98C"/>
                </a:solidFill>
                <a:latin typeface="alimamashuheiti"/>
                <a:ea typeface="alimamashuheiti"/>
              </a:rPr>
              <a:t>13.3% → 38.3%</a:t>
            </a:r>
          </a:p>
        </p:txBody>
      </p:sp>
      <p:sp>
        <p:nvSpPr>
          <p:cNvPr id="10" name="dsl:chip-1-label"/>
          <p:cNvSpPr txBox="1"/>
          <p:nvPr/>
        </p:nvSpPr>
        <p:spPr>
          <a:xfrm>
            <a:off x="1104900" y="4953000"/>
            <a:ext cx="287655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>
                <a:solidFill>
                  <a:srgbClr val="CFCAE8"/>
                </a:solidFill>
                <a:latin typeface="MiSans"/>
                <a:ea typeface="MiSans"/>
              </a:rPr>
              <a:t>ARC-AGI-3 公开集得分（同一模型）</a:t>
            </a:r>
          </a:p>
        </p:txBody>
      </p:sp>
      <p:sp>
        <p:nvSpPr>
          <p:cNvPr id="11" name="dsl:chip-2-bg"/>
          <p:cNvSpPr/>
          <p:nvPr/>
        </p:nvSpPr>
        <p:spPr>
          <a:xfrm>
            <a:off x="4429125" y="4343400"/>
            <a:ext cx="3333750" cy="1028700"/>
          </a:xfrm>
          <a:prstGeom prst="roundRect">
            <a:avLst>
              <a:gd name="adj" fmla="val 12000"/>
            </a:avLst>
          </a:prstGeom>
          <a:solidFill>
            <a:srgbClr val="FFFFFF">
              <a:alpha val="6274"/>
            </a:srgbClr>
          </a:solidFill>
          <a:ln w="12700">
            <a:solidFill>
              <a:srgbClr val="FFFFFF">
                <a:alpha val="14901"/>
              </a:srgb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chip-2-num"/>
          <p:cNvSpPr txBox="1"/>
          <p:nvPr/>
        </p:nvSpPr>
        <p:spPr>
          <a:xfrm>
            <a:off x="4676775" y="4514850"/>
            <a:ext cx="287655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250" noProof="1">
                <a:solidFill>
                  <a:srgbClr val="F2B98C"/>
                </a:solidFill>
                <a:latin typeface="alimamashuheiti"/>
                <a:ea typeface="alimamashuheiti"/>
              </a:rPr>
              <a:t>≈ 1/6</a:t>
            </a:r>
          </a:p>
        </p:txBody>
      </p:sp>
      <p:sp>
        <p:nvSpPr>
          <p:cNvPr id="13" name="dsl:chip-2-label"/>
          <p:cNvSpPr txBox="1"/>
          <p:nvPr/>
        </p:nvSpPr>
        <p:spPr>
          <a:xfrm>
            <a:off x="4676775" y="4953000"/>
            <a:ext cx="287655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>
                <a:solidFill>
                  <a:srgbClr val="CFCAE8"/>
                </a:solidFill>
                <a:latin typeface="MiSans"/>
                <a:ea typeface="MiSans"/>
              </a:rPr>
              <a:t>输出 Token 消耗（相对原 Harness）</a:t>
            </a:r>
          </a:p>
        </p:txBody>
      </p:sp>
      <p:sp>
        <p:nvSpPr>
          <p:cNvPr id="14" name="dsl:chip-3-bg"/>
          <p:cNvSpPr/>
          <p:nvPr/>
        </p:nvSpPr>
        <p:spPr>
          <a:xfrm>
            <a:off x="8001000" y="4343400"/>
            <a:ext cx="3333750" cy="1028700"/>
          </a:xfrm>
          <a:prstGeom prst="roundRect">
            <a:avLst>
              <a:gd name="adj" fmla="val 12000"/>
            </a:avLst>
          </a:prstGeom>
          <a:solidFill>
            <a:srgbClr val="FFFFFF">
              <a:alpha val="6274"/>
            </a:srgbClr>
          </a:solidFill>
          <a:ln w="12700">
            <a:solidFill>
              <a:srgbClr val="FFFFFF">
                <a:alpha val="14901"/>
              </a:srgb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chip-3-num"/>
          <p:cNvSpPr txBox="1"/>
          <p:nvPr/>
        </p:nvSpPr>
        <p:spPr>
          <a:xfrm>
            <a:off x="8248650" y="4514850"/>
            <a:ext cx="287655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250" noProof="1">
                <a:solidFill>
                  <a:srgbClr val="F2B98C"/>
                </a:solidFill>
                <a:latin typeface="alimamashuheiti"/>
                <a:ea typeface="alimamashuheiti"/>
              </a:rPr>
              <a:t>0 次</a:t>
            </a:r>
          </a:p>
        </p:txBody>
      </p:sp>
      <p:sp>
        <p:nvSpPr>
          <p:cNvPr id="16" name="dsl:chip-3-label"/>
          <p:cNvSpPr txBox="1"/>
          <p:nvPr/>
        </p:nvSpPr>
        <p:spPr>
          <a:xfrm>
            <a:off x="8248650" y="4953000"/>
            <a:ext cx="287655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>
                <a:solidFill>
                  <a:srgbClr val="CFCAE8"/>
                </a:solidFill>
                <a:latin typeface="MiSans"/>
                <a:ea typeface="MiSans"/>
              </a:rPr>
              <a:t>模型重新训练（权重完全没变）</a:t>
            </a:r>
          </a:p>
        </p:txBody>
      </p:sp>
      <p:sp>
        <p:nvSpPr>
          <p:cNvPr id="17" name="dsl:footer"/>
          <p:cNvSpPr txBox="1"/>
          <p:nvPr/>
        </p:nvSpPr>
        <p:spPr>
          <a:xfrm>
            <a:off x="857250" y="6153150"/>
            <a:ext cx="9525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>
                <a:solidFill>
                  <a:srgbClr val="8F8AB0"/>
                </a:solidFill>
                <a:latin typeface="MiSans"/>
                <a:ea typeface="MiSans"/>
              </a:rPr>
              <a:t>基于技术文档《大模型推理接口与 Agent 协议演进》（2026-08）重组 · 附同名 HTML 交互讲义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"/>
          <p:cNvSpPr txBox="1"/>
          <p:nvPr/>
        </p:nvSpPr>
        <p:spPr>
          <a:xfrm>
            <a:off x="666750" y="1123950"/>
            <a:ext cx="3048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 spc="300">
                <a:solidFill>
                  <a:srgbClr val="4A44C6"/>
                </a:solidFill>
                <a:latin typeface="MiSans"/>
                <a:ea typeface="MiSans"/>
              </a:rPr>
              <a:t>CONTENTS</a:t>
            </a:r>
          </a:p>
        </p:txBody>
      </p:sp>
      <p:sp>
        <p:nvSpPr>
          <p:cNvPr id="3" name="dsl:toc-title"/>
          <p:cNvSpPr txBox="1"/>
          <p:nvPr/>
        </p:nvSpPr>
        <p:spPr>
          <a:xfrm>
            <a:off x="666750" y="1390650"/>
            <a:ext cx="3429000" cy="590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300" noProof="1">
                <a:solidFill>
                  <a:srgbClr val="23252D"/>
                </a:solidFill>
                <a:latin typeface="alimamashuheiti"/>
                <a:ea typeface="alimamashuheiti"/>
              </a:rPr>
              <a:t>学习路径</a:t>
            </a:r>
          </a:p>
        </p:txBody>
      </p:sp>
      <p:sp>
        <p:nvSpPr>
          <p:cNvPr id="4" name="dsl:title-bar"/>
          <p:cNvSpPr/>
          <p:nvPr/>
        </p:nvSpPr>
        <p:spPr>
          <a:xfrm>
            <a:off x="666750" y="2114550"/>
            <a:ext cx="609600" cy="47625"/>
          </a:xfrm>
          <a:prstGeom prst="rect">
            <a:avLst/>
          </a:prstGeom>
          <a:solidFill>
            <a:srgbClr val="E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toc-desc|s=$small"/>
          <p:cNvSpPr txBox="1"/>
          <p:nvPr/>
        </p:nvSpPr>
        <p:spPr>
          <a:xfrm>
            <a:off x="666750" y="2362200"/>
            <a:ext cx="314325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5F6B"/>
                </a:solidFill>
                <a:latin typeface="MiSans"/>
                <a:ea typeface="MiSans"/>
              </a:rPr>
              <a:t>五段旅程：先建立直觉，再看清现状，用真实案例验证，最后带走一份能直接抄的实战清单。</a:t>
            </a:r>
          </a:p>
        </p:txBody>
      </p:sp>
      <p:cxnSp>
        <p:nvCxnSpPr>
          <p:cNvPr id="6" name="dsl:divider"/>
          <p:cNvCxnSpPr/>
          <p:nvPr/>
        </p:nvCxnSpPr>
        <p:spPr>
          <a:xfrm>
            <a:off x="4305300" y="1123950"/>
            <a:ext cx="0" cy="4610100"/>
          </a:xfrm>
          <a:prstGeom prst="straightConnector1">
            <a:avLst/>
          </a:prstGeom>
          <a:ln w="12700">
            <a:solidFill>
              <a:srgbClr val="E3E0D8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row-1-bg"/>
          <p:cNvSpPr/>
          <p:nvPr/>
        </p:nvSpPr>
        <p:spPr>
          <a:xfrm>
            <a:off x="4762500" y="1123950"/>
            <a:ext cx="6762750" cy="8001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row-1-num"/>
          <p:cNvSpPr txBox="1"/>
          <p:nvPr/>
        </p:nvSpPr>
        <p:spPr>
          <a:xfrm>
            <a:off x="5010150" y="1123950"/>
            <a:ext cx="609600" cy="800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noProof="1">
                <a:solidFill>
                  <a:srgbClr val="4A44C6"/>
                </a:solidFill>
                <a:latin typeface="alimamashuheiti"/>
                <a:ea typeface="alimamashuheiti"/>
              </a:rPr>
              <a:t>01</a:t>
            </a:r>
          </a:p>
        </p:txBody>
      </p:sp>
      <p:sp>
        <p:nvSpPr>
          <p:cNvPr id="9" name="dsl:row-1-title"/>
          <p:cNvSpPr txBox="1"/>
          <p:nvPr/>
        </p:nvSpPr>
        <p:spPr>
          <a:xfrm>
            <a:off x="5715000" y="1257300"/>
            <a:ext cx="5524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425" noProof="1">
                <a:solidFill>
                  <a:srgbClr val="23252D"/>
                </a:solidFill>
                <a:latin typeface="MiSans"/>
                <a:ea typeface="MiSans"/>
              </a:rPr>
              <a:t>认知重构</a:t>
            </a:r>
          </a:p>
        </p:txBody>
      </p:sp>
      <p:sp>
        <p:nvSpPr>
          <p:cNvPr id="10" name="dsl:row-1-desc"/>
          <p:cNvSpPr txBox="1"/>
          <p:nvPr/>
        </p:nvSpPr>
        <p:spPr>
          <a:xfrm>
            <a:off x="5715000" y="1543050"/>
            <a:ext cx="5524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能力公式：模型只是六个变量之一</a:t>
            </a:r>
          </a:p>
        </p:txBody>
      </p:sp>
      <p:sp>
        <p:nvSpPr>
          <p:cNvPr id="11" name="dsl:row-2-bg"/>
          <p:cNvSpPr/>
          <p:nvPr/>
        </p:nvSpPr>
        <p:spPr>
          <a:xfrm>
            <a:off x="4762500" y="2057400"/>
            <a:ext cx="6762750" cy="8001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row-2-num"/>
          <p:cNvSpPr txBox="1"/>
          <p:nvPr/>
        </p:nvSpPr>
        <p:spPr>
          <a:xfrm>
            <a:off x="5010150" y="2057400"/>
            <a:ext cx="609600" cy="800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noProof="1">
                <a:solidFill>
                  <a:srgbClr val="4A44C6"/>
                </a:solidFill>
                <a:latin typeface="alimamashuheiti"/>
                <a:ea typeface="alimamashuheiti"/>
              </a:rPr>
              <a:t>02</a:t>
            </a:r>
          </a:p>
        </p:txBody>
      </p:sp>
      <p:sp>
        <p:nvSpPr>
          <p:cNvPr id="13" name="dsl:row-2-title"/>
          <p:cNvSpPr txBox="1"/>
          <p:nvPr/>
        </p:nvSpPr>
        <p:spPr>
          <a:xfrm>
            <a:off x="5715000" y="2190750"/>
            <a:ext cx="5524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425" noProof="1">
                <a:solidFill>
                  <a:srgbClr val="23252D"/>
                </a:solidFill>
                <a:latin typeface="MiSans"/>
                <a:ea typeface="MiSans"/>
              </a:rPr>
              <a:t>接口现状</a:t>
            </a:r>
          </a:p>
        </p:txBody>
      </p:sp>
      <p:sp>
        <p:nvSpPr>
          <p:cNvPr id="14" name="dsl:row-2-desc"/>
          <p:cNvSpPr txBox="1"/>
          <p:nvPr/>
        </p:nvSpPr>
        <p:spPr>
          <a:xfrm>
            <a:off x="5715000" y="2476500"/>
            <a:ext cx="5524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推理接口四次进化 · Tool 接口五级台阶</a:t>
            </a:r>
          </a:p>
        </p:txBody>
      </p:sp>
      <p:sp>
        <p:nvSpPr>
          <p:cNvPr id="15" name="dsl:row-3-bg"/>
          <p:cNvSpPr/>
          <p:nvPr/>
        </p:nvSpPr>
        <p:spPr>
          <a:xfrm>
            <a:off x="4762500" y="2990850"/>
            <a:ext cx="6762750" cy="8001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row-3-num"/>
          <p:cNvSpPr txBox="1"/>
          <p:nvPr/>
        </p:nvSpPr>
        <p:spPr>
          <a:xfrm>
            <a:off x="5010150" y="2990850"/>
            <a:ext cx="609600" cy="800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noProof="1">
                <a:solidFill>
                  <a:srgbClr val="4A44C6"/>
                </a:solidFill>
                <a:latin typeface="alimamashuheiti"/>
                <a:ea typeface="alimamashuheiti"/>
              </a:rPr>
              <a:t>03</a:t>
            </a:r>
          </a:p>
        </p:txBody>
      </p:sp>
      <p:sp>
        <p:nvSpPr>
          <p:cNvPr id="17" name="dsl:row-3-title"/>
          <p:cNvSpPr txBox="1"/>
          <p:nvPr/>
        </p:nvSpPr>
        <p:spPr>
          <a:xfrm>
            <a:off x="5715000" y="3124200"/>
            <a:ext cx="5524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425" noProof="1">
                <a:solidFill>
                  <a:srgbClr val="23252D"/>
                </a:solidFill>
                <a:latin typeface="MiSans"/>
                <a:ea typeface="MiSans"/>
              </a:rPr>
              <a:t>协议层</a:t>
            </a:r>
          </a:p>
        </p:txBody>
      </p:sp>
      <p:sp>
        <p:nvSpPr>
          <p:cNvPr id="18" name="dsl:row-3-desc"/>
          <p:cNvSpPr txBox="1"/>
          <p:nvPr/>
        </p:nvSpPr>
        <p:spPr>
          <a:xfrm>
            <a:off x="5715000" y="3409950"/>
            <a:ext cx="5524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MCP · Skill · A2A · Policy/Memory 各管一段</a:t>
            </a:r>
          </a:p>
        </p:txBody>
      </p:sp>
      <p:sp>
        <p:nvSpPr>
          <p:cNvPr id="19" name="dsl:row-4-bg"/>
          <p:cNvSpPr/>
          <p:nvPr/>
        </p:nvSpPr>
        <p:spPr>
          <a:xfrm>
            <a:off x="4762500" y="3924300"/>
            <a:ext cx="6762750" cy="8001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row-4-num"/>
          <p:cNvSpPr txBox="1"/>
          <p:nvPr/>
        </p:nvSpPr>
        <p:spPr>
          <a:xfrm>
            <a:off x="5010150" y="3924300"/>
            <a:ext cx="609600" cy="800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noProof="1">
                <a:solidFill>
                  <a:srgbClr val="4A44C6"/>
                </a:solidFill>
                <a:latin typeface="alimamashuheiti"/>
                <a:ea typeface="alimamashuheiti"/>
              </a:rPr>
              <a:t>04</a:t>
            </a:r>
          </a:p>
        </p:txBody>
      </p:sp>
      <p:sp>
        <p:nvSpPr>
          <p:cNvPr id="21" name="dsl:row-4-title"/>
          <p:cNvSpPr txBox="1"/>
          <p:nvPr/>
        </p:nvSpPr>
        <p:spPr>
          <a:xfrm>
            <a:off x="5715000" y="4057650"/>
            <a:ext cx="5524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425" noProof="1">
                <a:solidFill>
                  <a:srgbClr val="23252D"/>
                </a:solidFill>
                <a:latin typeface="MiSans"/>
                <a:ea typeface="MiSans"/>
              </a:rPr>
              <a:t>案例深扒</a:t>
            </a:r>
          </a:p>
        </p:txBody>
      </p:sp>
      <p:sp>
        <p:nvSpPr>
          <p:cNvPr id="22" name="dsl:row-4-desc"/>
          <p:cNvSpPr txBox="1"/>
          <p:nvPr/>
        </p:nvSpPr>
        <p:spPr>
          <a:xfrm>
            <a:off x="5715000" y="4343400"/>
            <a:ext cx="5524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ARC-AGI-3：同一个模型，分数如何翻三倍</a:t>
            </a:r>
          </a:p>
        </p:txBody>
      </p:sp>
      <p:sp>
        <p:nvSpPr>
          <p:cNvPr id="23" name="dsl:row-5-bg"/>
          <p:cNvSpPr/>
          <p:nvPr/>
        </p:nvSpPr>
        <p:spPr>
          <a:xfrm>
            <a:off x="4762500" y="4857750"/>
            <a:ext cx="6762750" cy="8001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l:row-5-num"/>
          <p:cNvSpPr txBox="1"/>
          <p:nvPr/>
        </p:nvSpPr>
        <p:spPr>
          <a:xfrm>
            <a:off x="5010150" y="4857750"/>
            <a:ext cx="609600" cy="800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noProof="1">
                <a:solidFill>
                  <a:srgbClr val="4A44C6"/>
                </a:solidFill>
                <a:latin typeface="alimamashuheiti"/>
                <a:ea typeface="alimamashuheiti"/>
              </a:rPr>
              <a:t>05</a:t>
            </a:r>
          </a:p>
        </p:txBody>
      </p:sp>
      <p:sp>
        <p:nvSpPr>
          <p:cNvPr id="25" name="dsl:row-5-title"/>
          <p:cNvSpPr txBox="1"/>
          <p:nvPr/>
        </p:nvSpPr>
        <p:spPr>
          <a:xfrm>
            <a:off x="5715000" y="4991100"/>
            <a:ext cx="5524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425" noProof="1">
                <a:solidFill>
                  <a:srgbClr val="23252D"/>
                </a:solidFill>
                <a:latin typeface="MiSans"/>
                <a:ea typeface="MiSans"/>
              </a:rPr>
              <a:t>实战与未来</a:t>
            </a:r>
          </a:p>
        </p:txBody>
      </p:sp>
      <p:sp>
        <p:nvSpPr>
          <p:cNvPr id="26" name="dsl:row-5-desc"/>
          <p:cNvSpPr txBox="1"/>
          <p:nvPr/>
        </p:nvSpPr>
        <p:spPr>
          <a:xfrm>
            <a:off x="5715000" y="5276850"/>
            <a:ext cx="5524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八个可直接抄的 Tricks · 下一代接口长什么样</a:t>
            </a:r>
          </a:p>
        </p:txBody>
      </p:sp>
      <p:sp>
        <p:nvSpPr>
          <p:cNvPr id="27" name="dsl:page-num|s=$small"/>
          <p:cNvSpPr txBox="1"/>
          <p:nvPr/>
        </p:nvSpPr>
        <p:spPr>
          <a:xfrm>
            <a:off x="10763250" y="65341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6233F"/>
            </a:gs>
            <a:gs pos="100000">
              <a:srgbClr val="322A9E"/>
            </a:gs>
          </a:gsLst>
          <a:lin scaled="1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big-num"/>
          <p:cNvSpPr txBox="1"/>
          <p:nvPr/>
        </p:nvSpPr>
        <p:spPr>
          <a:xfrm>
            <a:off x="7239000" y="1524000"/>
            <a:ext cx="4191000" cy="1905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11250" noProof="1">
                <a:solidFill>
                  <a:srgbClr val="FFFFFF">
                    <a:alpha val="7843"/>
                  </a:srgbClr>
                </a:solidFill>
                <a:latin typeface="alimamashuheiti"/>
                <a:ea typeface="alimamashuheiti"/>
              </a:rPr>
              <a:t>01</a:t>
            </a:r>
          </a:p>
        </p:txBody>
      </p:sp>
      <p:sp>
        <p:nvSpPr>
          <p:cNvPr id="3" name="dsl:kicker"/>
          <p:cNvSpPr txBox="1"/>
          <p:nvPr/>
        </p:nvSpPr>
        <p:spPr>
          <a:xfrm>
            <a:off x="857250" y="2400300"/>
            <a:ext cx="4000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25" noProof="1" spc="300">
                <a:solidFill>
                  <a:srgbClr val="B9B4E0"/>
                </a:solidFill>
                <a:latin typeface="MiSans"/>
                <a:ea typeface="MiSans"/>
              </a:rPr>
              <a:t>CHAPTER 01</a:t>
            </a:r>
          </a:p>
        </p:txBody>
      </p:sp>
      <p:sp>
        <p:nvSpPr>
          <p:cNvPr id="4" name="dsl:ch-bar"/>
          <p:cNvSpPr/>
          <p:nvPr/>
        </p:nvSpPr>
        <p:spPr>
          <a:xfrm>
            <a:off x="857250" y="2781300"/>
            <a:ext cx="609600" cy="47625"/>
          </a:xfrm>
          <a:prstGeom prst="rect">
            <a:avLst/>
          </a:prstGeom>
          <a:solidFill>
            <a:srgbClr val="E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ch-title"/>
          <p:cNvSpPr txBox="1"/>
          <p:nvPr/>
        </p:nvSpPr>
        <p:spPr>
          <a:xfrm>
            <a:off x="857250" y="2971800"/>
            <a:ext cx="6096000" cy="628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300" noProof="1">
                <a:solidFill>
                  <a:srgbClr val="FFFFFF"/>
                </a:solidFill>
                <a:latin typeface="alimamashuheiti"/>
                <a:ea typeface="alimamashuheiti"/>
              </a:rPr>
              <a:t>认知重构</a:t>
            </a:r>
          </a:p>
        </p:txBody>
      </p:sp>
      <p:sp>
        <p:nvSpPr>
          <p:cNvPr id="6" name="dsl:ch-sub"/>
          <p:cNvSpPr txBox="1"/>
          <p:nvPr/>
        </p:nvSpPr>
        <p:spPr>
          <a:xfrm>
            <a:off x="857250" y="3771900"/>
            <a:ext cx="7429500" cy="666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425" noProof="1">
                <a:solidFill>
                  <a:srgbClr val="CFCAE8"/>
                </a:solidFill>
                <a:latin typeface="MiSans"/>
                <a:ea typeface="MiSans"/>
              </a:rPr>
              <a:t>模型 ≠ 你观察到的能力。传统 Chat API 暴露的是"说话能力"，下一代 Agent API 暴露的是"持续工作的能力"。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666750" y="381000"/>
            <a:ext cx="6667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 spc="225">
                <a:solidFill>
                  <a:srgbClr val="4A44C6"/>
                </a:solidFill>
                <a:latin typeface="MiSans"/>
                <a:ea typeface="MiSans"/>
              </a:rPr>
              <a:t>PART 01 · 认知重构</a:t>
            </a:r>
          </a:p>
        </p:txBody>
      </p:sp>
      <p:sp>
        <p:nvSpPr>
          <p:cNvPr id="3" name="dsl:title|s=$title"/>
          <p:cNvSpPr txBox="1"/>
          <p:nvPr/>
        </p:nvSpPr>
        <p:spPr>
          <a:xfrm>
            <a:off x="666750" y="62865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250" noProof="1">
                <a:solidFill>
                  <a:srgbClr val="23252D"/>
                </a:solidFill>
                <a:latin typeface="alimamashuheiti"/>
                <a:ea typeface="alimamashuheiti"/>
              </a:rPr>
              <a:t>能力公式：模型只是六个变量之一</a:t>
            </a:r>
          </a:p>
        </p:txBody>
      </p:sp>
      <p:sp>
        <p:nvSpPr>
          <p:cNvPr id="4" name="dsl:title-bar"/>
          <p:cNvSpPr/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E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formula-bg"/>
          <p:cNvSpPr/>
          <p:nvPr/>
        </p:nvSpPr>
        <p:spPr>
          <a:xfrm>
            <a:off x="666750" y="1352550"/>
            <a:ext cx="10858500" cy="990600"/>
          </a:xfrm>
          <a:prstGeom prst="roundRect">
            <a:avLst>
              <a:gd name="adj" fmla="val 10000"/>
            </a:avLst>
          </a:prstGeom>
          <a:solidFill>
            <a:srgbClr val="26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formula-text"/>
          <p:cNvSpPr txBox="1"/>
          <p:nvPr/>
        </p:nvSpPr>
        <p:spPr>
          <a:xfrm>
            <a:off x="952500" y="1352550"/>
            <a:ext cx="10287000" cy="990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sz="1425" noProof="1">
                <a:solidFill>
                  <a:srgbClr val="C9C3FF"/>
                </a:solidFill>
                <a:latin typeface="MiSans"/>
                <a:ea typeface="MiSans"/>
              </a:rPr>
              <a:t>Observed Capability = F( </a:t>
            </a:r>
            <a:r>
              <a:rPr b="1" sz="1425" noProof="1">
                <a:solidFill>
                  <a:srgbClr val="F2B98C"/>
                </a:solidFill>
                <a:latin typeface="MiSans"/>
                <a:ea typeface="MiSans"/>
              </a:rPr>
              <a:t>Model</a:t>
            </a:r>
            <a:r>
              <a:rPr sz="1425" noProof="1">
                <a:solidFill>
                  <a:srgbClr val="C9C3FF"/>
                </a:solidFill>
                <a:latin typeface="MiSans"/>
                <a:ea typeface="MiSans"/>
              </a:rPr>
              <a:t>, Inference API, Reasoning State,</a:t>
            </a:r>
          </a:p>
          <a:p>
            <a:pPr algn="ctr">
              <a:lnSpc>
                <a:spcPct val="150000"/>
              </a:lnSpc>
            </a:pPr>
            <a:r>
              <a:rPr sz="1425" noProof="1">
                <a:solidFill>
                  <a:srgbClr val="C9C3FF"/>
                </a:solidFill>
                <a:latin typeface="MiSans"/>
                <a:ea typeface="MiSans"/>
              </a:rPr>
              <a:t>Context Policy, Tools, Harness )</a:t>
            </a:r>
          </a:p>
        </p:txBody>
      </p:sp>
      <p:sp>
        <p:nvSpPr>
          <p:cNvPr id="7" name="dsl:v1-bg"/>
          <p:cNvSpPr/>
          <p:nvPr/>
        </p:nvSpPr>
        <p:spPr>
          <a:xfrm>
            <a:off x="666750" y="2590800"/>
            <a:ext cx="3429000" cy="876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v1-name"/>
          <p:cNvSpPr txBox="1"/>
          <p:nvPr/>
        </p:nvSpPr>
        <p:spPr>
          <a:xfrm>
            <a:off x="876300" y="2705100"/>
            <a:ext cx="3009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75" noProof="1">
                <a:solidFill>
                  <a:srgbClr val="4A44C6"/>
                </a:solidFill>
                <a:latin typeface="MiSans"/>
                <a:ea typeface="MiSans"/>
              </a:rPr>
              <a:t>① Model</a:t>
            </a:r>
          </a:p>
        </p:txBody>
      </p:sp>
      <p:sp>
        <p:nvSpPr>
          <p:cNvPr id="9" name="dsl:v1-desc"/>
          <p:cNvSpPr txBox="1"/>
          <p:nvPr/>
        </p:nvSpPr>
        <p:spPr>
          <a:xfrm>
            <a:off x="876300" y="2971800"/>
            <a:ext cx="30099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模型权重与固有能力——只是六项之一</a:t>
            </a:r>
          </a:p>
        </p:txBody>
      </p:sp>
      <p:sp>
        <p:nvSpPr>
          <p:cNvPr id="10" name="dsl:v2-bg"/>
          <p:cNvSpPr/>
          <p:nvPr/>
        </p:nvSpPr>
        <p:spPr>
          <a:xfrm>
            <a:off x="4381500" y="2590800"/>
            <a:ext cx="3429000" cy="876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v2-name"/>
          <p:cNvSpPr txBox="1"/>
          <p:nvPr/>
        </p:nvSpPr>
        <p:spPr>
          <a:xfrm>
            <a:off x="4591050" y="2705100"/>
            <a:ext cx="3009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75" noProof="1">
                <a:solidFill>
                  <a:srgbClr val="4A44C6"/>
                </a:solidFill>
                <a:latin typeface="MiSans"/>
                <a:ea typeface="MiSans"/>
              </a:rPr>
              <a:t>② Inference API</a:t>
            </a:r>
          </a:p>
        </p:txBody>
      </p:sp>
      <p:sp>
        <p:nvSpPr>
          <p:cNvPr id="12" name="dsl:v2-desc"/>
          <p:cNvSpPr txBox="1"/>
          <p:nvPr/>
        </p:nvSpPr>
        <p:spPr>
          <a:xfrm>
            <a:off x="4591050" y="2971800"/>
            <a:ext cx="30099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Chat / Responses / Realtime / Async 的选择</a:t>
            </a:r>
          </a:p>
        </p:txBody>
      </p:sp>
      <p:sp>
        <p:nvSpPr>
          <p:cNvPr id="13" name="dsl:v3-bg"/>
          <p:cNvSpPr/>
          <p:nvPr/>
        </p:nvSpPr>
        <p:spPr>
          <a:xfrm>
            <a:off x="8096250" y="2590800"/>
            <a:ext cx="3429000" cy="876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v3-name"/>
          <p:cNvSpPr txBox="1"/>
          <p:nvPr/>
        </p:nvSpPr>
        <p:spPr>
          <a:xfrm>
            <a:off x="8305800" y="2705100"/>
            <a:ext cx="3009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75" noProof="1">
                <a:solidFill>
                  <a:srgbClr val="4A44C6"/>
                </a:solidFill>
                <a:latin typeface="MiSans"/>
                <a:ea typeface="MiSans"/>
              </a:rPr>
              <a:t>③ Reasoning State</a:t>
            </a:r>
          </a:p>
        </p:txBody>
      </p:sp>
      <p:sp>
        <p:nvSpPr>
          <p:cNvPr id="15" name="dsl:v3-desc"/>
          <p:cNvSpPr txBox="1"/>
          <p:nvPr/>
        </p:nvSpPr>
        <p:spPr>
          <a:xfrm>
            <a:off x="8305800" y="2971800"/>
            <a:ext cx="30099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跨回合的推理连续性是否被保留</a:t>
            </a:r>
          </a:p>
        </p:txBody>
      </p:sp>
      <p:sp>
        <p:nvSpPr>
          <p:cNvPr id="16" name="dsl:v4-bg"/>
          <p:cNvSpPr/>
          <p:nvPr/>
        </p:nvSpPr>
        <p:spPr>
          <a:xfrm>
            <a:off x="666750" y="3619500"/>
            <a:ext cx="3429000" cy="876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v4-name"/>
          <p:cNvSpPr txBox="1"/>
          <p:nvPr/>
        </p:nvSpPr>
        <p:spPr>
          <a:xfrm>
            <a:off x="876300" y="3733800"/>
            <a:ext cx="3009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75" noProof="1">
                <a:solidFill>
                  <a:srgbClr val="4A44C6"/>
                </a:solidFill>
                <a:latin typeface="MiSans"/>
                <a:ea typeface="MiSans"/>
              </a:rPr>
              <a:t>④ Context Policy</a:t>
            </a:r>
          </a:p>
        </p:txBody>
      </p:sp>
      <p:sp>
        <p:nvSpPr>
          <p:cNvPr id="18" name="dsl:v4-desc"/>
          <p:cNvSpPr txBox="1"/>
          <p:nvPr/>
        </p:nvSpPr>
        <p:spPr>
          <a:xfrm>
            <a:off x="876300" y="4000500"/>
            <a:ext cx="30099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压缩、截断与回放策略</a:t>
            </a:r>
          </a:p>
        </p:txBody>
      </p:sp>
      <p:sp>
        <p:nvSpPr>
          <p:cNvPr id="19" name="dsl:v5-bg"/>
          <p:cNvSpPr/>
          <p:nvPr/>
        </p:nvSpPr>
        <p:spPr>
          <a:xfrm>
            <a:off x="4381500" y="3619500"/>
            <a:ext cx="3429000" cy="876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v5-name"/>
          <p:cNvSpPr txBox="1"/>
          <p:nvPr/>
        </p:nvSpPr>
        <p:spPr>
          <a:xfrm>
            <a:off x="4591050" y="3733800"/>
            <a:ext cx="3009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75" noProof="1">
                <a:solidFill>
                  <a:srgbClr val="4A44C6"/>
                </a:solidFill>
                <a:latin typeface="MiSans"/>
                <a:ea typeface="MiSans"/>
              </a:rPr>
              <a:t>⑤ Tools</a:t>
            </a:r>
          </a:p>
        </p:txBody>
      </p:sp>
      <p:sp>
        <p:nvSpPr>
          <p:cNvPr id="21" name="dsl:v5-desc"/>
          <p:cNvSpPr txBox="1"/>
          <p:nvPr/>
        </p:nvSpPr>
        <p:spPr>
          <a:xfrm>
            <a:off x="4591050" y="4000500"/>
            <a:ext cx="30099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工具的定义、加载与执行方式</a:t>
            </a:r>
          </a:p>
        </p:txBody>
      </p:sp>
      <p:sp>
        <p:nvSpPr>
          <p:cNvPr id="22" name="dsl:v6-bg"/>
          <p:cNvSpPr/>
          <p:nvPr/>
        </p:nvSpPr>
        <p:spPr>
          <a:xfrm>
            <a:off x="8096250" y="3619500"/>
            <a:ext cx="3429000" cy="876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v6-name"/>
          <p:cNvSpPr txBox="1"/>
          <p:nvPr/>
        </p:nvSpPr>
        <p:spPr>
          <a:xfrm>
            <a:off x="8305800" y="3733800"/>
            <a:ext cx="3009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75" noProof="1">
                <a:solidFill>
                  <a:srgbClr val="4A44C6"/>
                </a:solidFill>
                <a:latin typeface="MiSans"/>
                <a:ea typeface="MiSans"/>
              </a:rPr>
              <a:t>⑥ Harness</a:t>
            </a:r>
          </a:p>
        </p:txBody>
      </p:sp>
      <p:sp>
        <p:nvSpPr>
          <p:cNvPr id="24" name="dsl:v6-desc"/>
          <p:cNvSpPr txBox="1"/>
          <p:nvPr/>
        </p:nvSpPr>
        <p:spPr>
          <a:xfrm>
            <a:off x="8305800" y="4000500"/>
            <a:ext cx="30099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重试、审批、沙箱等执行环境</a:t>
            </a:r>
          </a:p>
        </p:txBody>
      </p:sp>
      <p:sp>
        <p:nvSpPr>
          <p:cNvPr id="25" name="dsl:analogy-bg"/>
          <p:cNvSpPr/>
          <p:nvPr/>
        </p:nvSpPr>
        <p:spPr>
          <a:xfrm>
            <a:off x="666750" y="4762500"/>
            <a:ext cx="10858500" cy="1295400"/>
          </a:xfrm>
          <a:prstGeom prst="roundRect">
            <a:avLst>
              <a:gd name="adj" fmla="val 10000"/>
            </a:avLst>
          </a:prstGeom>
          <a:solidFill>
            <a:srgbClr val="FC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analogy-title"/>
          <p:cNvSpPr txBox="1"/>
          <p:nvPr/>
        </p:nvSpPr>
        <p:spPr>
          <a:xfrm>
            <a:off x="952500" y="4914900"/>
            <a:ext cx="38100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E8863A"/>
                </a:solidFill>
                <a:latin typeface="MiSans"/>
                <a:ea typeface="MiSans"/>
              </a:rPr>
              <a:t>🧑‍🍳 打个比方（全场最重要的类比）</a:t>
            </a:r>
          </a:p>
        </p:txBody>
      </p:sp>
      <p:sp>
        <p:nvSpPr>
          <p:cNvPr id="27" name="dsl:analogy-text"/>
          <p:cNvSpPr txBox="1"/>
          <p:nvPr/>
        </p:nvSpPr>
        <p:spPr>
          <a:xfrm>
            <a:off x="952500" y="5219700"/>
            <a:ext cx="10287000" cy="723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125" noProof="1">
                <a:solidFill>
                  <a:srgbClr val="23252D"/>
                </a:solidFill>
                <a:latin typeface="MiSans"/>
                <a:ea typeface="MiSans"/>
              </a:rPr>
              <a:t>把模型想成一位厨艺精湛的厨师。Chat API = 你站在厨房门口口头点单，厨师做完一道就忘；Agent Runtime = 给厨师一间自己的厨房：记事本（推理状态）、储物架（上下文管理）、工具架（Tools）和操作规范（Policy）。厨师还是同一个，你吃到的菜却完全不是一个水平。</a:t>
            </a:r>
          </a:p>
        </p:txBody>
      </p:sp>
      <p:cxnSp>
        <p:nvCxnSpPr>
          <p:cNvPr id="28" name="dsl:footer-line"/>
          <p:cNvCxnSpPr/>
          <p:nvPr/>
        </p:nvCxnSpPr>
        <p:spPr>
          <a:xfrm>
            <a:off x="666750" y="6438900"/>
            <a:ext cx="10858500" cy="0"/>
          </a:xfrm>
          <a:prstGeom prst="straightConnector1">
            <a:avLst/>
          </a:prstGeom>
          <a:ln w="12700">
            <a:solidFill>
              <a:srgbClr val="E3E0D8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sl:footer-left|s=$small"/>
          <p:cNvSpPr txBox="1"/>
          <p:nvPr/>
        </p:nvSpPr>
        <p:spPr>
          <a:xfrm>
            <a:off x="666750" y="6534150"/>
            <a:ext cx="4762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从 Chat API 到 Agent Runtime · 技术分享</a:t>
            </a:r>
          </a:p>
        </p:txBody>
      </p:sp>
      <p:sp>
        <p:nvSpPr>
          <p:cNvPr id="30" name="dsl:page-num|s=$small"/>
          <p:cNvSpPr txBox="1"/>
          <p:nvPr/>
        </p:nvSpPr>
        <p:spPr>
          <a:xfrm>
            <a:off x="10763250" y="65341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6233F"/>
            </a:gs>
            <a:gs pos="100000">
              <a:srgbClr val="322A9E"/>
            </a:gs>
          </a:gsLst>
          <a:lin scaled="1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big-num"/>
          <p:cNvSpPr txBox="1"/>
          <p:nvPr/>
        </p:nvSpPr>
        <p:spPr>
          <a:xfrm>
            <a:off x="7239000" y="1524000"/>
            <a:ext cx="4191000" cy="1905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11250" noProof="1">
                <a:solidFill>
                  <a:srgbClr val="FFFFFF">
                    <a:alpha val="7843"/>
                  </a:srgbClr>
                </a:solidFill>
                <a:latin typeface="alimamashuheiti"/>
                <a:ea typeface="alimamashuheiti"/>
              </a:rPr>
              <a:t>02</a:t>
            </a:r>
          </a:p>
        </p:txBody>
      </p:sp>
      <p:sp>
        <p:nvSpPr>
          <p:cNvPr id="3" name="dsl:kicker"/>
          <p:cNvSpPr txBox="1"/>
          <p:nvPr/>
        </p:nvSpPr>
        <p:spPr>
          <a:xfrm>
            <a:off x="857250" y="2400300"/>
            <a:ext cx="4000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25" noProof="1" spc="300">
                <a:solidFill>
                  <a:srgbClr val="B9B4E0"/>
                </a:solidFill>
                <a:latin typeface="MiSans"/>
                <a:ea typeface="MiSans"/>
              </a:rPr>
              <a:t>CHAPTER 02</a:t>
            </a:r>
          </a:p>
        </p:txBody>
      </p:sp>
      <p:sp>
        <p:nvSpPr>
          <p:cNvPr id="4" name="dsl:ch-bar"/>
          <p:cNvSpPr/>
          <p:nvPr/>
        </p:nvSpPr>
        <p:spPr>
          <a:xfrm>
            <a:off x="857250" y="2781300"/>
            <a:ext cx="609600" cy="47625"/>
          </a:xfrm>
          <a:prstGeom prst="rect">
            <a:avLst/>
          </a:prstGeom>
          <a:solidFill>
            <a:srgbClr val="E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ch-title"/>
          <p:cNvSpPr txBox="1"/>
          <p:nvPr/>
        </p:nvSpPr>
        <p:spPr>
          <a:xfrm>
            <a:off x="857250" y="2971800"/>
            <a:ext cx="6096000" cy="628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300" noProof="1">
                <a:solidFill>
                  <a:srgbClr val="FFFFFF"/>
                </a:solidFill>
                <a:latin typeface="alimamashuheiti"/>
                <a:ea typeface="alimamashuheiti"/>
              </a:rPr>
              <a:t>接口现状</a:t>
            </a:r>
          </a:p>
        </p:txBody>
      </p:sp>
      <p:sp>
        <p:nvSpPr>
          <p:cNvPr id="6" name="dsl:ch-sub"/>
          <p:cNvSpPr txBox="1"/>
          <p:nvPr/>
        </p:nvSpPr>
        <p:spPr>
          <a:xfrm>
            <a:off x="857250" y="3771900"/>
            <a:ext cx="7810500" cy="666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425" noProof="1">
                <a:solidFill>
                  <a:srgbClr val="CFCAE8"/>
                </a:solidFill>
                <a:latin typeface="MiSans"/>
                <a:ea typeface="MiSans"/>
              </a:rPr>
              <a:t>推理接口与工具接口的共同主线——从"一次性问答"走向"持续工作的运行时"。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666750" y="381000"/>
            <a:ext cx="6667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 spc="225">
                <a:solidFill>
                  <a:srgbClr val="4A44C6"/>
                </a:solidFill>
                <a:latin typeface="MiSans"/>
                <a:ea typeface="MiSans"/>
              </a:rPr>
              <a:t>PART 02 · 接口现状</a:t>
            </a:r>
          </a:p>
        </p:txBody>
      </p:sp>
      <p:sp>
        <p:nvSpPr>
          <p:cNvPr id="3" name="dsl:title|s=$title"/>
          <p:cNvSpPr txBox="1"/>
          <p:nvPr/>
        </p:nvSpPr>
        <p:spPr>
          <a:xfrm>
            <a:off x="666750" y="62865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250" noProof="1">
                <a:solidFill>
                  <a:srgbClr val="23252D"/>
                </a:solidFill>
                <a:latin typeface="alimamashuheiti"/>
                <a:ea typeface="alimamashuheiti"/>
              </a:rPr>
              <a:t>推理接口的四次进化</a:t>
            </a:r>
          </a:p>
        </p:txBody>
      </p:sp>
      <p:sp>
        <p:nvSpPr>
          <p:cNvPr id="4" name="dsl:title-bar"/>
          <p:cNvSpPr/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E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era-1-bg"/>
          <p:cNvSpPr/>
          <p:nvPr/>
        </p:nvSpPr>
        <p:spPr>
          <a:xfrm>
            <a:off x="666750" y="1333500"/>
            <a:ext cx="2514600" cy="10096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era-1-tag"/>
          <p:cNvSpPr txBox="1"/>
          <p:nvPr/>
        </p:nvSpPr>
        <p:spPr>
          <a:xfrm>
            <a:off x="857250" y="1447800"/>
            <a:ext cx="21336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" noProof="1">
                <a:solidFill>
                  <a:srgbClr val="4A44C6"/>
                </a:solidFill>
                <a:latin typeface="MiSans"/>
                <a:ea typeface="MiSans"/>
              </a:rPr>
              <a:t>第一代</a:t>
            </a:r>
          </a:p>
        </p:txBody>
      </p:sp>
      <p:sp>
        <p:nvSpPr>
          <p:cNvPr id="7" name="dsl:era-1-name"/>
          <p:cNvSpPr txBox="1"/>
          <p:nvPr/>
        </p:nvSpPr>
        <p:spPr>
          <a:xfrm>
            <a:off x="857250" y="1657350"/>
            <a:ext cx="21336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23252D"/>
                </a:solidFill>
                <a:latin typeface="MiSans"/>
                <a:ea typeface="MiSans"/>
              </a:rPr>
              <a:t>Chat / Message API</a:t>
            </a:r>
          </a:p>
        </p:txBody>
      </p:sp>
      <p:sp>
        <p:nvSpPr>
          <p:cNvPr id="8" name="dsl:era-1-desc"/>
          <p:cNvSpPr txBox="1"/>
          <p:nvPr/>
        </p:nvSpPr>
        <p:spPr>
          <a:xfrm>
            <a:off x="857250" y="1924050"/>
            <a:ext cx="21336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noProof="1">
                <a:solidFill>
                  <a:srgbClr val="5C5F6B"/>
                </a:solidFill>
                <a:latin typeface="MiSans"/>
                <a:ea typeface="MiSans"/>
              </a:rPr>
              <a:t>messages 进 message 出，推理状态用完即弃</a:t>
            </a:r>
          </a:p>
        </p:txBody>
      </p:sp>
      <p:sp>
        <p:nvSpPr>
          <p:cNvPr id="9" name="dsl:era-arrow-1"/>
          <p:cNvSpPr txBox="1"/>
          <p:nvPr/>
        </p:nvSpPr>
        <p:spPr>
          <a:xfrm>
            <a:off x="3181350" y="1333500"/>
            <a:ext cx="266700" cy="1009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650" noProof="1">
                <a:solidFill>
                  <a:srgbClr val="4A44C6"/>
                </a:solidFill>
                <a:latin typeface="MiSans"/>
                <a:ea typeface="MiSans"/>
              </a:rPr>
              <a:t>→</a:t>
            </a:r>
          </a:p>
        </p:txBody>
      </p:sp>
      <p:sp>
        <p:nvSpPr>
          <p:cNvPr id="10" name="dsl:era-2-bg"/>
          <p:cNvSpPr/>
          <p:nvPr/>
        </p:nvSpPr>
        <p:spPr>
          <a:xfrm>
            <a:off x="3448050" y="1333500"/>
            <a:ext cx="2514600" cy="1009650"/>
          </a:xfrm>
          <a:prstGeom prst="roundRect">
            <a:avLst>
              <a:gd name="adj" fmla="val 10000"/>
            </a:avLst>
          </a:prstGeom>
          <a:solidFill>
            <a:srgbClr val="EC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era-2-tag"/>
          <p:cNvSpPr txBox="1"/>
          <p:nvPr/>
        </p:nvSpPr>
        <p:spPr>
          <a:xfrm>
            <a:off x="3638550" y="1447800"/>
            <a:ext cx="21336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" noProof="1">
                <a:solidFill>
                  <a:srgbClr val="4A44C6"/>
                </a:solidFill>
                <a:latin typeface="MiSans"/>
                <a:ea typeface="MiSans"/>
              </a:rPr>
              <a:t>第二代</a:t>
            </a:r>
          </a:p>
        </p:txBody>
      </p:sp>
      <p:sp>
        <p:nvSpPr>
          <p:cNvPr id="12" name="dsl:era-2-name"/>
          <p:cNvSpPr txBox="1"/>
          <p:nvPr/>
        </p:nvSpPr>
        <p:spPr>
          <a:xfrm>
            <a:off x="3638550" y="1657350"/>
            <a:ext cx="21336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23252D"/>
                </a:solidFill>
                <a:latin typeface="MiSans"/>
                <a:ea typeface="MiSans"/>
              </a:rPr>
              <a:t>Responses-like API</a:t>
            </a:r>
          </a:p>
        </p:txBody>
      </p:sp>
      <p:sp>
        <p:nvSpPr>
          <p:cNvPr id="13" name="dsl:era-2-desc"/>
          <p:cNvSpPr txBox="1"/>
          <p:nvPr/>
        </p:nvSpPr>
        <p:spPr>
          <a:xfrm>
            <a:off x="3638550" y="1924050"/>
            <a:ext cx="21336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noProof="1">
                <a:solidFill>
                  <a:srgbClr val="5C5F6B"/>
                </a:solidFill>
                <a:latin typeface="MiSans"/>
                <a:ea typeface="MiSans"/>
              </a:rPr>
              <a:t>运行拆成 Item，状态可跨回合接力</a:t>
            </a:r>
          </a:p>
        </p:txBody>
      </p:sp>
      <p:sp>
        <p:nvSpPr>
          <p:cNvPr id="14" name="dsl:era-arrow-2"/>
          <p:cNvSpPr txBox="1"/>
          <p:nvPr/>
        </p:nvSpPr>
        <p:spPr>
          <a:xfrm>
            <a:off x="5962650" y="1333500"/>
            <a:ext cx="266700" cy="1009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650" noProof="1">
                <a:solidFill>
                  <a:srgbClr val="4A44C6"/>
                </a:solidFill>
                <a:latin typeface="MiSans"/>
                <a:ea typeface="MiSans"/>
              </a:rPr>
              <a:t>→</a:t>
            </a:r>
          </a:p>
        </p:txBody>
      </p:sp>
      <p:sp>
        <p:nvSpPr>
          <p:cNvPr id="15" name="dsl:era-3-bg"/>
          <p:cNvSpPr/>
          <p:nvPr/>
        </p:nvSpPr>
        <p:spPr>
          <a:xfrm>
            <a:off x="6229350" y="1333500"/>
            <a:ext cx="2514600" cy="10096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era-3-tag"/>
          <p:cNvSpPr txBox="1"/>
          <p:nvPr/>
        </p:nvSpPr>
        <p:spPr>
          <a:xfrm>
            <a:off x="6419850" y="1447800"/>
            <a:ext cx="21336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" noProof="1">
                <a:solidFill>
                  <a:srgbClr val="4A44C6"/>
                </a:solidFill>
                <a:latin typeface="MiSans"/>
                <a:ea typeface="MiSans"/>
              </a:rPr>
              <a:t>另一条轴 · 节奏</a:t>
            </a:r>
          </a:p>
        </p:txBody>
      </p:sp>
      <p:sp>
        <p:nvSpPr>
          <p:cNvPr id="17" name="dsl:era-3-name"/>
          <p:cNvSpPr txBox="1"/>
          <p:nvPr/>
        </p:nvSpPr>
        <p:spPr>
          <a:xfrm>
            <a:off x="6419850" y="1657350"/>
            <a:ext cx="21336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23252D"/>
                </a:solidFill>
                <a:latin typeface="MiSans"/>
                <a:ea typeface="MiSans"/>
              </a:rPr>
              <a:t>Realtime API</a:t>
            </a:r>
          </a:p>
        </p:txBody>
      </p:sp>
      <p:sp>
        <p:nvSpPr>
          <p:cNvPr id="18" name="dsl:era-3-desc"/>
          <p:cNvSpPr txBox="1"/>
          <p:nvPr/>
        </p:nvSpPr>
        <p:spPr>
          <a:xfrm>
            <a:off x="6419850" y="1924050"/>
            <a:ext cx="21336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noProof="1">
                <a:solidFill>
                  <a:srgbClr val="5C5F6B"/>
                </a:solidFill>
                <a:latin typeface="MiSans"/>
                <a:ea typeface="MiSans"/>
              </a:rPr>
              <a:t>持续连接、低延迟、可打断</a:t>
            </a:r>
          </a:p>
        </p:txBody>
      </p:sp>
      <p:sp>
        <p:nvSpPr>
          <p:cNvPr id="19" name="dsl:era-arrow-3"/>
          <p:cNvSpPr txBox="1"/>
          <p:nvPr/>
        </p:nvSpPr>
        <p:spPr>
          <a:xfrm>
            <a:off x="8743950" y="1333500"/>
            <a:ext cx="266700" cy="1009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650" noProof="1">
                <a:solidFill>
                  <a:srgbClr val="4A44C6"/>
                </a:solidFill>
                <a:latin typeface="MiSans"/>
                <a:ea typeface="MiSans"/>
              </a:rPr>
              <a:t>→</a:t>
            </a:r>
          </a:p>
        </p:txBody>
      </p:sp>
      <p:sp>
        <p:nvSpPr>
          <p:cNvPr id="20" name="dsl:era-4-bg"/>
          <p:cNvSpPr/>
          <p:nvPr/>
        </p:nvSpPr>
        <p:spPr>
          <a:xfrm>
            <a:off x="9010650" y="1333500"/>
            <a:ext cx="2514600" cy="10096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era-4-tag"/>
          <p:cNvSpPr txBox="1"/>
          <p:nvPr/>
        </p:nvSpPr>
        <p:spPr>
          <a:xfrm>
            <a:off x="9201150" y="1447800"/>
            <a:ext cx="21336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" noProof="1">
                <a:solidFill>
                  <a:srgbClr val="4A44C6"/>
                </a:solidFill>
                <a:latin typeface="MiSans"/>
                <a:ea typeface="MiSans"/>
              </a:rPr>
              <a:t>另一条轴 · 寿命</a:t>
            </a:r>
          </a:p>
        </p:txBody>
      </p:sp>
      <p:sp>
        <p:nvSpPr>
          <p:cNvPr id="22" name="dsl:era-4-name"/>
          <p:cNvSpPr txBox="1"/>
          <p:nvPr/>
        </p:nvSpPr>
        <p:spPr>
          <a:xfrm>
            <a:off x="9201150" y="1657350"/>
            <a:ext cx="21336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23252D"/>
                </a:solidFill>
                <a:latin typeface="MiSans"/>
                <a:ea typeface="MiSans"/>
              </a:rPr>
              <a:t>Async / Background</a:t>
            </a:r>
          </a:p>
        </p:txBody>
      </p:sp>
      <p:sp>
        <p:nvSpPr>
          <p:cNvPr id="23" name="dsl:era-4-desc"/>
          <p:cNvSpPr txBox="1"/>
          <p:nvPr/>
        </p:nvSpPr>
        <p:spPr>
          <a:xfrm>
            <a:off x="9201150" y="1924050"/>
            <a:ext cx="21336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noProof="1">
                <a:solidFill>
                  <a:srgbClr val="5C5F6B"/>
                </a:solidFill>
                <a:latin typeface="MiSans"/>
                <a:ea typeface="MiSans"/>
              </a:rPr>
              <a:t>长耗时执行、断线恢复、轮询通知</a:t>
            </a:r>
          </a:p>
        </p:txBody>
      </p:sp>
      <p:graphicFrame>
        <p:nvGraphicFramePr>
          <p:cNvPr id="24" name="dsl:api-table"/>
          <p:cNvGraphicFramePr>
            <a:graphicFrameLocks noGrp="1"/>
          </p:cNvGraphicFramePr>
          <p:nvPr/>
        </p:nvGraphicFramePr>
        <p:xfrm>
          <a:off x="666750" y="2590800"/>
          <a:ext cx="10858500" cy="281939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845945"/>
                <a:gridCol w="2931795"/>
                <a:gridCol w="2823210"/>
                <a:gridCol w="3257550"/>
              </a:tblGrid>
              <a:tr h="42291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接口形态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26233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核心对象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26233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状态管理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26233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适合场景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26233F"/>
                    </a:solidFill>
                  </a:tcPr>
                </a:tc>
              </a:tr>
              <a:tr h="59912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>
                          <a:solidFill>
                            <a:srgbClr val="23252D"/>
                          </a:solidFill>
                          <a:latin typeface="MiSans"/>
                          <a:ea typeface="MiSans"/>
                        </a:rPr>
                        <a:t>Chat/Message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>
                          <a:solidFill>
                            <a:srgbClr val="23252D"/>
                          </a:solidFill>
                          <a:latin typeface="MiSans"/>
                          <a:ea typeface="MiSans"/>
                        </a:rPr>
                        <a:t>Message / Content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>
                          <a:solidFill>
                            <a:srgbClr val="23252D"/>
                          </a:solidFill>
                          <a:latin typeface="MiSans"/>
                          <a:ea typeface="MiSans"/>
                        </a:rPr>
                        <a:t>客户端重传消息历史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>
                          <a:solidFill>
                            <a:srgbClr val="23252D"/>
                          </a:solidFill>
                          <a:latin typeface="MiSans"/>
                          <a:ea typeface="MiSans"/>
                        </a:rPr>
                        <a:t>单轮问答、多轮聊天、分类、抽取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912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>
                          <a:solidFill>
                            <a:srgbClr val="23252D"/>
                          </a:solidFill>
                          <a:latin typeface="MiSans"/>
                          <a:ea typeface="MiSans"/>
                        </a:rPr>
                        <a:t>Responses-like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>
                          <a:solidFill>
                            <a:srgbClr val="23252D"/>
                          </a:solidFill>
                          <a:latin typeface="MiSans"/>
                          <a:ea typeface="MiSans"/>
                        </a:rPr>
                        <a:t>Message、Reasoning、Tool、Compaction 等 Item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>
                          <a:solidFill>
                            <a:srgbClr val="23252D"/>
                          </a:solidFill>
                          <a:latin typeface="MiSans"/>
                          <a:ea typeface="MiSans"/>
                        </a:rPr>
                        <a:t>previous_response_id 或完整 Item 回放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>
                          <a:solidFill>
                            <a:srgbClr val="23252D"/>
                          </a:solidFill>
                          <a:latin typeface="MiSans"/>
                          <a:ea typeface="MiSans"/>
                        </a:rPr>
                        <a:t>多步推理、复杂 Tool Use、长程 Agent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59912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>
                          <a:solidFill>
                            <a:srgbClr val="23252D"/>
                          </a:solidFill>
                          <a:latin typeface="MiSans"/>
                          <a:ea typeface="MiSans"/>
                        </a:rPr>
                        <a:t>Realtime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>
                          <a:solidFill>
                            <a:srgbClr val="23252D"/>
                          </a:solidFill>
                          <a:latin typeface="MiSans"/>
                          <a:ea typeface="MiSans"/>
                        </a:rPr>
                        <a:t>连续音频、文本、事件与工具调用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>
                          <a:solidFill>
                            <a:srgbClr val="23252D"/>
                          </a:solidFill>
                          <a:latin typeface="MiSans"/>
                          <a:ea typeface="MiSans"/>
                        </a:rPr>
                        <a:t>连接级实时状态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>
                          <a:solidFill>
                            <a:srgbClr val="23252D"/>
                          </a:solidFill>
                          <a:latin typeface="MiSans"/>
                          <a:ea typeface="MiSans"/>
                        </a:rPr>
                        <a:t>语音助手、实时客服、低延迟交互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912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>
                          <a:solidFill>
                            <a:srgbClr val="23252D"/>
                          </a:solidFill>
                          <a:latin typeface="MiSans"/>
                          <a:ea typeface="MiSans"/>
                        </a:rPr>
                        <a:t>Async/Background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>
                          <a:solidFill>
                            <a:srgbClr val="23252D"/>
                          </a:solidFill>
                          <a:latin typeface="MiSans"/>
                          <a:ea typeface="MiSans"/>
                        </a:rPr>
                        <a:t>Job / Task / Event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>
                          <a:solidFill>
                            <a:srgbClr val="23252D"/>
                          </a:solidFill>
                          <a:latin typeface="MiSans"/>
                          <a:ea typeface="MiSans"/>
                        </a:rPr>
                        <a:t>服务端任务状态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>
                          <a:solidFill>
                            <a:srgbClr val="23252D"/>
                          </a:solidFill>
                          <a:latin typeface="MiSans"/>
                          <a:ea typeface="MiSans"/>
                        </a:rPr>
                        <a:t>深度研究、批处理、长耗时任务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25" name="dsl:takeaway-bg"/>
          <p:cNvSpPr/>
          <p:nvPr/>
        </p:nvSpPr>
        <p:spPr>
          <a:xfrm>
            <a:off x="666750" y="5638800"/>
            <a:ext cx="10858500" cy="533400"/>
          </a:xfrm>
          <a:prstGeom prst="roundRect">
            <a:avLst>
              <a:gd name="adj" fmla="val 14000"/>
            </a:avLst>
          </a:prstGeom>
          <a:solidFill>
            <a:srgbClr val="EC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takeaway"/>
          <p:cNvSpPr txBox="1"/>
          <p:nvPr/>
        </p:nvSpPr>
        <p:spPr>
          <a:xfrm>
            <a:off x="952500" y="5638800"/>
            <a:ext cx="10287000" cy="5334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23252D"/>
                </a:solidFill>
                <a:latin typeface="MiSans"/>
                <a:ea typeface="MiSans"/>
              </a:rPr>
              <a:t>📌 一句话记住：</a:t>
            </a:r>
            <a:r>
              <a:rPr sz="1200" noProof="1">
                <a:solidFill>
                  <a:srgbClr val="23252D"/>
                </a:solidFill>
                <a:latin typeface="MiSans"/>
                <a:ea typeface="MiSans"/>
              </a:rPr>
              <a:t>选型先问——任务需要跨回合的推理连续性吗？需要 → Responses；不需要 → Chat 足够。</a:t>
            </a:r>
          </a:p>
        </p:txBody>
      </p:sp>
      <p:cxnSp>
        <p:nvCxnSpPr>
          <p:cNvPr id="27" name="dsl:footer-line"/>
          <p:cNvCxnSpPr/>
          <p:nvPr/>
        </p:nvCxnSpPr>
        <p:spPr>
          <a:xfrm>
            <a:off x="666750" y="6438900"/>
            <a:ext cx="10858500" cy="0"/>
          </a:xfrm>
          <a:prstGeom prst="straightConnector1">
            <a:avLst/>
          </a:prstGeom>
          <a:ln w="12700">
            <a:solidFill>
              <a:srgbClr val="E3E0D8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sl:footer-left|s=$small"/>
          <p:cNvSpPr txBox="1"/>
          <p:nvPr/>
        </p:nvSpPr>
        <p:spPr>
          <a:xfrm>
            <a:off x="666750" y="6534150"/>
            <a:ext cx="4762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从 Chat API 到 Agent Runtime · 技术分享</a:t>
            </a:r>
          </a:p>
        </p:txBody>
      </p:sp>
      <p:sp>
        <p:nvSpPr>
          <p:cNvPr id="29" name="dsl:page-num|s=$small"/>
          <p:cNvSpPr txBox="1"/>
          <p:nvPr/>
        </p:nvSpPr>
        <p:spPr>
          <a:xfrm>
            <a:off x="10763250" y="65341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666750" y="381000"/>
            <a:ext cx="6667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 spc="225">
                <a:solidFill>
                  <a:srgbClr val="4A44C6"/>
                </a:solidFill>
                <a:latin typeface="MiSans"/>
                <a:ea typeface="MiSans"/>
              </a:rPr>
              <a:t>PART 02 · 接口现状</a:t>
            </a:r>
          </a:p>
        </p:txBody>
      </p:sp>
      <p:sp>
        <p:nvSpPr>
          <p:cNvPr id="3" name="dsl:title|s=$title"/>
          <p:cNvSpPr txBox="1"/>
          <p:nvPr/>
        </p:nvSpPr>
        <p:spPr>
          <a:xfrm>
            <a:off x="666750" y="62865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250" noProof="1">
                <a:solidFill>
                  <a:srgbClr val="23252D"/>
                </a:solidFill>
                <a:latin typeface="alimamashuheiti"/>
                <a:ea typeface="alimamashuheiti"/>
              </a:rPr>
              <a:t>Responses API：把一次运行拆成"积木"</a:t>
            </a:r>
          </a:p>
        </p:txBody>
      </p:sp>
      <p:sp>
        <p:nvSpPr>
          <p:cNvPr id="4" name="dsl:title-bar"/>
          <p:cNvSpPr/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E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left-head"/>
          <p:cNvSpPr txBox="1"/>
          <p:nvPr/>
        </p:nvSpPr>
        <p:spPr>
          <a:xfrm>
            <a:off x="666750" y="1314450"/>
            <a:ext cx="5143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23252D"/>
                </a:solidFill>
                <a:latin typeface="MiSans"/>
                <a:ea typeface="MiSans"/>
              </a:rPr>
              <a:t>Chat API 的抽象与短板</a:t>
            </a:r>
          </a:p>
        </p:txBody>
      </p:sp>
      <p:sp>
        <p:nvSpPr>
          <p:cNvPr id="6" name="dsl:chat-box-1"/>
          <p:cNvSpPr/>
          <p:nvPr/>
        </p:nvSpPr>
        <p:spPr>
          <a:xfrm>
            <a:off x="666750" y="1695450"/>
            <a:ext cx="1238250" cy="5143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chat-txt-1"/>
          <p:cNvSpPr txBox="1"/>
          <p:nvPr/>
        </p:nvSpPr>
        <p:spPr>
          <a:xfrm>
            <a:off x="666750" y="1695450"/>
            <a:ext cx="1238250" cy="5143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messages[]</a:t>
            </a:r>
          </a:p>
        </p:txBody>
      </p:sp>
      <p:sp>
        <p:nvSpPr>
          <p:cNvPr id="8" name="dsl:chat-arr-1"/>
          <p:cNvSpPr txBox="1"/>
          <p:nvPr/>
        </p:nvSpPr>
        <p:spPr>
          <a:xfrm>
            <a:off x="1905000" y="1695450"/>
            <a:ext cx="285750" cy="5143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500" noProof="1">
                <a:solidFill>
                  <a:srgbClr val="4A44C6"/>
                </a:solidFill>
                <a:latin typeface="MiSans"/>
                <a:ea typeface="MiSans"/>
              </a:rPr>
              <a:t>→</a:t>
            </a:r>
          </a:p>
        </p:txBody>
      </p:sp>
      <p:sp>
        <p:nvSpPr>
          <p:cNvPr id="9" name="dsl:chat-box-2"/>
          <p:cNvSpPr/>
          <p:nvPr/>
        </p:nvSpPr>
        <p:spPr>
          <a:xfrm>
            <a:off x="2190750" y="1695450"/>
            <a:ext cx="1238250" cy="5143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chat-txt-2"/>
          <p:cNvSpPr txBox="1"/>
          <p:nvPr/>
        </p:nvSpPr>
        <p:spPr>
          <a:xfrm>
            <a:off x="2190750" y="1695450"/>
            <a:ext cx="1238250" cy="5143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model</a:t>
            </a:r>
          </a:p>
        </p:txBody>
      </p:sp>
      <p:sp>
        <p:nvSpPr>
          <p:cNvPr id="11" name="dsl:chat-arr-2"/>
          <p:cNvSpPr txBox="1"/>
          <p:nvPr/>
        </p:nvSpPr>
        <p:spPr>
          <a:xfrm>
            <a:off x="3429000" y="1695450"/>
            <a:ext cx="285750" cy="5143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500" noProof="1">
                <a:solidFill>
                  <a:srgbClr val="4A44C6"/>
                </a:solidFill>
                <a:latin typeface="MiSans"/>
                <a:ea typeface="MiSans"/>
              </a:rPr>
              <a:t>→</a:t>
            </a:r>
          </a:p>
        </p:txBody>
      </p:sp>
      <p:sp>
        <p:nvSpPr>
          <p:cNvPr id="12" name="dsl:chat-box-3"/>
          <p:cNvSpPr/>
          <p:nvPr/>
        </p:nvSpPr>
        <p:spPr>
          <a:xfrm>
            <a:off x="3714750" y="1695450"/>
            <a:ext cx="1428750" cy="514350"/>
          </a:xfrm>
          <a:prstGeom prst="roundRect">
            <a:avLst>
              <a:gd name="adj" fmla="val 12000"/>
            </a:avLst>
          </a:prstGeom>
          <a:solidFill>
            <a:srgbClr val="ECEAFA"/>
          </a:solidFill>
          <a:ln w="12700">
            <a:solidFill>
              <a:srgbClr val="4A44C6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chat-txt-3"/>
          <p:cNvSpPr txBox="1"/>
          <p:nvPr/>
        </p:nvSpPr>
        <p:spPr>
          <a:xfrm>
            <a:off x="3714750" y="1695450"/>
            <a:ext cx="1428750" cy="5143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assistant message</a:t>
            </a:r>
          </a:p>
        </p:txBody>
      </p:sp>
      <p:sp>
        <p:nvSpPr>
          <p:cNvPr id="14" name="dsl:warn-bg"/>
          <p:cNvSpPr/>
          <p:nvPr/>
        </p:nvSpPr>
        <p:spPr>
          <a:xfrm>
            <a:off x="666750" y="2476500"/>
            <a:ext cx="5143500" cy="2590800"/>
          </a:xfrm>
          <a:prstGeom prst="roundRect">
            <a:avLst>
              <a:gd name="adj" fmla="val 8000"/>
            </a:avLst>
          </a:prstGeom>
          <a:solidFill>
            <a:srgbClr val="FB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warn-title"/>
          <p:cNvSpPr txBox="1"/>
          <p:nvPr/>
        </p:nvSpPr>
        <p:spPr>
          <a:xfrm>
            <a:off x="914400" y="2628900"/>
            <a:ext cx="457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D5544F"/>
                </a:solidFill>
                <a:latin typeface="MiSans"/>
                <a:ea typeface="MiSans"/>
              </a:rPr>
              <a:t>⚠️ Message 这个对象装不下什么？</a:t>
            </a:r>
          </a:p>
        </p:txBody>
      </p:sp>
      <p:sp>
        <p:nvSpPr>
          <p:cNvPr id="16" name="dsl:warn-list"/>
          <p:cNvSpPr txBox="1"/>
          <p:nvPr/>
        </p:nvSpPr>
        <p:spPr>
          <a:xfrm>
            <a:off x="914400" y="2933700"/>
            <a:ext cx="4667250" cy="1238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160020" marL="200025">
              <a:lnSpc>
                <a:spcPct val="170000"/>
              </a:lnSpc>
              <a:buChar char="•"/>
            </a:pPr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推理状态（模型"刚想到哪"）</a:t>
            </a:r>
          </a:p>
          <a:p>
            <a:pPr algn="l" lvl="0" indent="-160020" marL="200025">
              <a:lnSpc>
                <a:spcPct val="170000"/>
              </a:lnSpc>
              <a:buChar char="•"/>
            </a:pPr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工具执行到哪个阶段</a:t>
            </a:r>
          </a:p>
          <a:p>
            <a:pPr algn="l" lvl="0" indent="-160020" marL="200025">
              <a:lnSpc>
                <a:spcPct val="170000"/>
              </a:lnSpc>
              <a:buChar char="•"/>
            </a:pPr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压缩检查点（Compaction）</a:t>
            </a:r>
          </a:p>
          <a:p>
            <a:pPr algn="l" lvl="0" indent="-160020" marL="200025">
              <a:lnSpc>
                <a:spcPct val="170000"/>
              </a:lnSpc>
              <a:buChar char="•"/>
            </a:pPr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长任务的生命周期</a:t>
            </a:r>
          </a:p>
        </p:txBody>
      </p:sp>
      <p:sp>
        <p:nvSpPr>
          <p:cNvPr id="17" name="dsl:warn-note"/>
          <p:cNvSpPr txBox="1"/>
          <p:nvPr/>
        </p:nvSpPr>
        <p:spPr>
          <a:xfrm>
            <a:off x="914400" y="4248150"/>
            <a:ext cx="4667250" cy="666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单轮问答差别不大；但几十次"观察—行动"循环的 Agent 任务，接口是否保留状态可能直接决定任务成败。</a:t>
            </a:r>
          </a:p>
        </p:txBody>
      </p:sp>
      <p:sp>
        <p:nvSpPr>
          <p:cNvPr id="18" name="dsl:right-head"/>
          <p:cNvSpPr txBox="1"/>
          <p:nvPr/>
        </p:nvSpPr>
        <p:spPr>
          <a:xfrm>
            <a:off x="6191250" y="1314450"/>
            <a:ext cx="53340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23252D"/>
                </a:solidFill>
                <a:latin typeface="MiSans"/>
                <a:ea typeface="MiSans"/>
              </a:rPr>
              <a:t>Responses：一次运行 = 可组合的 Item</a:t>
            </a:r>
          </a:p>
        </p:txBody>
      </p:sp>
      <p:sp>
        <p:nvSpPr>
          <p:cNvPr id="19" name="dsl:item-1"/>
          <p:cNvSpPr/>
          <p:nvPr/>
        </p:nvSpPr>
        <p:spPr>
          <a:xfrm>
            <a:off x="6191250" y="1695450"/>
            <a:ext cx="1619250" cy="4381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item-1-txt"/>
          <p:cNvSpPr txBox="1"/>
          <p:nvPr/>
        </p:nvSpPr>
        <p:spPr>
          <a:xfrm>
            <a:off x="6191250" y="1695450"/>
            <a:ext cx="1619250" cy="4381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💬 消息</a:t>
            </a:r>
          </a:p>
        </p:txBody>
      </p:sp>
      <p:sp>
        <p:nvSpPr>
          <p:cNvPr id="21" name="dsl:item-2"/>
          <p:cNvSpPr/>
          <p:nvPr/>
        </p:nvSpPr>
        <p:spPr>
          <a:xfrm>
            <a:off x="7905750" y="1695450"/>
            <a:ext cx="1619250" cy="438150"/>
          </a:xfrm>
          <a:prstGeom prst="roundRect">
            <a:avLst>
              <a:gd name="adj" fmla="val 14000"/>
            </a:avLst>
          </a:prstGeom>
          <a:solidFill>
            <a:srgbClr val="ECEAFA"/>
          </a:solidFill>
          <a:ln w="12700">
            <a:solidFill>
              <a:srgbClr val="4A44C6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item-2-txt"/>
          <p:cNvSpPr txBox="1"/>
          <p:nvPr/>
        </p:nvSpPr>
        <p:spPr>
          <a:xfrm>
            <a:off x="7905750" y="1695450"/>
            <a:ext cx="1619250" cy="4381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🧠 reasoning</a:t>
            </a:r>
          </a:p>
        </p:txBody>
      </p:sp>
      <p:sp>
        <p:nvSpPr>
          <p:cNvPr id="23" name="dsl:item-3"/>
          <p:cNvSpPr/>
          <p:nvPr/>
        </p:nvSpPr>
        <p:spPr>
          <a:xfrm>
            <a:off x="9620250" y="1695450"/>
            <a:ext cx="1619250" cy="4381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l:item-3-txt"/>
          <p:cNvSpPr txBox="1"/>
          <p:nvPr/>
        </p:nvSpPr>
        <p:spPr>
          <a:xfrm>
            <a:off x="9620250" y="1695450"/>
            <a:ext cx="1619250" cy="4381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🔧 tool call/output</a:t>
            </a:r>
          </a:p>
        </p:txBody>
      </p:sp>
      <p:sp>
        <p:nvSpPr>
          <p:cNvPr id="25" name="dsl:item-4"/>
          <p:cNvSpPr/>
          <p:nvPr/>
        </p:nvSpPr>
        <p:spPr>
          <a:xfrm>
            <a:off x="6191250" y="2247900"/>
            <a:ext cx="1619250" cy="4381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item-4-txt"/>
          <p:cNvSpPr txBox="1"/>
          <p:nvPr/>
        </p:nvSpPr>
        <p:spPr>
          <a:xfrm>
            <a:off x="6191250" y="2247900"/>
            <a:ext cx="1619250" cy="4381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📦 compaction</a:t>
            </a:r>
          </a:p>
        </p:txBody>
      </p:sp>
      <p:sp>
        <p:nvSpPr>
          <p:cNvPr id="27" name="dsl:item-5"/>
          <p:cNvSpPr/>
          <p:nvPr/>
        </p:nvSpPr>
        <p:spPr>
          <a:xfrm>
            <a:off x="7905750" y="2247900"/>
            <a:ext cx="1619250" cy="4381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sl:item-5-txt"/>
          <p:cNvSpPr txBox="1"/>
          <p:nvPr/>
        </p:nvSpPr>
        <p:spPr>
          <a:xfrm>
            <a:off x="7905750" y="2247900"/>
            <a:ext cx="1619250" cy="4381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🖼️ 多模态内容</a:t>
            </a:r>
          </a:p>
        </p:txBody>
      </p:sp>
      <p:sp>
        <p:nvSpPr>
          <p:cNvPr id="29" name="dsl:resp-formula-bg"/>
          <p:cNvSpPr/>
          <p:nvPr/>
        </p:nvSpPr>
        <p:spPr>
          <a:xfrm>
            <a:off x="6191250" y="2895600"/>
            <a:ext cx="5334000" cy="876300"/>
          </a:xfrm>
          <a:prstGeom prst="roundRect">
            <a:avLst>
              <a:gd name="adj" fmla="val 10000"/>
            </a:avLst>
          </a:prstGeom>
          <a:solidFill>
            <a:srgbClr val="26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sl:resp-formula"/>
          <p:cNvSpPr txBox="1"/>
          <p:nvPr/>
        </p:nvSpPr>
        <p:spPr>
          <a:xfrm>
            <a:off x="6400800" y="2895600"/>
            <a:ext cx="4914900" cy="8763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5000"/>
              </a:lnSpc>
            </a:pPr>
            <a:r>
              <a:rPr sz="1125" noProof="1">
                <a:solidFill>
                  <a:srgbClr val="C9C3FF"/>
                </a:solidFill>
                <a:latin typeface="MiSans"/>
                <a:ea typeface="MiSans"/>
              </a:rPr>
              <a:t>input items + </a:t>
            </a:r>
            <a:r>
              <a:rPr b="1" sz="1125" noProof="1">
                <a:solidFill>
                  <a:srgbClr val="F2B98C"/>
                </a:solidFill>
                <a:latin typeface="MiSans"/>
                <a:ea typeface="MiSans"/>
              </a:rPr>
              <a:t>previous state</a:t>
            </a:r>
            <a:r>
              <a:rPr sz="1125" noProof="1">
                <a:solidFill>
                  <a:srgbClr val="C9C3FF"/>
                </a:solidFill>
                <a:latin typeface="MiSans"/>
                <a:ea typeface="MiSans"/>
              </a:rPr>
              <a:t> + tools + policy</a:t>
            </a:r>
          </a:p>
          <a:p>
            <a:pPr algn="l">
              <a:lnSpc>
                <a:spcPct val="155000"/>
              </a:lnSpc>
            </a:pPr>
            <a:r>
              <a:rPr sz="1125" noProof="1">
                <a:solidFill>
                  <a:srgbClr val="C9C3FF"/>
                </a:solidFill>
                <a:latin typeface="MiSans"/>
                <a:ea typeface="MiSans"/>
              </a:rPr>
              <a:t>→ response items + </a:t>
            </a:r>
            <a:r>
              <a:rPr b="1" sz="1125" noProof="1">
                <a:solidFill>
                  <a:srgbClr val="F2B98C"/>
                </a:solidFill>
                <a:latin typeface="MiSans"/>
                <a:ea typeface="MiSans"/>
              </a:rPr>
              <a:t>new state</a:t>
            </a:r>
          </a:p>
        </p:txBody>
      </p:sp>
      <p:sp>
        <p:nvSpPr>
          <p:cNvPr id="31" name="dsl:resp-note"/>
          <p:cNvSpPr txBox="1"/>
          <p:nvPr/>
        </p:nvSpPr>
        <p:spPr>
          <a:xfrm>
            <a:off x="6191250" y="3943350"/>
            <a:ext cx="5334000" cy="11239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050" noProof="1">
                <a:solidFill>
                  <a:srgbClr val="5C5F6B"/>
                </a:solidFill>
                <a:latin typeface="MiSans"/>
                <a:ea typeface="MiSans"/>
              </a:rPr>
              <a:t>OpenAI 官方建议：推理模型在多轮、Tool Calling 场景优先使用 Responses API，并可通过 reasoning.context 控制是否使用早期回合的推理状态（all_turns / current_turn / auto）。</a:t>
            </a:r>
          </a:p>
        </p:txBody>
      </p:sp>
      <p:sp>
        <p:nvSpPr>
          <p:cNvPr id="32" name="dsl:pitfall-bg"/>
          <p:cNvSpPr/>
          <p:nvPr/>
        </p:nvSpPr>
        <p:spPr>
          <a:xfrm>
            <a:off x="666750" y="5295900"/>
            <a:ext cx="10858500" cy="800100"/>
          </a:xfrm>
          <a:prstGeom prst="roundRect">
            <a:avLst>
              <a:gd name="adj" fmla="val 12000"/>
            </a:avLst>
          </a:prstGeom>
          <a:solidFill>
            <a:srgbClr val="FC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sl:pitfall-text"/>
          <p:cNvSpPr txBox="1"/>
          <p:nvPr/>
        </p:nvSpPr>
        <p:spPr>
          <a:xfrm>
            <a:off x="952500" y="5295900"/>
            <a:ext cx="10287000" cy="8001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125" noProof="1">
                <a:solidFill>
                  <a:srgbClr val="23252D"/>
                </a:solidFill>
                <a:latin typeface="MiSans"/>
                <a:ea typeface="MiSans"/>
              </a:rPr>
              <a:t>🚫 无状态模式的坑：</a:t>
            </a:r>
            <a:r>
              <a:rPr sz="1125" noProof="1">
                <a:solidFill>
                  <a:srgbClr val="23252D"/>
                </a:solidFill>
                <a:latin typeface="MiSans"/>
                <a:ea typeface="MiSans"/>
              </a:rPr>
              <a:t>使用 store=False 时，必须把上一轮返回的完整 response.output（含 reasoning、tool、program、compaction items）按原顺序放回下一轮 input——只保留可见文本，状态接力就断了。</a:t>
            </a:r>
          </a:p>
        </p:txBody>
      </p:sp>
      <p:cxnSp>
        <p:nvCxnSpPr>
          <p:cNvPr id="34" name="dsl:footer-line"/>
          <p:cNvCxnSpPr/>
          <p:nvPr/>
        </p:nvCxnSpPr>
        <p:spPr>
          <a:xfrm>
            <a:off x="666750" y="6438900"/>
            <a:ext cx="10858500" cy="0"/>
          </a:xfrm>
          <a:prstGeom prst="straightConnector1">
            <a:avLst/>
          </a:prstGeom>
          <a:ln w="12700">
            <a:solidFill>
              <a:srgbClr val="E3E0D8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dsl:footer-left|s=$small"/>
          <p:cNvSpPr txBox="1"/>
          <p:nvPr/>
        </p:nvSpPr>
        <p:spPr>
          <a:xfrm>
            <a:off x="666750" y="6534150"/>
            <a:ext cx="4762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从 Chat API 到 Agent Runtime · 技术分享</a:t>
            </a:r>
          </a:p>
        </p:txBody>
      </p:sp>
      <p:sp>
        <p:nvSpPr>
          <p:cNvPr id="36" name="dsl:page-num|s=$small"/>
          <p:cNvSpPr txBox="1"/>
          <p:nvPr/>
        </p:nvSpPr>
        <p:spPr>
          <a:xfrm>
            <a:off x="10763250" y="65341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666750" y="381000"/>
            <a:ext cx="6667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 spc="225">
                <a:solidFill>
                  <a:srgbClr val="4A44C6"/>
                </a:solidFill>
                <a:latin typeface="MiSans"/>
                <a:ea typeface="MiSans"/>
              </a:rPr>
              <a:t>PART 02 · 接口现状</a:t>
            </a:r>
          </a:p>
        </p:txBody>
      </p:sp>
      <p:sp>
        <p:nvSpPr>
          <p:cNvPr id="3" name="dsl:title|s=$title"/>
          <p:cNvSpPr txBox="1"/>
          <p:nvPr/>
        </p:nvSpPr>
        <p:spPr>
          <a:xfrm>
            <a:off x="666750" y="62865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250" noProof="1">
                <a:solidFill>
                  <a:srgbClr val="23252D"/>
                </a:solidFill>
                <a:latin typeface="alimamashuheiti"/>
                <a:ea typeface="alimamashuheiti"/>
              </a:rPr>
              <a:t>Tool 接口五级台阶：越往上，模型搬的砖越少</a:t>
            </a:r>
          </a:p>
        </p:txBody>
      </p:sp>
      <p:sp>
        <p:nvSpPr>
          <p:cNvPr id="4" name="dsl:title-bar"/>
          <p:cNvSpPr/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E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rule-bg"/>
          <p:cNvSpPr/>
          <p:nvPr/>
        </p:nvSpPr>
        <p:spPr>
          <a:xfrm>
            <a:off x="666750" y="1314450"/>
            <a:ext cx="10858500" cy="914400"/>
          </a:xfrm>
          <a:prstGeom prst="roundRect">
            <a:avLst>
              <a:gd name="adj" fmla="val 10000"/>
            </a:avLst>
          </a:prstGeom>
          <a:solidFill>
            <a:srgbClr val="FC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rule-text"/>
          <p:cNvSpPr txBox="1"/>
          <p:nvPr/>
        </p:nvSpPr>
        <p:spPr>
          <a:xfrm>
            <a:off x="952500" y="1314450"/>
            <a:ext cx="10287000" cy="914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23252D"/>
                </a:solidFill>
                <a:latin typeface="MiSans"/>
                <a:ea typeface="MiSans"/>
              </a:rPr>
              <a:t>判断口诀：</a:t>
            </a:r>
            <a:r>
              <a:rPr sz="1200" noProof="1">
                <a:solidFill>
                  <a:srgbClr val="23252D"/>
                </a:solidFill>
                <a:latin typeface="MiSans"/>
                <a:ea typeface="MiSans"/>
              </a:rPr>
              <a:t>下一步只依赖结构化字段和确定性规则？</a:t>
            </a:r>
          </a:p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2E9E6B"/>
                </a:solidFill>
                <a:latin typeface="MiSans"/>
                <a:ea typeface="MiSans"/>
              </a:rPr>
              <a:t>是 → 程序化调用</a:t>
            </a:r>
            <a:r>
              <a:rPr sz="1200" noProof="1">
                <a:solidFill>
                  <a:srgbClr val="23252D"/>
                </a:solidFill>
                <a:latin typeface="MiSans"/>
                <a:ea typeface="MiSans"/>
              </a:rPr>
              <a:t>（并行 / 过滤 / 聚合）　</a:t>
            </a:r>
            <a:r>
              <a:rPr b="1" sz="1200" noProof="1">
                <a:solidFill>
                  <a:srgbClr val="E8863A"/>
                </a:solidFill>
                <a:latin typeface="MiSans"/>
                <a:ea typeface="MiSans"/>
              </a:rPr>
              <a:t>否 → 回模型做语义判断</a:t>
            </a:r>
            <a:r>
              <a:rPr sz="1200" noProof="1">
                <a:solidFill>
                  <a:srgbClr val="23252D"/>
                </a:solidFill>
                <a:latin typeface="MiSans"/>
                <a:ea typeface="MiSans"/>
              </a:rPr>
              <a:t>　</a:t>
            </a:r>
            <a:r>
              <a:rPr b="1" sz="1200" noProof="1">
                <a:solidFill>
                  <a:srgbClr val="23252D"/>
                </a:solidFill>
                <a:latin typeface="MiSans"/>
                <a:ea typeface="MiSans"/>
              </a:rPr>
              <a:t>写入·付款·删除 → 直接调用 + 审批</a:t>
            </a:r>
          </a:p>
        </p:txBody>
      </p:sp>
      <p:sp>
        <p:nvSpPr>
          <p:cNvPr id="7" name="dsl:stair-1"/>
          <p:cNvSpPr/>
          <p:nvPr/>
        </p:nvSpPr>
        <p:spPr>
          <a:xfrm>
            <a:off x="666750" y="4552950"/>
            <a:ext cx="1905000" cy="1143000"/>
          </a:xfrm>
          <a:prstGeom prst="rect">
            <a:avLst/>
          </a:prstGeom>
          <a:solidFill>
            <a:srgbClr val="8A8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tair-1-lv"/>
          <p:cNvSpPr txBox="1"/>
          <p:nvPr/>
        </p:nvSpPr>
        <p:spPr>
          <a:xfrm>
            <a:off x="819150" y="4667250"/>
            <a:ext cx="16002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825" noProof="1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LEVEL 1</a:t>
            </a:r>
          </a:p>
        </p:txBody>
      </p:sp>
      <p:sp>
        <p:nvSpPr>
          <p:cNvPr id="9" name="dsl:stair-1-name"/>
          <p:cNvSpPr txBox="1"/>
          <p:nvPr/>
        </p:nvSpPr>
        <p:spPr>
          <a:xfrm>
            <a:off x="819150" y="4857750"/>
            <a:ext cx="16002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125" noProof="1">
                <a:solidFill>
                  <a:srgbClr val="FFFFFF"/>
                </a:solidFill>
                <a:latin typeface="MiSans"/>
                <a:ea typeface="MiSans"/>
              </a:rPr>
              <a:t>Function Calling</a:t>
            </a:r>
          </a:p>
        </p:txBody>
      </p:sp>
      <p:sp>
        <p:nvSpPr>
          <p:cNvPr id="10" name="dsl:stair-1-desc"/>
          <p:cNvSpPr txBox="1"/>
          <p:nvPr/>
        </p:nvSpPr>
        <p:spPr>
          <a:xfrm>
            <a:off x="819150" y="5124450"/>
            <a:ext cx="16002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noProof="1">
                <a:solidFill>
                  <a:srgbClr val="FFFFFF">
                    <a:alpha val="85098"/>
                  </a:srgbClr>
                </a:solidFill>
                <a:latin typeface="MiSans"/>
                <a:ea typeface="MiSans"/>
              </a:rPr>
              <a:t>按 Schema 生成工具名与参数</a:t>
            </a:r>
          </a:p>
        </p:txBody>
      </p:sp>
      <p:sp>
        <p:nvSpPr>
          <p:cNvPr id="11" name="dsl:stair-2"/>
          <p:cNvSpPr/>
          <p:nvPr/>
        </p:nvSpPr>
        <p:spPr>
          <a:xfrm>
            <a:off x="2724150" y="4029075"/>
            <a:ext cx="1905000" cy="1666875"/>
          </a:xfrm>
          <a:prstGeom prst="rect">
            <a:avLst/>
          </a:prstGeom>
          <a:solidFill>
            <a:srgbClr val="756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stair-2-lv"/>
          <p:cNvSpPr txBox="1"/>
          <p:nvPr/>
        </p:nvSpPr>
        <p:spPr>
          <a:xfrm>
            <a:off x="2876550" y="4143375"/>
            <a:ext cx="16002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825" noProof="1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LEVEL 2</a:t>
            </a:r>
          </a:p>
        </p:txBody>
      </p:sp>
      <p:sp>
        <p:nvSpPr>
          <p:cNvPr id="13" name="dsl:stair-2-name"/>
          <p:cNvSpPr txBox="1"/>
          <p:nvPr/>
        </p:nvSpPr>
        <p:spPr>
          <a:xfrm>
            <a:off x="2876550" y="4333875"/>
            <a:ext cx="16002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125" noProof="1">
                <a:solidFill>
                  <a:srgbClr val="FFFFFF"/>
                </a:solidFill>
                <a:latin typeface="MiSans"/>
                <a:ea typeface="MiSans"/>
              </a:rPr>
              <a:t>Hosted Tool</a:t>
            </a:r>
          </a:p>
        </p:txBody>
      </p:sp>
      <p:sp>
        <p:nvSpPr>
          <p:cNvPr id="14" name="dsl:stair-2-desc"/>
          <p:cNvSpPr txBox="1"/>
          <p:nvPr/>
        </p:nvSpPr>
        <p:spPr>
          <a:xfrm>
            <a:off x="2876550" y="4600575"/>
            <a:ext cx="16002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noProof="1">
                <a:solidFill>
                  <a:srgbClr val="FFFFFF">
                    <a:alpha val="85098"/>
                  </a:srgbClr>
                </a:solidFill>
                <a:latin typeface="MiSans"/>
                <a:ea typeface="MiSans"/>
              </a:rPr>
              <a:t>平台托管执行：搜索、代码解释器、Computer Use</a:t>
            </a:r>
          </a:p>
        </p:txBody>
      </p:sp>
      <p:sp>
        <p:nvSpPr>
          <p:cNvPr id="15" name="dsl:stair-3"/>
          <p:cNvSpPr/>
          <p:nvPr/>
        </p:nvSpPr>
        <p:spPr>
          <a:xfrm>
            <a:off x="4781550" y="3505200"/>
            <a:ext cx="1905000" cy="2190750"/>
          </a:xfrm>
          <a:prstGeom prst="rect">
            <a:avLst/>
          </a:prstGeom>
          <a:solidFill>
            <a:srgbClr val="5B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stair-3-lv"/>
          <p:cNvSpPr txBox="1"/>
          <p:nvPr/>
        </p:nvSpPr>
        <p:spPr>
          <a:xfrm>
            <a:off x="4933950" y="3619500"/>
            <a:ext cx="16002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825" noProof="1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LEVEL 3</a:t>
            </a:r>
          </a:p>
        </p:txBody>
      </p:sp>
      <p:sp>
        <p:nvSpPr>
          <p:cNvPr id="17" name="dsl:stair-3-name"/>
          <p:cNvSpPr txBox="1"/>
          <p:nvPr/>
        </p:nvSpPr>
        <p:spPr>
          <a:xfrm>
            <a:off x="4933950" y="3810000"/>
            <a:ext cx="16002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125" noProof="1">
                <a:solidFill>
                  <a:srgbClr val="FFFFFF"/>
                </a:solidFill>
                <a:latin typeface="MiSans"/>
                <a:ea typeface="MiSans"/>
              </a:rPr>
              <a:t>Tool Search</a:t>
            </a:r>
          </a:p>
        </p:txBody>
      </p:sp>
      <p:sp>
        <p:nvSpPr>
          <p:cNvPr id="18" name="dsl:stair-3-desc"/>
          <p:cNvSpPr txBox="1"/>
          <p:nvPr/>
        </p:nvSpPr>
        <p:spPr>
          <a:xfrm>
            <a:off x="4933950" y="4076700"/>
            <a:ext cx="16002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noProof="1">
                <a:solidFill>
                  <a:srgbClr val="FFFFFF">
                    <a:alpha val="85098"/>
                  </a:srgbClr>
                </a:solidFill>
                <a:latin typeface="MiSans"/>
                <a:ea typeface="MiSans"/>
              </a:rPr>
              <a:t>按需检索并加载工具定义，减少上下文污染</a:t>
            </a:r>
          </a:p>
        </p:txBody>
      </p:sp>
      <p:sp>
        <p:nvSpPr>
          <p:cNvPr id="19" name="dsl:stair-4"/>
          <p:cNvSpPr/>
          <p:nvPr/>
        </p:nvSpPr>
        <p:spPr>
          <a:xfrm>
            <a:off x="6838950" y="2981325"/>
            <a:ext cx="1905000" cy="2714625"/>
          </a:xfrm>
          <a:prstGeom prst="rect">
            <a:avLst/>
          </a:prstGeom>
          <a:solidFill>
            <a:srgbClr val="453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stair-4-lv"/>
          <p:cNvSpPr txBox="1"/>
          <p:nvPr/>
        </p:nvSpPr>
        <p:spPr>
          <a:xfrm>
            <a:off x="6991350" y="3095625"/>
            <a:ext cx="16002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825" noProof="1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LEVEL 4</a:t>
            </a:r>
          </a:p>
        </p:txBody>
      </p:sp>
      <p:sp>
        <p:nvSpPr>
          <p:cNvPr id="21" name="dsl:stair-4-name"/>
          <p:cNvSpPr txBox="1"/>
          <p:nvPr/>
        </p:nvSpPr>
        <p:spPr>
          <a:xfrm>
            <a:off x="6991350" y="3286125"/>
            <a:ext cx="16002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125" noProof="1">
                <a:solidFill>
                  <a:srgbClr val="FFFFFF"/>
                </a:solidFill>
                <a:latin typeface="MiSans"/>
                <a:ea typeface="MiSans"/>
              </a:rPr>
              <a:t>Programmatic</a:t>
            </a:r>
          </a:p>
        </p:txBody>
      </p:sp>
      <p:sp>
        <p:nvSpPr>
          <p:cNvPr id="22" name="dsl:stair-4-desc"/>
          <p:cNvSpPr txBox="1"/>
          <p:nvPr/>
        </p:nvSpPr>
        <p:spPr>
          <a:xfrm>
            <a:off x="6991350" y="3552825"/>
            <a:ext cx="16002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noProof="1">
                <a:solidFill>
                  <a:srgbClr val="FFFFFF">
                    <a:alpha val="85098"/>
                  </a:srgbClr>
                </a:solidFill>
                <a:latin typeface="MiSans"/>
                <a:ea typeface="MiSans"/>
              </a:rPr>
              <a:t>模型写受控程序，组合多个工具：并行、循环、过滤、聚合</a:t>
            </a:r>
          </a:p>
        </p:txBody>
      </p:sp>
      <p:sp>
        <p:nvSpPr>
          <p:cNvPr id="23" name="dsl:stair-5"/>
          <p:cNvSpPr/>
          <p:nvPr/>
        </p:nvSpPr>
        <p:spPr>
          <a:xfrm>
            <a:off x="8896350" y="2457450"/>
            <a:ext cx="1905000" cy="3238500"/>
          </a:xfrm>
          <a:prstGeom prst="rect">
            <a:avLst/>
          </a:prstGeom>
          <a:solidFill>
            <a:srgbClr val="322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l:stair-5-lv"/>
          <p:cNvSpPr txBox="1"/>
          <p:nvPr/>
        </p:nvSpPr>
        <p:spPr>
          <a:xfrm>
            <a:off x="9048750" y="2571750"/>
            <a:ext cx="16002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825" noProof="1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LEVEL 5</a:t>
            </a:r>
          </a:p>
        </p:txBody>
      </p:sp>
      <p:sp>
        <p:nvSpPr>
          <p:cNvPr id="25" name="dsl:stair-5-name"/>
          <p:cNvSpPr txBox="1"/>
          <p:nvPr/>
        </p:nvSpPr>
        <p:spPr>
          <a:xfrm>
            <a:off x="9048750" y="2762250"/>
            <a:ext cx="16002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125" noProof="1">
                <a:solidFill>
                  <a:srgbClr val="FFFFFF"/>
                </a:solidFill>
                <a:latin typeface="MiSans"/>
                <a:ea typeface="MiSans"/>
              </a:rPr>
              <a:t>Stateful Tool</a:t>
            </a:r>
          </a:p>
        </p:txBody>
      </p:sp>
      <p:sp>
        <p:nvSpPr>
          <p:cNvPr id="26" name="dsl:stair-5-desc"/>
          <p:cNvSpPr txBox="1"/>
          <p:nvPr/>
        </p:nvSpPr>
        <p:spPr>
          <a:xfrm>
            <a:off x="9048750" y="3028950"/>
            <a:ext cx="16002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noProof="1">
                <a:solidFill>
                  <a:srgbClr val="FFFFFF">
                    <a:alpha val="85098"/>
                  </a:srgbClr>
                </a:solidFill>
                <a:latin typeface="MiSans"/>
                <a:ea typeface="MiSans"/>
              </a:rPr>
              <a:t>返回 handle，跨调用操作同一对象，不再搬运原始数据</a:t>
            </a:r>
          </a:p>
        </p:txBody>
      </p:sp>
      <p:sp>
        <p:nvSpPr>
          <p:cNvPr id="27" name="dsl:stairs-base"/>
          <p:cNvSpPr/>
          <p:nvPr/>
        </p:nvSpPr>
        <p:spPr>
          <a:xfrm>
            <a:off x="666750" y="5734050"/>
            <a:ext cx="10858500" cy="57150"/>
          </a:xfrm>
          <a:prstGeom prst="rect">
            <a:avLst/>
          </a:prstGeom>
          <a:solidFill>
            <a:srgbClr val="26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sl:stairs-caption"/>
          <p:cNvSpPr txBox="1"/>
          <p:nvPr/>
        </p:nvSpPr>
        <p:spPr>
          <a:xfrm>
            <a:off x="666750" y="5924550"/>
            <a:ext cx="10858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演进方向：让模型少搬砖、多动脑——中间结果与原始数据尽量不进入模型上下文</a:t>
            </a:r>
          </a:p>
        </p:txBody>
      </p:sp>
      <p:cxnSp>
        <p:nvCxnSpPr>
          <p:cNvPr id="29" name="dsl:footer-line"/>
          <p:cNvCxnSpPr/>
          <p:nvPr/>
        </p:nvCxnSpPr>
        <p:spPr>
          <a:xfrm>
            <a:off x="666750" y="6438900"/>
            <a:ext cx="10858500" cy="0"/>
          </a:xfrm>
          <a:prstGeom prst="straightConnector1">
            <a:avLst/>
          </a:prstGeom>
          <a:ln w="12700">
            <a:solidFill>
              <a:srgbClr val="E3E0D8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dsl:footer-left|s=$small"/>
          <p:cNvSpPr txBox="1"/>
          <p:nvPr/>
        </p:nvSpPr>
        <p:spPr>
          <a:xfrm>
            <a:off x="666750" y="6534150"/>
            <a:ext cx="4762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从 Chat API 到 Agent Runtime · 技术分享</a:t>
            </a:r>
          </a:p>
        </p:txBody>
      </p:sp>
      <p:sp>
        <p:nvSpPr>
          <p:cNvPr id="31" name="dsl:page-num|s=$small"/>
          <p:cNvSpPr txBox="1"/>
          <p:nvPr/>
        </p:nvSpPr>
        <p:spPr>
          <a:xfrm>
            <a:off x="10763250" y="65341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666750" y="381000"/>
            <a:ext cx="6667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 spc="225">
                <a:solidFill>
                  <a:srgbClr val="4A44C6"/>
                </a:solidFill>
                <a:latin typeface="MiSans"/>
                <a:ea typeface="MiSans"/>
              </a:rPr>
              <a:t>PART 02 · 接口现状</a:t>
            </a:r>
          </a:p>
        </p:txBody>
      </p:sp>
      <p:sp>
        <p:nvSpPr>
          <p:cNvPr id="3" name="dsl:title|s=$title"/>
          <p:cNvSpPr txBox="1"/>
          <p:nvPr/>
        </p:nvSpPr>
        <p:spPr>
          <a:xfrm>
            <a:off x="666750" y="62865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250" noProof="1">
                <a:solidFill>
                  <a:srgbClr val="23252D"/>
                </a:solidFill>
                <a:latin typeface="alimamashuheiti"/>
                <a:ea typeface="alimamashuheiti"/>
              </a:rPr>
              <a:t>三个立刻能用的工具工程实践</a:t>
            </a:r>
          </a:p>
        </p:txBody>
      </p:sp>
      <p:sp>
        <p:nvSpPr>
          <p:cNvPr id="4" name="dsl:title-bar"/>
          <p:cNvSpPr/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E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c1-bg"/>
          <p:cNvSpPr/>
          <p:nvPr/>
        </p:nvSpPr>
        <p:spPr>
          <a:xfrm>
            <a:off x="666750" y="1333500"/>
            <a:ext cx="3429000" cy="472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c1-head"/>
          <p:cNvSpPr txBox="1"/>
          <p:nvPr/>
        </p:nvSpPr>
        <p:spPr>
          <a:xfrm>
            <a:off x="895350" y="1524000"/>
            <a:ext cx="29718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23252D"/>
                </a:solidFill>
                <a:latin typeface="MiSans"/>
                <a:ea typeface="MiSans"/>
              </a:rPr>
              <a:t>① Schema 是"说明书"</a:t>
            </a:r>
          </a:p>
        </p:txBody>
      </p:sp>
      <p:sp>
        <p:nvSpPr>
          <p:cNvPr id="7" name="dsl:c1-desc"/>
          <p:cNvSpPr txBox="1"/>
          <p:nvPr/>
        </p:nvSpPr>
        <p:spPr>
          <a:xfrm>
            <a:off x="895350" y="1866900"/>
            <a:ext cx="2971800" cy="609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Schema 不只定义参数，也在教模型理解工具：名称区分度、前置条件、副作用、失败方式。</a:t>
            </a:r>
          </a:p>
        </p:txBody>
      </p:sp>
      <p:sp>
        <p:nvSpPr>
          <p:cNvPr id="8" name="dsl:c1-bad"/>
          <p:cNvSpPr txBox="1"/>
          <p:nvPr/>
        </p:nvSpPr>
        <p:spPr>
          <a:xfrm>
            <a:off x="895350" y="2552700"/>
            <a:ext cx="29718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050" noProof="1">
                <a:solidFill>
                  <a:srgbClr val="D5544F"/>
                </a:solidFill>
                <a:latin typeface="MiSans"/>
                <a:ea typeface="MiSans"/>
              </a:rPr>
              <a:t>❌ 不友好：模型只能瞎猜</a:t>
            </a:r>
          </a:p>
        </p:txBody>
      </p:sp>
      <p:sp>
        <p:nvSpPr>
          <p:cNvPr id="9" name="dsl:c1-bad-code"/>
          <p:cNvSpPr/>
          <p:nvPr/>
        </p:nvSpPr>
        <p:spPr>
          <a:xfrm>
            <a:off x="895350" y="2819400"/>
            <a:ext cx="2971800" cy="342900"/>
          </a:xfrm>
          <a:prstGeom prst="roundRect">
            <a:avLst>
              <a:gd name="adj" fmla="val 16000"/>
            </a:avLst>
          </a:prstGeom>
          <a:solidFill>
            <a:srgbClr val="FB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c1-bad-txt"/>
          <p:cNvSpPr txBox="1"/>
          <p:nvPr/>
        </p:nvSpPr>
        <p:spPr>
          <a:xfrm>
            <a:off x="1047750" y="2819400"/>
            <a:ext cx="2667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>
                <a:solidFill>
                  <a:srgbClr val="D5544F"/>
                </a:solidFill>
                <a:latin typeface="MiSans"/>
                <a:ea typeface="MiSans"/>
              </a:rPr>
              <a:t>400 Bad Request</a:t>
            </a:r>
          </a:p>
        </p:txBody>
      </p:sp>
      <p:sp>
        <p:nvSpPr>
          <p:cNvPr id="11" name="dsl:c1-good"/>
          <p:cNvSpPr txBox="1"/>
          <p:nvPr/>
        </p:nvSpPr>
        <p:spPr>
          <a:xfrm>
            <a:off x="895350" y="3314700"/>
            <a:ext cx="29718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050" noProof="1">
                <a:solidFill>
                  <a:srgbClr val="2E9E6B"/>
                </a:solidFill>
                <a:latin typeface="MiSans"/>
                <a:ea typeface="MiSans"/>
              </a:rPr>
              <a:t>✅ Agent-friendly：可自我恢复</a:t>
            </a:r>
          </a:p>
        </p:txBody>
      </p:sp>
      <p:sp>
        <p:nvSpPr>
          <p:cNvPr id="12" name="dsl:c1-good-code"/>
          <p:cNvSpPr/>
          <p:nvPr/>
        </p:nvSpPr>
        <p:spPr>
          <a:xfrm>
            <a:off x="895350" y="3581400"/>
            <a:ext cx="2971800" cy="1600200"/>
          </a:xfrm>
          <a:prstGeom prst="roundRect">
            <a:avLst>
              <a:gd name="adj" fmla="val 8000"/>
            </a:avLst>
          </a:prstGeom>
          <a:solidFill>
            <a:srgbClr val="26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c1-good-txt"/>
          <p:cNvSpPr txBox="1"/>
          <p:nvPr/>
        </p:nvSpPr>
        <p:spPr>
          <a:xfrm>
            <a:off x="1047750" y="3581400"/>
            <a:ext cx="2705100" cy="1600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5000"/>
              </a:lnSpc>
            </a:pPr>
            <a:r>
              <a:rPr sz="900" noProof="1">
                <a:solidFill>
                  <a:srgbClr val="E8E6F0"/>
                </a:solidFill>
                <a:latin typeface="MiSans"/>
                <a:ea typeface="MiSans"/>
              </a:rPr>
              <a:t>{</a:t>
            </a:r>
          </a:p>
          <a:p>
            <a:pPr algn="l">
              <a:lnSpc>
                <a:spcPct val="155000"/>
              </a:lnSpc>
            </a:pPr>
            <a:r>
              <a:rPr sz="900" noProof="1">
                <a:solidFill>
                  <a:srgbClr val="E8E6F0"/>
                </a:solidFill>
                <a:latin typeface="MiSans"/>
                <a:ea typeface="MiSans"/>
              </a:rPr>
              <a:t>  "error_type": "invalid_argument",</a:t>
            </a:r>
          </a:p>
          <a:p>
            <a:pPr algn="l">
              <a:lnSpc>
                <a:spcPct val="155000"/>
              </a:lnSpc>
            </a:pPr>
            <a:r>
              <a:rPr sz="900" noProof="1">
                <a:solidFill>
                  <a:srgbClr val="E8E6F0"/>
                </a:solidFill>
                <a:latin typeface="MiSans"/>
                <a:ea typeface="MiSans"/>
              </a:rPr>
              <a:t>  "field": "start_date",</a:t>
            </a:r>
          </a:p>
          <a:p>
            <a:pPr algn="l">
              <a:lnSpc>
                <a:spcPct val="155000"/>
              </a:lnSpc>
            </a:pPr>
            <a:r>
              <a:rPr sz="900" noProof="1">
                <a:solidFill>
                  <a:srgbClr val="E8E6F0"/>
                </a:solidFill>
                <a:latin typeface="MiSans"/>
                <a:ea typeface="MiSans"/>
              </a:rPr>
              <a:t>  "expected": "YYYY-MM-DD,",</a:t>
            </a:r>
          </a:p>
          <a:p>
            <a:pPr algn="l">
              <a:lnSpc>
                <a:spcPct val="155000"/>
              </a:lnSpc>
            </a:pPr>
            <a:r>
              <a:rPr sz="900" noProof="1">
                <a:solidFill>
                  <a:srgbClr val="E8E6F0"/>
                </a:solidFill>
                <a:latin typeface="MiSans"/>
                <a:ea typeface="MiSans"/>
              </a:rPr>
              <a:t>  "retryable": true</a:t>
            </a:r>
          </a:p>
          <a:p>
            <a:pPr algn="l">
              <a:lnSpc>
                <a:spcPct val="155000"/>
              </a:lnSpc>
            </a:pPr>
            <a:r>
              <a:rPr sz="900" noProof="1">
                <a:solidFill>
                  <a:srgbClr val="E8E6F0"/>
                </a:solidFill>
                <a:latin typeface="MiSans"/>
                <a:ea typeface="MiSans"/>
              </a:rPr>
              <a:t>}</a:t>
            </a:r>
          </a:p>
        </p:txBody>
      </p:sp>
      <p:sp>
        <p:nvSpPr>
          <p:cNvPr id="14" name="dsl:c1-note"/>
          <p:cNvSpPr txBox="1"/>
          <p:nvPr/>
        </p:nvSpPr>
        <p:spPr>
          <a:xfrm>
            <a:off x="895350" y="5334000"/>
            <a:ext cx="2971800" cy="533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900" noProof="1">
                <a:solidFill>
                  <a:srgbClr val="5C5F6B"/>
                </a:solidFill>
                <a:latin typeface="MiSans"/>
                <a:ea typeface="MiSans"/>
              </a:rPr>
              <a:t>错误信息要包含出错字段、期望格式、是否可重试，模型才知道怎么修。</a:t>
            </a:r>
          </a:p>
        </p:txBody>
      </p:sp>
      <p:sp>
        <p:nvSpPr>
          <p:cNvPr id="15" name="dsl:c2-bg"/>
          <p:cNvSpPr/>
          <p:nvPr/>
        </p:nvSpPr>
        <p:spPr>
          <a:xfrm>
            <a:off x="4381500" y="1333500"/>
            <a:ext cx="3429000" cy="472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c2-head"/>
          <p:cNvSpPr txBox="1"/>
          <p:nvPr/>
        </p:nvSpPr>
        <p:spPr>
          <a:xfrm>
            <a:off x="4610100" y="1524000"/>
            <a:ext cx="29718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23252D"/>
                </a:solidFill>
                <a:latin typeface="MiSans"/>
                <a:ea typeface="MiSans"/>
              </a:rPr>
              <a:t>② Tool Search 按需加载</a:t>
            </a:r>
          </a:p>
        </p:txBody>
      </p:sp>
      <p:sp>
        <p:nvSpPr>
          <p:cNvPr id="17" name="dsl:c2-desc"/>
          <p:cNvSpPr txBox="1"/>
          <p:nvPr/>
        </p:nvSpPr>
        <p:spPr>
          <a:xfrm>
            <a:off x="4610100" y="1866900"/>
            <a:ext cx="2971800" cy="609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像考试带手册：先看目录（namespace 名称+一句话描述），确定章节再翻正文（具体 Schema）。</a:t>
            </a:r>
          </a:p>
        </p:txBody>
      </p:sp>
      <p:sp>
        <p:nvSpPr>
          <p:cNvPr id="18" name="dsl:c2-list"/>
          <p:cNvSpPr txBox="1"/>
          <p:nvPr/>
        </p:nvSpPr>
        <p:spPr>
          <a:xfrm>
            <a:off x="4610100" y="2590800"/>
            <a:ext cx="2971800" cy="2286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160020" marL="200025">
              <a:lnSpc>
                <a:spcPct val="175000"/>
              </a:lnSpc>
              <a:buChar char="•"/>
            </a:pPr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按</a:t>
            </a:r>
            <a:r>
              <a:rPr b="1" sz="1050" noProof="1">
                <a:solidFill>
                  <a:srgbClr val="23252D"/>
                </a:solidFill>
                <a:latin typeface="MiSans"/>
                <a:ea typeface="MiSans"/>
              </a:rPr>
              <a:t>用户意图</a:t>
            </a:r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划分 namespace，而不是按后端微服务</a:t>
            </a:r>
          </a:p>
          <a:p>
            <a:pPr algn="l" lvl="0" indent="-160020" marL="200025">
              <a:lnSpc>
                <a:spcPct val="175000"/>
              </a:lnSpc>
              <a:buChar char="•"/>
            </a:pPr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namespace 描述要短而有区分度</a:t>
            </a:r>
          </a:p>
          <a:p>
            <a:pPr algn="l" lvl="0" indent="-160020" marL="200025">
              <a:lnSpc>
                <a:spcPct val="175000"/>
              </a:lnSpc>
              <a:buChar char="•"/>
            </a:pPr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低频、Schema 大的工具用 </a:t>
            </a:r>
            <a:r>
              <a:rPr sz="1050" noProof="1">
                <a:solidFill>
                  <a:srgbClr val="4A44C6"/>
                </a:solidFill>
                <a:latin typeface="MiSans"/>
                <a:ea typeface="MiSans"/>
              </a:rPr>
              <a:t>defer_loading</a:t>
            </a:r>
          </a:p>
          <a:p>
            <a:pPr algn="l" lvl="0" indent="-160020" marL="200025">
              <a:lnSpc>
                <a:spcPct val="175000"/>
              </a:lnSpc>
              <a:buChar char="•"/>
            </a:pPr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单个 namespace 尽量 ≤ 10 个工具</a:t>
            </a:r>
          </a:p>
          <a:p>
            <a:pPr algn="l" lvl="0" indent="-160020" marL="200025">
              <a:lnSpc>
                <a:spcPct val="175000"/>
              </a:lnSpc>
              <a:buChar char="•"/>
            </a:pPr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高频关键工具直接加载，省掉搜索步骤</a:t>
            </a:r>
          </a:p>
        </p:txBody>
      </p:sp>
      <p:sp>
        <p:nvSpPr>
          <p:cNvPr id="19" name="dsl:c2-note-bg"/>
          <p:cNvSpPr/>
          <p:nvPr/>
        </p:nvSpPr>
        <p:spPr>
          <a:xfrm>
            <a:off x="4610100" y="5029200"/>
            <a:ext cx="2971800" cy="838200"/>
          </a:xfrm>
          <a:prstGeom prst="roundRect">
            <a:avLst>
              <a:gd name="adj" fmla="val 10000"/>
            </a:avLst>
          </a:prstGeom>
          <a:solidFill>
            <a:srgbClr val="EC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c2-note"/>
          <p:cNvSpPr txBox="1"/>
          <p:nvPr/>
        </p:nvSpPr>
        <p:spPr>
          <a:xfrm>
            <a:off x="4762500" y="5029200"/>
            <a:ext cx="2667000" cy="838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23252D"/>
                </a:solidFill>
                <a:latin typeface="MiSans"/>
                <a:ea typeface="MiSans"/>
              </a:rPr>
              <a:t>记得记录"模型看见了哪些工具"——否则实验结果无法复现。</a:t>
            </a:r>
          </a:p>
        </p:txBody>
      </p:sp>
      <p:sp>
        <p:nvSpPr>
          <p:cNvPr id="21" name="dsl:c3-bg"/>
          <p:cNvSpPr/>
          <p:nvPr/>
        </p:nvSpPr>
        <p:spPr>
          <a:xfrm>
            <a:off x="8096250" y="1333500"/>
            <a:ext cx="3429000" cy="472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c3-head"/>
          <p:cNvSpPr txBox="1"/>
          <p:nvPr/>
        </p:nvSpPr>
        <p:spPr>
          <a:xfrm>
            <a:off x="8324850" y="1524000"/>
            <a:ext cx="29718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23252D"/>
                </a:solidFill>
                <a:latin typeface="MiSans"/>
                <a:ea typeface="MiSans"/>
              </a:rPr>
              <a:t>③ 输出提供"双视图"</a:t>
            </a:r>
          </a:p>
        </p:txBody>
      </p:sp>
      <p:sp>
        <p:nvSpPr>
          <p:cNvPr id="23" name="dsl:c3-desc"/>
          <p:cNvSpPr txBox="1"/>
          <p:nvPr/>
        </p:nvSpPr>
        <p:spPr>
          <a:xfrm>
            <a:off x="8324850" y="1866900"/>
            <a:ext cx="2971800" cy="609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别把一切转成 Markdown，也别把原始数据全塞给模型——不同视图服务不同消费者。</a:t>
            </a:r>
          </a:p>
        </p:txBody>
      </p:sp>
      <p:sp>
        <p:nvSpPr>
          <p:cNvPr id="24" name="dsl:c3-r1"/>
          <p:cNvSpPr txBox="1"/>
          <p:nvPr/>
        </p:nvSpPr>
        <p:spPr>
          <a:xfrm>
            <a:off x="8324850" y="2590800"/>
            <a:ext cx="29718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050" noProof="1">
                <a:solidFill>
                  <a:srgbClr val="23252D"/>
                </a:solidFill>
                <a:latin typeface="MiSans"/>
                <a:ea typeface="MiSans"/>
              </a:rPr>
              <a:t>summary</a:t>
            </a:r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　给模型快速判断的结论</a:t>
            </a:r>
          </a:p>
        </p:txBody>
      </p:sp>
      <p:sp>
        <p:nvSpPr>
          <p:cNvPr id="25" name="dsl:c3-r2"/>
          <p:cNvSpPr txBox="1"/>
          <p:nvPr/>
        </p:nvSpPr>
        <p:spPr>
          <a:xfrm>
            <a:off x="8324850" y="2933700"/>
            <a:ext cx="29718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050" noProof="1">
                <a:solidFill>
                  <a:srgbClr val="23252D"/>
                </a:solidFill>
                <a:latin typeface="MiSans"/>
                <a:ea typeface="MiSans"/>
              </a:rPr>
              <a:t>structured</a:t>
            </a:r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　给程序消费、Schema 校验</a:t>
            </a:r>
          </a:p>
        </p:txBody>
      </p:sp>
      <p:sp>
        <p:nvSpPr>
          <p:cNvPr id="26" name="dsl:c3-r3"/>
          <p:cNvSpPr txBox="1"/>
          <p:nvPr/>
        </p:nvSpPr>
        <p:spPr>
          <a:xfrm>
            <a:off x="8324850" y="3276600"/>
            <a:ext cx="29718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050" noProof="1">
                <a:solidFill>
                  <a:srgbClr val="23252D"/>
                </a:solidFill>
                <a:latin typeface="MiSans"/>
                <a:ea typeface="MiSans"/>
              </a:rPr>
              <a:t>resources</a:t>
            </a:r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　大对象存 handle / 游标</a:t>
            </a:r>
          </a:p>
        </p:txBody>
      </p:sp>
      <p:sp>
        <p:nvSpPr>
          <p:cNvPr id="27" name="dsl:c3-r4"/>
          <p:cNvSpPr txBox="1"/>
          <p:nvPr/>
        </p:nvSpPr>
        <p:spPr>
          <a:xfrm>
            <a:off x="8324850" y="3619500"/>
            <a:ext cx="29718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050" noProof="1">
                <a:solidFill>
                  <a:srgbClr val="23252D"/>
                </a:solidFill>
                <a:latin typeface="MiSans"/>
                <a:ea typeface="MiSans"/>
              </a:rPr>
              <a:t>evidence</a:t>
            </a:r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　来源、版本、校验信息</a:t>
            </a:r>
          </a:p>
        </p:txBody>
      </p:sp>
      <p:sp>
        <p:nvSpPr>
          <p:cNvPr id="28" name="dsl:c3-r5"/>
          <p:cNvSpPr txBox="1"/>
          <p:nvPr/>
        </p:nvSpPr>
        <p:spPr>
          <a:xfrm>
            <a:off x="8324850" y="3962400"/>
            <a:ext cx="29718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050" noProof="1">
                <a:solidFill>
                  <a:srgbClr val="23252D"/>
                </a:solidFill>
                <a:latin typeface="MiSans"/>
                <a:ea typeface="MiSans"/>
              </a:rPr>
              <a:t>control</a:t>
            </a:r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　状态 + 是否可重试</a:t>
            </a:r>
          </a:p>
        </p:txBody>
      </p:sp>
      <p:sp>
        <p:nvSpPr>
          <p:cNvPr id="29" name="dsl:c3-note-bg"/>
          <p:cNvSpPr/>
          <p:nvPr/>
        </p:nvSpPr>
        <p:spPr>
          <a:xfrm>
            <a:off x="8324850" y="5029200"/>
            <a:ext cx="2971800" cy="838200"/>
          </a:xfrm>
          <a:prstGeom prst="roundRect">
            <a:avLst>
              <a:gd name="adj" fmla="val 10000"/>
            </a:avLst>
          </a:prstGeom>
          <a:solidFill>
            <a:srgbClr val="E3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sl:c3-note"/>
          <p:cNvSpPr txBox="1"/>
          <p:nvPr/>
        </p:nvSpPr>
        <p:spPr>
          <a:xfrm>
            <a:off x="8477250" y="5029200"/>
            <a:ext cx="2667000" cy="838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23252D"/>
                </a:solidFill>
                <a:latin typeface="MiSans"/>
                <a:ea typeface="MiSans"/>
              </a:rPr>
              <a:t>Markdown 适合阅读，结构化数据适合组合，handle 适合大对象，evidence 适合验证。</a:t>
            </a:r>
          </a:p>
        </p:txBody>
      </p:sp>
      <p:cxnSp>
        <p:nvCxnSpPr>
          <p:cNvPr id="31" name="dsl:footer-line"/>
          <p:cNvCxnSpPr/>
          <p:nvPr/>
        </p:nvCxnSpPr>
        <p:spPr>
          <a:xfrm>
            <a:off x="666750" y="6438900"/>
            <a:ext cx="10858500" cy="0"/>
          </a:xfrm>
          <a:prstGeom prst="straightConnector1">
            <a:avLst/>
          </a:prstGeom>
          <a:ln w="12700">
            <a:solidFill>
              <a:srgbClr val="E3E0D8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dsl:footer-left|s=$small"/>
          <p:cNvSpPr txBox="1"/>
          <p:nvPr/>
        </p:nvSpPr>
        <p:spPr>
          <a:xfrm>
            <a:off x="666750" y="6534150"/>
            <a:ext cx="4762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从 Chat API 到 Agent Runtime · 技术分享</a:t>
            </a:r>
          </a:p>
        </p:txBody>
      </p:sp>
      <p:sp>
        <p:nvSpPr>
          <p:cNvPr id="33" name="dsl:page-num|s=$small"/>
          <p:cNvSpPr txBox="1"/>
          <p:nvPr/>
        </p:nvSpPr>
        <p:spPr>
          <a:xfrm>
            <a:off x="10763250" y="65341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6233F"/>
            </a:gs>
            <a:gs pos="100000">
              <a:srgbClr val="322A9E"/>
            </a:gs>
          </a:gsLst>
          <a:lin scaled="1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big-num"/>
          <p:cNvSpPr txBox="1"/>
          <p:nvPr/>
        </p:nvSpPr>
        <p:spPr>
          <a:xfrm>
            <a:off x="7239000" y="1524000"/>
            <a:ext cx="4191000" cy="1905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11250" noProof="1">
                <a:solidFill>
                  <a:srgbClr val="FFFFFF">
                    <a:alpha val="7843"/>
                  </a:srgbClr>
                </a:solidFill>
                <a:latin typeface="alimamashuheiti"/>
                <a:ea typeface="alimamashuheiti"/>
              </a:rPr>
              <a:t>03</a:t>
            </a:r>
          </a:p>
        </p:txBody>
      </p:sp>
      <p:sp>
        <p:nvSpPr>
          <p:cNvPr id="3" name="dsl:kicker"/>
          <p:cNvSpPr txBox="1"/>
          <p:nvPr/>
        </p:nvSpPr>
        <p:spPr>
          <a:xfrm>
            <a:off x="857250" y="2400300"/>
            <a:ext cx="4000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25" noProof="1" spc="300">
                <a:solidFill>
                  <a:srgbClr val="B9B4E0"/>
                </a:solidFill>
                <a:latin typeface="MiSans"/>
                <a:ea typeface="MiSans"/>
              </a:rPr>
              <a:t>CHAPTER 03</a:t>
            </a:r>
          </a:p>
        </p:txBody>
      </p:sp>
      <p:sp>
        <p:nvSpPr>
          <p:cNvPr id="4" name="dsl:ch-bar"/>
          <p:cNvSpPr/>
          <p:nvPr/>
        </p:nvSpPr>
        <p:spPr>
          <a:xfrm>
            <a:off x="857250" y="2781300"/>
            <a:ext cx="609600" cy="47625"/>
          </a:xfrm>
          <a:prstGeom prst="rect">
            <a:avLst/>
          </a:prstGeom>
          <a:solidFill>
            <a:srgbClr val="E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ch-title"/>
          <p:cNvSpPr txBox="1"/>
          <p:nvPr/>
        </p:nvSpPr>
        <p:spPr>
          <a:xfrm>
            <a:off x="857250" y="2971800"/>
            <a:ext cx="6096000" cy="628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300" noProof="1">
                <a:solidFill>
                  <a:srgbClr val="FFFFFF"/>
                </a:solidFill>
                <a:latin typeface="alimamashuheiti"/>
                <a:ea typeface="alimamashuheiti"/>
              </a:rPr>
              <a:t>协议层</a:t>
            </a:r>
          </a:p>
        </p:txBody>
      </p:sp>
      <p:sp>
        <p:nvSpPr>
          <p:cNvPr id="6" name="dsl:ch-sub"/>
          <p:cNvSpPr txBox="1"/>
          <p:nvPr/>
        </p:nvSpPr>
        <p:spPr>
          <a:xfrm>
            <a:off x="857250" y="3771900"/>
            <a:ext cx="8191500" cy="666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425" noProof="1">
                <a:solidFill>
                  <a:srgbClr val="CFCAE8"/>
                </a:solidFill>
                <a:latin typeface="MiSans"/>
                <a:ea typeface="MiSans"/>
              </a:rPr>
              <a:t>MCP · Skill · A2A · Policy/Memory——各管一段，协同但不合并，不存在"万能协议"。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666750" y="381000"/>
            <a:ext cx="6667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 spc="225">
                <a:solidFill>
                  <a:srgbClr val="4A44C6"/>
                </a:solidFill>
                <a:latin typeface="MiSans"/>
                <a:ea typeface="MiSans"/>
              </a:rPr>
              <a:t>PART 03 · 协议层</a:t>
            </a:r>
          </a:p>
        </p:txBody>
      </p:sp>
      <p:sp>
        <p:nvSpPr>
          <p:cNvPr id="3" name="dsl:title|s=$title"/>
          <p:cNvSpPr txBox="1"/>
          <p:nvPr/>
        </p:nvSpPr>
        <p:spPr>
          <a:xfrm>
            <a:off x="666750" y="62865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250" noProof="1">
                <a:solidFill>
                  <a:srgbClr val="23252D"/>
                </a:solidFill>
                <a:latin typeface="alimamashuheiti"/>
                <a:ea typeface="alimamashuheiti"/>
              </a:rPr>
              <a:t>五层地图：思考、经验、外设、外包、规矩</a:t>
            </a:r>
          </a:p>
        </p:txBody>
      </p:sp>
      <p:sp>
        <p:nvSpPr>
          <p:cNvPr id="4" name="dsl:title-bar"/>
          <p:cNvSpPr/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E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l1-name"/>
          <p:cNvSpPr/>
          <p:nvPr/>
        </p:nvSpPr>
        <p:spPr>
          <a:xfrm>
            <a:off x="666750" y="1333500"/>
            <a:ext cx="2000250" cy="838200"/>
          </a:xfrm>
          <a:prstGeom prst="roundRect">
            <a:avLst>
              <a:gd name="adj" fmla="val 8000"/>
            </a:avLst>
          </a:prstGeom>
          <a:solidFill>
            <a:srgbClr val="322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l1-name-txt"/>
          <p:cNvSpPr txBox="1"/>
          <p:nvPr/>
        </p:nvSpPr>
        <p:spPr>
          <a:xfrm>
            <a:off x="819150" y="1333500"/>
            <a:ext cx="1695450" cy="838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FFFFFF"/>
                </a:solidFill>
                <a:latin typeface="MiSans"/>
                <a:ea typeface="MiSans"/>
              </a:rPr>
              <a:t>🧠 Responses</a:t>
            </a:r>
          </a:p>
          <a:p>
            <a:pPr algn="l">
              <a:lnSpc>
                <a:spcPct val="140000"/>
              </a:lnSpc>
            </a:pPr>
            <a:r>
              <a:rPr sz="900" noProof="1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认知运行时</a:t>
            </a:r>
          </a:p>
        </p:txBody>
      </p:sp>
      <p:sp>
        <p:nvSpPr>
          <p:cNvPr id="7" name="dsl:l1-desc"/>
          <p:cNvSpPr/>
          <p:nvPr/>
        </p:nvSpPr>
        <p:spPr>
          <a:xfrm>
            <a:off x="2743200" y="1333500"/>
            <a:ext cx="4667250" cy="838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l1-desc-txt"/>
          <p:cNvSpPr txBox="1"/>
          <p:nvPr/>
        </p:nvSpPr>
        <p:spPr>
          <a:xfrm>
            <a:off x="2933700" y="1333500"/>
            <a:ext cx="4286250" cy="838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单个模型的推理与工具循环：状态连续性、Compaction、模型内 Tool Loop</a:t>
            </a:r>
          </a:p>
        </p:txBody>
      </p:sp>
      <p:sp>
        <p:nvSpPr>
          <p:cNvPr id="9" name="dsl:l2-name"/>
          <p:cNvSpPr/>
          <p:nvPr/>
        </p:nvSpPr>
        <p:spPr>
          <a:xfrm>
            <a:off x="666750" y="2266950"/>
            <a:ext cx="2000250" cy="838200"/>
          </a:xfrm>
          <a:prstGeom prst="roundRect">
            <a:avLst>
              <a:gd name="adj" fmla="val 8000"/>
            </a:avLst>
          </a:prstGeom>
          <a:solidFill>
            <a:srgbClr val="453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l2-name-txt"/>
          <p:cNvSpPr txBox="1"/>
          <p:nvPr/>
        </p:nvSpPr>
        <p:spPr>
          <a:xfrm>
            <a:off x="819150" y="2266950"/>
            <a:ext cx="1695450" cy="838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FFFFFF"/>
                </a:solidFill>
                <a:latin typeface="MiSans"/>
                <a:ea typeface="MiSans"/>
              </a:rPr>
              <a:t>📦 Skill</a:t>
            </a:r>
          </a:p>
          <a:p>
            <a:pPr algn="l">
              <a:lnSpc>
                <a:spcPct val="140000"/>
              </a:lnSpc>
            </a:pPr>
            <a:r>
              <a:rPr sz="900" noProof="1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可装载的经验包</a:t>
            </a:r>
          </a:p>
        </p:txBody>
      </p:sp>
      <p:sp>
        <p:nvSpPr>
          <p:cNvPr id="11" name="dsl:l2-desc"/>
          <p:cNvSpPr/>
          <p:nvPr/>
        </p:nvSpPr>
        <p:spPr>
          <a:xfrm>
            <a:off x="2743200" y="2266950"/>
            <a:ext cx="4667250" cy="838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l2-desc-txt"/>
          <p:cNvSpPr txBox="1"/>
          <p:nvPr/>
        </p:nvSpPr>
        <p:spPr>
          <a:xfrm>
            <a:off x="2933700" y="2266950"/>
            <a:ext cx="4286250" cy="838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按需加载的操作知识：触发条件、步骤、Tool 组合、脚本模板、验收与兜底</a:t>
            </a:r>
          </a:p>
        </p:txBody>
      </p:sp>
      <p:sp>
        <p:nvSpPr>
          <p:cNvPr id="13" name="dsl:l3-name"/>
          <p:cNvSpPr/>
          <p:nvPr/>
        </p:nvSpPr>
        <p:spPr>
          <a:xfrm>
            <a:off x="666750" y="3200400"/>
            <a:ext cx="2000250" cy="838200"/>
          </a:xfrm>
          <a:prstGeom prst="roundRect">
            <a:avLst>
              <a:gd name="adj" fmla="val 8000"/>
            </a:avLst>
          </a:prstGeom>
          <a:solidFill>
            <a:srgbClr val="5B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l3-name-txt"/>
          <p:cNvSpPr txBox="1"/>
          <p:nvPr/>
        </p:nvSpPr>
        <p:spPr>
          <a:xfrm>
            <a:off x="819150" y="3200400"/>
            <a:ext cx="1695450" cy="838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FFFFFF"/>
                </a:solidFill>
                <a:latin typeface="MiSans"/>
                <a:ea typeface="MiSans"/>
              </a:rPr>
              <a:t>🔌 MCP</a:t>
            </a:r>
          </a:p>
          <a:p>
            <a:pPr algn="l">
              <a:lnSpc>
                <a:spcPct val="140000"/>
              </a:lnSpc>
            </a:pPr>
            <a:r>
              <a:rPr sz="900" noProof="1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设备驱动与 I/O 总线</a:t>
            </a:r>
          </a:p>
        </p:txBody>
      </p:sp>
      <p:sp>
        <p:nvSpPr>
          <p:cNvPr id="15" name="dsl:l3-desc"/>
          <p:cNvSpPr/>
          <p:nvPr/>
        </p:nvSpPr>
        <p:spPr>
          <a:xfrm>
            <a:off x="2743200" y="3200400"/>
            <a:ext cx="4667250" cy="838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l3-desc-txt"/>
          <p:cNvSpPr txBox="1"/>
          <p:nvPr/>
        </p:nvSpPr>
        <p:spPr>
          <a:xfrm>
            <a:off x="2933700" y="3200400"/>
            <a:ext cx="4286250" cy="838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Agent 与 Tool/Data 之间的能力总线：能力发现、参数调用、资源引用、结果传输</a:t>
            </a:r>
          </a:p>
        </p:txBody>
      </p:sp>
      <p:sp>
        <p:nvSpPr>
          <p:cNvPr id="17" name="dsl:l4-name"/>
          <p:cNvSpPr/>
          <p:nvPr/>
        </p:nvSpPr>
        <p:spPr>
          <a:xfrm>
            <a:off x="666750" y="4133850"/>
            <a:ext cx="2000250" cy="838200"/>
          </a:xfrm>
          <a:prstGeom prst="roundRect">
            <a:avLst>
              <a:gd name="adj" fmla="val 8000"/>
            </a:avLst>
          </a:prstGeom>
          <a:solidFill>
            <a:srgbClr val="E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l4-name-txt"/>
          <p:cNvSpPr txBox="1"/>
          <p:nvPr/>
        </p:nvSpPr>
        <p:spPr>
          <a:xfrm>
            <a:off x="819150" y="4133850"/>
            <a:ext cx="1695450" cy="838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FFFFFF"/>
                </a:solidFill>
                <a:latin typeface="MiSans"/>
                <a:ea typeface="MiSans"/>
              </a:rPr>
              <a:t>🤝 A2A</a:t>
            </a:r>
          </a:p>
          <a:p>
            <a:pPr algn="l">
              <a:lnSpc>
                <a:spcPct val="140000"/>
              </a:lnSpc>
            </a:pPr>
            <a:r>
              <a:rPr sz="900" noProof="1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分布式任务协作</a:t>
            </a:r>
          </a:p>
        </p:txBody>
      </p:sp>
      <p:sp>
        <p:nvSpPr>
          <p:cNvPr id="19" name="dsl:l4-desc"/>
          <p:cNvSpPr/>
          <p:nvPr/>
        </p:nvSpPr>
        <p:spPr>
          <a:xfrm>
            <a:off x="2743200" y="4133850"/>
            <a:ext cx="4667250" cy="838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l4-desc-txt"/>
          <p:cNvSpPr txBox="1"/>
          <p:nvPr/>
        </p:nvSpPr>
        <p:spPr>
          <a:xfrm>
            <a:off x="2933700" y="4133850"/>
            <a:ext cx="4286250" cy="838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Agent 之间的任务协议：委托、Task 生命周期、流式进度、Artifact 交付</a:t>
            </a:r>
          </a:p>
        </p:txBody>
      </p:sp>
      <p:sp>
        <p:nvSpPr>
          <p:cNvPr id="21" name="dsl:l5-name"/>
          <p:cNvSpPr/>
          <p:nvPr/>
        </p:nvSpPr>
        <p:spPr>
          <a:xfrm>
            <a:off x="666750" y="5067300"/>
            <a:ext cx="2000250" cy="838200"/>
          </a:xfrm>
          <a:prstGeom prst="roundRect">
            <a:avLst>
              <a:gd name="adj" fmla="val 8000"/>
            </a:avLst>
          </a:prstGeom>
          <a:solidFill>
            <a:srgbClr val="26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l5-name-txt"/>
          <p:cNvSpPr txBox="1"/>
          <p:nvPr/>
        </p:nvSpPr>
        <p:spPr>
          <a:xfrm>
            <a:off x="819150" y="5067300"/>
            <a:ext cx="1695450" cy="838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FFFFFF"/>
                </a:solidFill>
                <a:latin typeface="MiSans"/>
                <a:ea typeface="MiSans"/>
              </a:rPr>
              <a:t>🛡️ Policy/Memory</a:t>
            </a:r>
          </a:p>
          <a:p>
            <a:pPr algn="l">
              <a:lnSpc>
                <a:spcPct val="140000"/>
              </a:lnSpc>
            </a:pPr>
            <a:r>
              <a:rPr sz="900" noProof="1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横向治理层</a:t>
            </a:r>
          </a:p>
        </p:txBody>
      </p:sp>
      <p:sp>
        <p:nvSpPr>
          <p:cNvPr id="23" name="dsl:l5-desc"/>
          <p:cNvSpPr/>
          <p:nvPr/>
        </p:nvSpPr>
        <p:spPr>
          <a:xfrm>
            <a:off x="2743200" y="5067300"/>
            <a:ext cx="4667250" cy="838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l:l5-desc-txt"/>
          <p:cNvSpPr txBox="1"/>
          <p:nvPr/>
        </p:nvSpPr>
        <p:spPr>
          <a:xfrm>
            <a:off x="2933700" y="5067300"/>
            <a:ext cx="4286250" cy="838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贯穿所有层：身份与租户、授权、审批、审计、Artifact 所有权、持久记忆</a:t>
            </a:r>
          </a:p>
        </p:txBody>
      </p:sp>
      <p:sp>
        <p:nvSpPr>
          <p:cNvPr id="25" name="dsl:ana-bg"/>
          <p:cNvSpPr/>
          <p:nvPr/>
        </p:nvSpPr>
        <p:spPr>
          <a:xfrm>
            <a:off x="7715250" y="1333500"/>
            <a:ext cx="3810000" cy="285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ana-head"/>
          <p:cNvSpPr txBox="1"/>
          <p:nvPr/>
        </p:nvSpPr>
        <p:spPr>
          <a:xfrm>
            <a:off x="7943850" y="1504950"/>
            <a:ext cx="33528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75" noProof="1">
                <a:solidFill>
                  <a:srgbClr val="23252D"/>
                </a:solidFill>
                <a:latin typeface="MiSans"/>
                <a:ea typeface="MiSans"/>
              </a:rPr>
              <a:t>一句话比喻</a:t>
            </a:r>
          </a:p>
        </p:txBody>
      </p:sp>
      <p:sp>
        <p:nvSpPr>
          <p:cNvPr id="27" name="dsl:ana-list"/>
          <p:cNvSpPr txBox="1"/>
          <p:nvPr/>
        </p:nvSpPr>
        <p:spPr>
          <a:xfrm>
            <a:off x="7943850" y="1847850"/>
            <a:ext cx="33528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b="1" sz="1050" noProof="1">
                <a:solidFill>
                  <a:srgbClr val="23252D"/>
                </a:solidFill>
                <a:latin typeface="MiSans"/>
                <a:ea typeface="MiSans"/>
              </a:rPr>
              <a:t>MCP</a:t>
            </a:r>
            <a:r>
              <a:rPr sz="1050" noProof="1">
                <a:solidFill>
                  <a:srgbClr val="5C5F6B"/>
                </a:solidFill>
                <a:latin typeface="MiSans"/>
                <a:ea typeface="MiSans"/>
              </a:rPr>
              <a:t> = USB 总线：外设即插即用</a:t>
            </a:r>
          </a:p>
          <a:p>
            <a:pPr algn="l">
              <a:lnSpc>
                <a:spcPct val="165000"/>
              </a:lnSpc>
            </a:pPr>
            <a:r>
              <a:rPr b="1" sz="1050" noProof="1">
                <a:solidFill>
                  <a:srgbClr val="23252D"/>
                </a:solidFill>
                <a:latin typeface="MiSans"/>
                <a:ea typeface="MiSans"/>
              </a:rPr>
              <a:t>A2A</a:t>
            </a:r>
            <a:r>
              <a:rPr sz="1050" noProof="1">
                <a:solidFill>
                  <a:srgbClr val="5C5F6B"/>
                </a:solidFill>
                <a:latin typeface="MiSans"/>
                <a:ea typeface="MiSans"/>
              </a:rPr>
              <a:t> = 外包合同：查进度、可取消、验收交付物</a:t>
            </a:r>
          </a:p>
          <a:p>
            <a:pPr algn="l">
              <a:lnSpc>
                <a:spcPct val="165000"/>
              </a:lnSpc>
            </a:pPr>
            <a:r>
              <a:rPr b="1" sz="1050" noProof="1">
                <a:solidFill>
                  <a:srgbClr val="23252D"/>
                </a:solidFill>
                <a:latin typeface="MiSans"/>
                <a:ea typeface="MiSans"/>
              </a:rPr>
              <a:t>Skill</a:t>
            </a:r>
            <a:r>
              <a:rPr sz="1050" noProof="1">
                <a:solidFill>
                  <a:srgbClr val="5C5F6B"/>
                </a:solidFill>
                <a:latin typeface="MiSans"/>
                <a:ea typeface="MiSans"/>
              </a:rPr>
              <a:t> = 老师傅的经验打包</a:t>
            </a:r>
          </a:p>
          <a:p>
            <a:pPr algn="l">
              <a:lnSpc>
                <a:spcPct val="165000"/>
              </a:lnSpc>
            </a:pPr>
            <a:r>
              <a:rPr b="1" sz="1050" noProof="1">
                <a:solidFill>
                  <a:srgbClr val="23252D"/>
                </a:solidFill>
                <a:latin typeface="MiSans"/>
                <a:ea typeface="MiSans"/>
              </a:rPr>
              <a:t>Runtime</a:t>
            </a:r>
            <a:r>
              <a:rPr sz="1050" noProof="1">
                <a:solidFill>
                  <a:srgbClr val="5C5F6B"/>
                </a:solidFill>
                <a:latin typeface="MiSans"/>
                <a:ea typeface="MiSans"/>
              </a:rPr>
              <a:t> = 大脑本身</a:t>
            </a:r>
          </a:p>
          <a:p>
            <a:pPr algn="l">
              <a:lnSpc>
                <a:spcPct val="165000"/>
              </a:lnSpc>
            </a:pPr>
            <a:r>
              <a:rPr b="1" sz="1050" noProof="1">
                <a:solidFill>
                  <a:srgbClr val="23252D"/>
                </a:solidFill>
                <a:latin typeface="MiSans"/>
                <a:ea typeface="MiSans"/>
              </a:rPr>
              <a:t>Policy</a:t>
            </a:r>
            <a:r>
              <a:rPr sz="1050" noProof="1">
                <a:solidFill>
                  <a:srgbClr val="5C5F6B"/>
                </a:solidFill>
                <a:latin typeface="MiSans"/>
                <a:ea typeface="MiSans"/>
              </a:rPr>
              <a:t> = 贯穿全程的规矩</a:t>
            </a:r>
          </a:p>
        </p:txBody>
      </p:sp>
      <p:sp>
        <p:nvSpPr>
          <p:cNvPr id="28" name="dsl:boundary-bg"/>
          <p:cNvSpPr/>
          <p:nvPr/>
        </p:nvSpPr>
        <p:spPr>
          <a:xfrm>
            <a:off x="7715250" y="4381500"/>
            <a:ext cx="3810000" cy="1524000"/>
          </a:xfrm>
          <a:prstGeom prst="roundRect">
            <a:avLst>
              <a:gd name="adj" fmla="val 8000"/>
            </a:avLst>
          </a:prstGeom>
          <a:solidFill>
            <a:srgbClr val="EC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sl:boundary-txt"/>
          <p:cNvSpPr txBox="1"/>
          <p:nvPr/>
        </p:nvSpPr>
        <p:spPr>
          <a:xfrm>
            <a:off x="7943850" y="4381500"/>
            <a:ext cx="3352800" cy="152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050" noProof="1">
                <a:solidFill>
                  <a:srgbClr val="23252D"/>
                </a:solidFill>
                <a:latin typeface="MiSans"/>
                <a:ea typeface="MiSans"/>
              </a:rPr>
              <a:t>关键分界：</a:t>
            </a:r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是否具备"自主任务生命周期"，是 Tool 与 Agent 的分界线——也是 MCP 与 A2A 长期不会合并的根本原因。</a:t>
            </a:r>
          </a:p>
        </p:txBody>
      </p:sp>
      <p:cxnSp>
        <p:nvCxnSpPr>
          <p:cNvPr id="30" name="dsl:footer-line"/>
          <p:cNvCxnSpPr/>
          <p:nvPr/>
        </p:nvCxnSpPr>
        <p:spPr>
          <a:xfrm>
            <a:off x="666750" y="6438900"/>
            <a:ext cx="10858500" cy="0"/>
          </a:xfrm>
          <a:prstGeom prst="straightConnector1">
            <a:avLst/>
          </a:prstGeom>
          <a:ln w="12700">
            <a:solidFill>
              <a:srgbClr val="E3E0D8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sl:footer-left|s=$small"/>
          <p:cNvSpPr txBox="1"/>
          <p:nvPr/>
        </p:nvSpPr>
        <p:spPr>
          <a:xfrm>
            <a:off x="666750" y="6534150"/>
            <a:ext cx="4762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从 Chat API 到 Agent Runtime · 技术分享</a:t>
            </a:r>
          </a:p>
        </p:txBody>
      </p:sp>
      <p:sp>
        <p:nvSpPr>
          <p:cNvPr id="32" name="dsl:page-num|s=$small"/>
          <p:cNvSpPr txBox="1"/>
          <p:nvPr/>
        </p:nvSpPr>
        <p:spPr>
          <a:xfrm>
            <a:off x="10763250" y="65341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666750" y="381000"/>
            <a:ext cx="6667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 spc="225">
                <a:solidFill>
                  <a:srgbClr val="4A44C6"/>
                </a:solidFill>
                <a:latin typeface="MiSans"/>
                <a:ea typeface="MiSans"/>
              </a:rPr>
              <a:t>PART 03 · 协议层</a:t>
            </a:r>
          </a:p>
        </p:txBody>
      </p:sp>
      <p:sp>
        <p:nvSpPr>
          <p:cNvPr id="3" name="dsl:title|s=$title"/>
          <p:cNvSpPr txBox="1"/>
          <p:nvPr/>
        </p:nvSpPr>
        <p:spPr>
          <a:xfrm>
            <a:off x="666750" y="62865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250" noProof="1">
                <a:solidFill>
                  <a:srgbClr val="23252D"/>
                </a:solidFill>
                <a:latin typeface="alimamashuheiti"/>
                <a:ea typeface="alimamashuheiti"/>
              </a:rPr>
              <a:t>Policy/Memory：四种状态必须分开放</a:t>
            </a:r>
          </a:p>
        </p:txBody>
      </p:sp>
      <p:sp>
        <p:nvSpPr>
          <p:cNvPr id="4" name="dsl:title-bar"/>
          <p:cNvSpPr/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E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dsl:state-table"/>
          <p:cNvGraphicFramePr>
            <a:graphicFrameLocks noGrp="1"/>
          </p:cNvGraphicFramePr>
          <p:nvPr/>
        </p:nvGraphicFramePr>
        <p:xfrm>
          <a:off x="666750" y="1333500"/>
          <a:ext cx="10858500" cy="25527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171700"/>
                <a:gridCol w="4777740"/>
                <a:gridCol w="3909060"/>
              </a:tblGrid>
              <a:tr h="40843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状态类型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26233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主要用途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26233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是否应直接长期保存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26233F"/>
                    </a:solidFill>
                  </a:tcPr>
                </a:tc>
              </a:tr>
              <a:tr h="536067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>
                          <a:solidFill>
                            <a:srgbClr val="23252D"/>
                          </a:solidFill>
                          <a:latin typeface="MiSans"/>
                          <a:ea typeface="MiSans"/>
                        </a:rPr>
                        <a:t>Reasoning State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>
                          <a:solidFill>
                            <a:srgbClr val="23252D"/>
                          </a:solidFill>
                          <a:latin typeface="MiSans"/>
                          <a:ea typeface="MiSans"/>
                        </a:rPr>
                        <a:t>当前模型的推理连续性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>
                          <a:solidFill>
                            <a:srgbClr val="23252D"/>
                          </a:solidFill>
                          <a:latin typeface="MiSans"/>
                          <a:ea typeface="MiSans"/>
                        </a:rPr>
                        <a:t>❌ 通常不应直接作为长期记忆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6067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>
                          <a:solidFill>
                            <a:srgbClr val="23252D"/>
                          </a:solidFill>
                          <a:latin typeface="MiSans"/>
                          <a:ea typeface="MiSans"/>
                        </a:rPr>
                        <a:t>Run / Task State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>
                          <a:solidFill>
                            <a:srgbClr val="23252D"/>
                          </a:solidFill>
                          <a:latin typeface="MiSans"/>
                          <a:ea typeface="MiSans"/>
                        </a:rPr>
                        <a:t>当前目标、进度、阻塞与恢复点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>
                          <a:solidFill>
                            <a:srgbClr val="23252D"/>
                          </a:solidFill>
                          <a:latin typeface="MiSans"/>
                          <a:ea typeface="MiSans"/>
                        </a:rPr>
                        <a:t>保存到任务结束或审计期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536067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>
                          <a:solidFill>
                            <a:srgbClr val="23252D"/>
                          </a:solidFill>
                          <a:latin typeface="MiSans"/>
                          <a:ea typeface="MiSans"/>
                        </a:rPr>
                        <a:t>Artifact State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>
                          <a:solidFill>
                            <a:srgbClr val="23252D"/>
                          </a:solidFill>
                          <a:latin typeface="MiSans"/>
                          <a:ea typeface="MiSans"/>
                        </a:rPr>
                        <a:t>文件、代码、报告、数据及版本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>
                          <a:solidFill>
                            <a:srgbClr val="23252D"/>
                          </a:solidFill>
                          <a:latin typeface="MiSans"/>
                          <a:ea typeface="MiSans"/>
                        </a:rPr>
                        <a:t>按业务生命周期保存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6067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>
                          <a:solidFill>
                            <a:srgbClr val="23252D"/>
                          </a:solidFill>
                          <a:latin typeface="MiSans"/>
                          <a:ea typeface="MiSans"/>
                        </a:rPr>
                        <a:t>Durable Memory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>
                          <a:solidFill>
                            <a:srgbClr val="23252D"/>
                          </a:solidFill>
                          <a:latin typeface="MiSans"/>
                          <a:ea typeface="MiSans"/>
                        </a:rPr>
                        <a:t>经确认的偏好、事实和环境经验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75" noProof="1">
                          <a:solidFill>
                            <a:srgbClr val="23252D"/>
                          </a:solidFill>
                          <a:latin typeface="MiSans"/>
                          <a:ea typeface="MiSans"/>
                        </a:rPr>
                        <a:t>✅ 经筛选、验证后才保存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E0D8"/>
                      </a:solidFill>
                      <a:prstDash val="soli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6" name="dsl:sec-bg"/>
          <p:cNvSpPr/>
          <p:nvPr/>
        </p:nvSpPr>
        <p:spPr>
          <a:xfrm>
            <a:off x="666750" y="4114800"/>
            <a:ext cx="5286375" cy="1981200"/>
          </a:xfrm>
          <a:prstGeom prst="roundRect">
            <a:avLst>
              <a:gd name="adj" fmla="val 7000"/>
            </a:avLst>
          </a:prstGeom>
          <a:solidFill>
            <a:srgbClr val="FB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sec-head"/>
          <p:cNvSpPr txBox="1"/>
          <p:nvPr/>
        </p:nvSpPr>
        <p:spPr>
          <a:xfrm>
            <a:off x="914400" y="4286250"/>
            <a:ext cx="4762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75" noProof="1">
                <a:solidFill>
                  <a:srgbClr val="D5544F"/>
                </a:solidFill>
                <a:latin typeface="MiSans"/>
                <a:ea typeface="MiSans"/>
              </a:rPr>
              <a:t>🔐 MCP 的一个安全细节</a:t>
            </a:r>
          </a:p>
        </p:txBody>
      </p:sp>
      <p:sp>
        <p:nvSpPr>
          <p:cNvPr id="8" name="dsl:sec-text"/>
          <p:cNvSpPr txBox="1"/>
          <p:nvPr/>
        </p:nvSpPr>
        <p:spPr>
          <a:xfrm>
            <a:off x="914400" y="4629150"/>
            <a:ext cx="4791075" cy="1238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MCP 没有统一的协议级状态会话——handle 在协议层只是普通字符串。因此服务端必须在</a:t>
            </a:r>
            <a:r>
              <a:rPr b="1" sz="1050" noProof="1">
                <a:solidFill>
                  <a:srgbClr val="23252D"/>
                </a:solidFill>
                <a:latin typeface="MiSans"/>
                <a:ea typeface="MiSans"/>
              </a:rPr>
              <a:t>每次调用时重新验证调用者权限</a:t>
            </a:r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，不能因为"上次验证过"就放行。</a:t>
            </a:r>
          </a:p>
        </p:txBody>
      </p:sp>
      <p:sp>
        <p:nvSpPr>
          <p:cNvPr id="9" name="dsl:merge-bg"/>
          <p:cNvSpPr/>
          <p:nvPr/>
        </p:nvSpPr>
        <p:spPr>
          <a:xfrm>
            <a:off x="6238875" y="4114800"/>
            <a:ext cx="5286375" cy="1981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merge-head"/>
          <p:cNvSpPr txBox="1"/>
          <p:nvPr/>
        </p:nvSpPr>
        <p:spPr>
          <a:xfrm>
            <a:off x="6486525" y="4286250"/>
            <a:ext cx="4762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75" noProof="1">
                <a:solidFill>
                  <a:srgbClr val="23252D"/>
                </a:solidFill>
                <a:latin typeface="MiSans"/>
                <a:ea typeface="MiSans"/>
              </a:rPr>
              <a:t>🧱 为什么不合并成万能协议？</a:t>
            </a:r>
          </a:p>
        </p:txBody>
      </p:sp>
      <p:sp>
        <p:nvSpPr>
          <p:cNvPr id="11" name="dsl:merge-text"/>
          <p:cNvSpPr txBox="1"/>
          <p:nvPr/>
        </p:nvSpPr>
        <p:spPr>
          <a:xfrm>
            <a:off x="6486525" y="4629150"/>
            <a:ext cx="4791075" cy="1238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sz="1050" noProof="1">
                <a:solidFill>
                  <a:srgbClr val="5C5F6B"/>
                </a:solidFill>
                <a:latin typeface="MiSans"/>
                <a:ea typeface="MiSans"/>
              </a:rPr>
              <a:t>MCP 面向相对原子的能力与数据访问；A2A 面向有自主性的远程执行者和长生命周期任务。一个 Agent 可以同时用 MCP 调数据库、用 A2A 委托另一个 Agent——统一底层传输格式，消除不了语义差异。</a:t>
            </a:r>
          </a:p>
        </p:txBody>
      </p:sp>
      <p:cxnSp>
        <p:nvCxnSpPr>
          <p:cNvPr id="12" name="dsl:footer-line"/>
          <p:cNvCxnSpPr/>
          <p:nvPr/>
        </p:nvCxnSpPr>
        <p:spPr>
          <a:xfrm>
            <a:off x="666750" y="6438900"/>
            <a:ext cx="10858500" cy="0"/>
          </a:xfrm>
          <a:prstGeom prst="straightConnector1">
            <a:avLst/>
          </a:prstGeom>
          <a:ln w="12700">
            <a:solidFill>
              <a:srgbClr val="E3E0D8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sl:footer-left|s=$small"/>
          <p:cNvSpPr txBox="1"/>
          <p:nvPr/>
        </p:nvSpPr>
        <p:spPr>
          <a:xfrm>
            <a:off x="666750" y="6534150"/>
            <a:ext cx="4762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从 Chat API 到 Agent Runtime · 技术分享</a:t>
            </a:r>
          </a:p>
        </p:txBody>
      </p:sp>
      <p:sp>
        <p:nvSpPr>
          <p:cNvPr id="14" name="dsl:page-num|s=$small"/>
          <p:cNvSpPr txBox="1"/>
          <p:nvPr/>
        </p:nvSpPr>
        <p:spPr>
          <a:xfrm>
            <a:off x="10763250" y="65341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6233F"/>
            </a:gs>
            <a:gs pos="100000">
              <a:srgbClr val="322A9E"/>
            </a:gs>
          </a:gsLst>
          <a:lin scaled="1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big-num"/>
          <p:cNvSpPr txBox="1"/>
          <p:nvPr/>
        </p:nvSpPr>
        <p:spPr>
          <a:xfrm>
            <a:off x="7239000" y="1524000"/>
            <a:ext cx="4191000" cy="1905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11250" noProof="1">
                <a:solidFill>
                  <a:srgbClr val="FFFFFF">
                    <a:alpha val="7843"/>
                  </a:srgbClr>
                </a:solidFill>
                <a:latin typeface="alimamashuheiti"/>
                <a:ea typeface="alimamashuheiti"/>
              </a:rPr>
              <a:t>04</a:t>
            </a:r>
          </a:p>
        </p:txBody>
      </p:sp>
      <p:sp>
        <p:nvSpPr>
          <p:cNvPr id="3" name="dsl:kicker"/>
          <p:cNvSpPr txBox="1"/>
          <p:nvPr/>
        </p:nvSpPr>
        <p:spPr>
          <a:xfrm>
            <a:off x="857250" y="2400300"/>
            <a:ext cx="4000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25" noProof="1" spc="300">
                <a:solidFill>
                  <a:srgbClr val="B9B4E0"/>
                </a:solidFill>
                <a:latin typeface="MiSans"/>
                <a:ea typeface="MiSans"/>
              </a:rPr>
              <a:t>CHAPTER 04</a:t>
            </a:r>
          </a:p>
        </p:txBody>
      </p:sp>
      <p:sp>
        <p:nvSpPr>
          <p:cNvPr id="4" name="dsl:ch-bar"/>
          <p:cNvSpPr/>
          <p:nvPr/>
        </p:nvSpPr>
        <p:spPr>
          <a:xfrm>
            <a:off x="857250" y="2781300"/>
            <a:ext cx="609600" cy="47625"/>
          </a:xfrm>
          <a:prstGeom prst="rect">
            <a:avLst/>
          </a:prstGeom>
          <a:solidFill>
            <a:srgbClr val="E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ch-title"/>
          <p:cNvSpPr txBox="1"/>
          <p:nvPr/>
        </p:nvSpPr>
        <p:spPr>
          <a:xfrm>
            <a:off x="857250" y="2971800"/>
            <a:ext cx="6096000" cy="628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300" noProof="1">
                <a:solidFill>
                  <a:srgbClr val="FFFFFF"/>
                </a:solidFill>
                <a:latin typeface="alimamashuheiti"/>
                <a:ea typeface="alimamashuheiti"/>
              </a:rPr>
              <a:t>案例深扒</a:t>
            </a:r>
          </a:p>
        </p:txBody>
      </p:sp>
      <p:sp>
        <p:nvSpPr>
          <p:cNvPr id="6" name="dsl:ch-sub"/>
          <p:cNvSpPr txBox="1"/>
          <p:nvPr/>
        </p:nvSpPr>
        <p:spPr>
          <a:xfrm>
            <a:off x="857250" y="3771900"/>
            <a:ext cx="8572500" cy="666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425" noProof="1">
                <a:solidFill>
                  <a:srgbClr val="CFCAE8"/>
                </a:solidFill>
                <a:latin typeface="MiSans"/>
                <a:ea typeface="MiSans"/>
              </a:rPr>
              <a:t>ARC-AGI-3：同一个 GPT-5.6 Sol，未重新训练，公开集得分 13.3% → 38.3%，输出 Token 降到约 1/6。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666750" y="381000"/>
            <a:ext cx="6667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 spc="225">
                <a:solidFill>
                  <a:srgbClr val="4A44C6"/>
                </a:solidFill>
                <a:latin typeface="MiSans"/>
                <a:ea typeface="MiSans"/>
              </a:rPr>
              <a:t>PART 04 · 案例深扒</a:t>
            </a:r>
          </a:p>
        </p:txBody>
      </p:sp>
      <p:sp>
        <p:nvSpPr>
          <p:cNvPr id="3" name="dsl:title|s=$title"/>
          <p:cNvSpPr txBox="1"/>
          <p:nvPr/>
        </p:nvSpPr>
        <p:spPr>
          <a:xfrm>
            <a:off x="666750" y="62865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250" noProof="1">
                <a:solidFill>
                  <a:srgbClr val="23252D"/>
                </a:solidFill>
                <a:latin typeface="alimamashuheiti"/>
                <a:ea typeface="alimamashuheiti"/>
              </a:rPr>
              <a:t>规则未知的游戏：长程闭环任务的软肋</a:t>
            </a:r>
          </a:p>
        </p:txBody>
      </p:sp>
      <p:sp>
        <p:nvSpPr>
          <p:cNvPr id="4" name="dsl:title-bar"/>
          <p:cNvSpPr/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E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loop-n1"/>
          <p:cNvSpPr/>
          <p:nvPr/>
        </p:nvSpPr>
        <p:spPr>
          <a:xfrm>
            <a:off x="809625" y="1352550"/>
            <a:ext cx="1809750" cy="5524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4A44C6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loop-t1"/>
          <p:cNvSpPr txBox="1"/>
          <p:nvPr/>
        </p:nvSpPr>
        <p:spPr>
          <a:xfrm>
            <a:off x="809625" y="1352550"/>
            <a:ext cx="1809750" cy="552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125" noProof="1">
                <a:solidFill>
                  <a:srgbClr val="23252D"/>
                </a:solidFill>
                <a:latin typeface="MiSans"/>
                <a:ea typeface="MiSans"/>
              </a:rPr>
              <a:t>👀 观察画面</a:t>
            </a:r>
          </a:p>
        </p:txBody>
      </p:sp>
      <p:sp>
        <p:nvSpPr>
          <p:cNvPr id="7" name="dsl:loop-a1"/>
          <p:cNvSpPr txBox="1"/>
          <p:nvPr/>
        </p:nvSpPr>
        <p:spPr>
          <a:xfrm>
            <a:off x="2619375" y="1352550"/>
            <a:ext cx="381000" cy="552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500" noProof="1">
                <a:solidFill>
                  <a:srgbClr val="4A44C6"/>
                </a:solidFill>
                <a:latin typeface="MiSans"/>
                <a:ea typeface="MiSans"/>
              </a:rPr>
              <a:t>→</a:t>
            </a:r>
          </a:p>
        </p:txBody>
      </p:sp>
      <p:sp>
        <p:nvSpPr>
          <p:cNvPr id="8" name="dsl:loop-n2"/>
          <p:cNvSpPr/>
          <p:nvPr/>
        </p:nvSpPr>
        <p:spPr>
          <a:xfrm>
            <a:off x="3000375" y="1352550"/>
            <a:ext cx="1809750" cy="5524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4A44C6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loop-t2"/>
          <p:cNvSpPr txBox="1"/>
          <p:nvPr/>
        </p:nvSpPr>
        <p:spPr>
          <a:xfrm>
            <a:off x="3000375" y="1352550"/>
            <a:ext cx="1809750" cy="552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125" noProof="1">
                <a:solidFill>
                  <a:srgbClr val="23252D"/>
                </a:solidFill>
                <a:latin typeface="MiSans"/>
                <a:ea typeface="MiSans"/>
              </a:rPr>
              <a:t>💡 形成假设</a:t>
            </a:r>
          </a:p>
        </p:txBody>
      </p:sp>
      <p:sp>
        <p:nvSpPr>
          <p:cNvPr id="10" name="dsl:loop-a2"/>
          <p:cNvSpPr txBox="1"/>
          <p:nvPr/>
        </p:nvSpPr>
        <p:spPr>
          <a:xfrm>
            <a:off x="4810125" y="1352550"/>
            <a:ext cx="381000" cy="552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500" noProof="1">
                <a:solidFill>
                  <a:srgbClr val="4A44C6"/>
                </a:solidFill>
                <a:latin typeface="MiSans"/>
                <a:ea typeface="MiSans"/>
              </a:rPr>
              <a:t>→</a:t>
            </a:r>
          </a:p>
        </p:txBody>
      </p:sp>
      <p:sp>
        <p:nvSpPr>
          <p:cNvPr id="11" name="dsl:loop-n3"/>
          <p:cNvSpPr/>
          <p:nvPr/>
        </p:nvSpPr>
        <p:spPr>
          <a:xfrm>
            <a:off x="5191125" y="1352550"/>
            <a:ext cx="1809750" cy="5524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4A44C6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loop-t3"/>
          <p:cNvSpPr txBox="1"/>
          <p:nvPr/>
        </p:nvSpPr>
        <p:spPr>
          <a:xfrm>
            <a:off x="5191125" y="1352550"/>
            <a:ext cx="1809750" cy="552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125" noProof="1">
                <a:solidFill>
                  <a:srgbClr val="23252D"/>
                </a:solidFill>
                <a:latin typeface="MiSans"/>
                <a:ea typeface="MiSans"/>
              </a:rPr>
              <a:t>🎮 选择动作</a:t>
            </a:r>
          </a:p>
        </p:txBody>
      </p:sp>
      <p:sp>
        <p:nvSpPr>
          <p:cNvPr id="13" name="dsl:loop-a3"/>
          <p:cNvSpPr txBox="1"/>
          <p:nvPr/>
        </p:nvSpPr>
        <p:spPr>
          <a:xfrm>
            <a:off x="7000875" y="1352550"/>
            <a:ext cx="381000" cy="552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500" noProof="1">
                <a:solidFill>
                  <a:srgbClr val="4A44C6"/>
                </a:solidFill>
                <a:latin typeface="MiSans"/>
                <a:ea typeface="MiSans"/>
              </a:rPr>
              <a:t>→</a:t>
            </a:r>
          </a:p>
        </p:txBody>
      </p:sp>
      <p:sp>
        <p:nvSpPr>
          <p:cNvPr id="14" name="dsl:loop-n4"/>
          <p:cNvSpPr/>
          <p:nvPr/>
        </p:nvSpPr>
        <p:spPr>
          <a:xfrm>
            <a:off x="7381875" y="1352550"/>
            <a:ext cx="1809750" cy="5524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4A44C6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loop-t4"/>
          <p:cNvSpPr txBox="1"/>
          <p:nvPr/>
        </p:nvSpPr>
        <p:spPr>
          <a:xfrm>
            <a:off x="7381875" y="1352550"/>
            <a:ext cx="1809750" cy="552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125" noProof="1">
                <a:solidFill>
                  <a:srgbClr val="23252D"/>
                </a:solidFill>
                <a:latin typeface="MiSans"/>
                <a:ea typeface="MiSans"/>
              </a:rPr>
              <a:t>🖼️ 新画面</a:t>
            </a:r>
          </a:p>
        </p:txBody>
      </p:sp>
      <p:sp>
        <p:nvSpPr>
          <p:cNvPr id="16" name="dsl:loop-a4"/>
          <p:cNvSpPr txBox="1"/>
          <p:nvPr/>
        </p:nvSpPr>
        <p:spPr>
          <a:xfrm>
            <a:off x="9191625" y="1352550"/>
            <a:ext cx="381000" cy="552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500" noProof="1">
                <a:solidFill>
                  <a:srgbClr val="4A44C6"/>
                </a:solidFill>
                <a:latin typeface="MiSans"/>
                <a:ea typeface="MiSans"/>
              </a:rPr>
              <a:t>→</a:t>
            </a:r>
          </a:p>
        </p:txBody>
      </p:sp>
      <p:sp>
        <p:nvSpPr>
          <p:cNvPr id="17" name="dsl:loop-n5"/>
          <p:cNvSpPr/>
          <p:nvPr/>
        </p:nvSpPr>
        <p:spPr>
          <a:xfrm>
            <a:off x="9572625" y="1352550"/>
            <a:ext cx="1809750" cy="552450"/>
          </a:xfrm>
          <a:prstGeom prst="roundRect">
            <a:avLst>
              <a:gd name="adj" fmla="val 14000"/>
            </a:avLst>
          </a:prstGeom>
          <a:solidFill>
            <a:srgbClr val="ECEAFA"/>
          </a:solidFill>
          <a:ln w="19050">
            <a:solidFill>
              <a:srgbClr val="4A44C6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loop-t5"/>
          <p:cNvSpPr txBox="1"/>
          <p:nvPr/>
        </p:nvSpPr>
        <p:spPr>
          <a:xfrm>
            <a:off x="9572625" y="1352550"/>
            <a:ext cx="1809750" cy="552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125" noProof="1">
                <a:solidFill>
                  <a:srgbClr val="23252D"/>
                </a:solidFill>
                <a:latin typeface="MiSans"/>
                <a:ea typeface="MiSans"/>
              </a:rPr>
              <a:t>🔧 修正假设</a:t>
            </a:r>
          </a:p>
        </p:txBody>
      </p:sp>
      <p:sp>
        <p:nvSpPr>
          <p:cNvPr id="19" name="dsl:loop-back"/>
          <p:cNvSpPr txBox="1"/>
          <p:nvPr/>
        </p:nvSpPr>
        <p:spPr>
          <a:xfrm>
            <a:off x="809625" y="2019300"/>
            <a:ext cx="1057275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050" noProof="1">
                <a:solidFill>
                  <a:srgbClr val="E8863A"/>
                </a:solidFill>
                <a:latin typeface="MiSans"/>
                <a:ea typeface="MiSans"/>
              </a:rPr>
              <a:t>↺ 循环几十甚至上百步——早期发现的规则后期还要用，对"状态连续性"极其敏感</a:t>
            </a:r>
          </a:p>
        </p:txBody>
      </p:sp>
      <p:sp>
        <p:nvSpPr>
          <p:cNvPr id="20" name="dsl:bad1-bg"/>
          <p:cNvSpPr/>
          <p:nvPr/>
        </p:nvSpPr>
        <p:spPr>
          <a:xfrm>
            <a:off x="666750" y="2514600"/>
            <a:ext cx="5286375" cy="2514600"/>
          </a:xfrm>
          <a:prstGeom prst="roundRect">
            <a:avLst>
              <a:gd name="adj" fmla="val 7000"/>
            </a:avLst>
          </a:prstGeom>
          <a:solidFill>
            <a:srgbClr val="FB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bad1-head"/>
          <p:cNvSpPr txBox="1"/>
          <p:nvPr/>
        </p:nvSpPr>
        <p:spPr>
          <a:xfrm>
            <a:off x="914400" y="2686050"/>
            <a:ext cx="4762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75" noProof="1">
                <a:solidFill>
                  <a:srgbClr val="D5544F"/>
                </a:solidFill>
                <a:latin typeface="MiSans"/>
                <a:ea typeface="MiSans"/>
              </a:rPr>
              <a:t>🩹 致命伤 ①：每步丢弃私有推理</a:t>
            </a:r>
          </a:p>
        </p:txBody>
      </p:sp>
      <p:sp>
        <p:nvSpPr>
          <p:cNvPr id="22" name="dsl:bad1-text"/>
          <p:cNvSpPr txBox="1"/>
          <p:nvPr/>
        </p:nvSpPr>
        <p:spPr>
          <a:xfrm>
            <a:off x="914400" y="3028950"/>
            <a:ext cx="4791075" cy="1866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模型能看到过去的动作记录，却无法继续使用产生这些动作时的</a:t>
            </a:r>
            <a:r>
              <a:rPr b="1" sz="1050" noProof="1">
                <a:solidFill>
                  <a:srgbClr val="23252D"/>
                </a:solidFill>
                <a:latin typeface="MiSans"/>
                <a:ea typeface="MiSans"/>
              </a:rPr>
              <a:t>内部推理状态</a:t>
            </a:r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：</a:t>
            </a:r>
          </a:p>
          <a:p>
            <a:pPr algn="l" lvl="0" indent="-160020" marL="200025">
              <a:lnSpc>
                <a:spcPct val="165000"/>
              </a:lnSpc>
              <a:buChar char="•"/>
            </a:pPr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每一步都花大量 Token 重新解释游戏</a:t>
            </a:r>
          </a:p>
          <a:p>
            <a:pPr algn="l" lvl="0" indent="-160020" marL="200025">
              <a:lnSpc>
                <a:spcPct val="165000"/>
              </a:lnSpc>
              <a:buChar char="•"/>
            </a:pPr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已验证的规律不能稳定复用</a:t>
            </a:r>
          </a:p>
          <a:p>
            <a:pPr algn="l" lvl="0" indent="-160020" marL="200025">
              <a:lnSpc>
                <a:spcPct val="165000"/>
              </a:lnSpc>
              <a:buChar char="•"/>
            </a:pPr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策略在相邻动作间不连贯</a:t>
            </a:r>
          </a:p>
          <a:p>
            <a:pPr algn="l" lvl="0" indent="-160020" marL="200025">
              <a:lnSpc>
                <a:spcPct val="165000"/>
              </a:lnSpc>
              <a:buChar char="•"/>
            </a:pPr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探索难以累计成长期知识</a:t>
            </a:r>
          </a:p>
        </p:txBody>
      </p:sp>
      <p:sp>
        <p:nvSpPr>
          <p:cNvPr id="23" name="dsl:bad2-bg"/>
          <p:cNvSpPr/>
          <p:nvPr/>
        </p:nvSpPr>
        <p:spPr>
          <a:xfrm>
            <a:off x="6238875" y="2514600"/>
            <a:ext cx="5286375" cy="2514600"/>
          </a:xfrm>
          <a:prstGeom prst="roundRect">
            <a:avLst>
              <a:gd name="adj" fmla="val 7000"/>
            </a:avLst>
          </a:prstGeom>
          <a:solidFill>
            <a:srgbClr val="FB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l:bad2-head"/>
          <p:cNvSpPr txBox="1"/>
          <p:nvPr/>
        </p:nvSpPr>
        <p:spPr>
          <a:xfrm>
            <a:off x="6486525" y="2686050"/>
            <a:ext cx="4762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75" noProof="1">
                <a:solidFill>
                  <a:srgbClr val="D5544F"/>
                </a:solidFill>
                <a:latin typeface="MiSans"/>
                <a:ea typeface="MiSans"/>
              </a:rPr>
              <a:t>🩹 致命伤 ②：滚动截断早期历史</a:t>
            </a:r>
          </a:p>
        </p:txBody>
      </p:sp>
      <p:sp>
        <p:nvSpPr>
          <p:cNvPr id="25" name="dsl:bad2-text"/>
          <p:cNvSpPr txBox="1"/>
          <p:nvPr/>
        </p:nvSpPr>
        <p:spPr>
          <a:xfrm>
            <a:off x="6486525" y="3028950"/>
            <a:ext cx="4791075" cy="1866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上下文超阈值后直接</a:t>
            </a:r>
            <a:r>
              <a:rPr b="1" sz="1050" noProof="1">
                <a:solidFill>
                  <a:srgbClr val="23252D"/>
                </a:solidFill>
                <a:latin typeface="MiSans"/>
                <a:ea typeface="MiSans"/>
              </a:rPr>
              <a:t>删除最早的动作和观察</a:t>
            </a:r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，模型逐渐失去"过去发生过什么"：</a:t>
            </a:r>
          </a:p>
          <a:p>
            <a:pPr algn="l" lvl="0" indent="-160020" marL="200025">
              <a:lnSpc>
                <a:spcPct val="165000"/>
              </a:lnSpc>
              <a:buChar char="•"/>
            </a:pPr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不只是减少信息量</a:t>
            </a:r>
          </a:p>
          <a:p>
            <a:pPr algn="l" lvl="0" indent="-160020" marL="200025">
              <a:lnSpc>
                <a:spcPct val="165000"/>
              </a:lnSpc>
              <a:buChar char="•"/>
            </a:pPr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更会破坏因果链——后期决策依赖很早的规则发现</a:t>
            </a:r>
          </a:p>
          <a:p>
            <a:pPr algn="l" lvl="0" indent="-160020" marL="200025">
              <a:lnSpc>
                <a:spcPct val="165000"/>
              </a:lnSpc>
              <a:buChar char="•"/>
            </a:pPr>
            <a:r>
              <a:rPr sz="1050" noProof="1">
                <a:solidFill>
                  <a:srgbClr val="23252D"/>
                </a:solidFill>
                <a:latin typeface="MiSans"/>
                <a:ea typeface="MiSans"/>
              </a:rPr>
              <a:t>而这些记录已经不在上下文中</a:t>
            </a:r>
          </a:p>
        </p:txBody>
      </p:sp>
      <p:sp>
        <p:nvSpPr>
          <p:cNvPr id="26" name="dsl:ana-bg"/>
          <p:cNvSpPr/>
          <p:nvPr/>
        </p:nvSpPr>
        <p:spPr>
          <a:xfrm>
            <a:off x="666750" y="5257800"/>
            <a:ext cx="10858500" cy="838200"/>
          </a:xfrm>
          <a:prstGeom prst="roundRect">
            <a:avLst>
              <a:gd name="adj" fmla="val 10000"/>
            </a:avLst>
          </a:prstGeom>
          <a:solidFill>
            <a:srgbClr val="FC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sl:ana-text"/>
          <p:cNvSpPr txBox="1"/>
          <p:nvPr/>
        </p:nvSpPr>
        <p:spPr>
          <a:xfrm>
            <a:off x="952500" y="5257800"/>
            <a:ext cx="10287000" cy="838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5000"/>
              </a:lnSpc>
            </a:pPr>
            <a:r>
              <a:rPr b="1" sz="1125" noProof="1">
                <a:solidFill>
                  <a:srgbClr val="23252D"/>
                </a:solidFill>
                <a:latin typeface="MiSans"/>
                <a:ea typeface="MiSans"/>
              </a:rPr>
              <a:t>🧩 打个比方：</a:t>
            </a:r>
            <a:r>
              <a:rPr sz="1125" noProof="1">
                <a:solidFill>
                  <a:srgbClr val="23252D"/>
                </a:solidFill>
                <a:latin typeface="MiSans"/>
                <a:ea typeface="MiSans"/>
              </a:rPr>
              <a:t>密室逃脱里，每解开一个机关就被要求忘掉刚才的推理过程（致命伤①）；笔记记满了就把最早的几页撕掉（致命伤②）。你的智商没变——但你永远走不出这个密室。</a:t>
            </a:r>
          </a:p>
        </p:txBody>
      </p:sp>
      <p:cxnSp>
        <p:nvCxnSpPr>
          <p:cNvPr id="28" name="dsl:footer-line"/>
          <p:cNvCxnSpPr/>
          <p:nvPr/>
        </p:nvCxnSpPr>
        <p:spPr>
          <a:xfrm>
            <a:off x="666750" y="6438900"/>
            <a:ext cx="10858500" cy="0"/>
          </a:xfrm>
          <a:prstGeom prst="straightConnector1">
            <a:avLst/>
          </a:prstGeom>
          <a:ln w="12700">
            <a:solidFill>
              <a:srgbClr val="E3E0D8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sl:footer-left|s=$small"/>
          <p:cNvSpPr txBox="1"/>
          <p:nvPr/>
        </p:nvSpPr>
        <p:spPr>
          <a:xfrm>
            <a:off x="666750" y="6534150"/>
            <a:ext cx="4762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从 Chat API 到 Agent Runtime · 技术分享</a:t>
            </a:r>
          </a:p>
        </p:txBody>
      </p:sp>
      <p:sp>
        <p:nvSpPr>
          <p:cNvPr id="30" name="dsl:page-num|s=$small"/>
          <p:cNvSpPr txBox="1"/>
          <p:nvPr/>
        </p:nvSpPr>
        <p:spPr>
          <a:xfrm>
            <a:off x="10763250" y="65341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666750" y="381000"/>
            <a:ext cx="6667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 spc="225">
                <a:solidFill>
                  <a:srgbClr val="4A44C6"/>
                </a:solidFill>
                <a:latin typeface="MiSans"/>
                <a:ea typeface="MiSans"/>
              </a:rPr>
              <a:t>PART 04 · 案例深扒</a:t>
            </a:r>
          </a:p>
        </p:txBody>
      </p:sp>
      <p:sp>
        <p:nvSpPr>
          <p:cNvPr id="3" name="dsl:title|s=$title"/>
          <p:cNvSpPr txBox="1"/>
          <p:nvPr/>
        </p:nvSpPr>
        <p:spPr>
          <a:xfrm>
            <a:off x="666750" y="628650"/>
            <a:ext cx="100965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250" noProof="1">
                <a:solidFill>
                  <a:srgbClr val="23252D"/>
                </a:solidFill>
                <a:latin typeface="alimamashuheiti"/>
                <a:ea typeface="alimamashuheiti"/>
              </a:rPr>
              <a:t>只做对两件事：保留推理 + 压缩替代截断</a:t>
            </a:r>
          </a:p>
        </p:txBody>
      </p:sp>
      <p:sp>
        <p:nvSpPr>
          <p:cNvPr id="4" name="dsl:title-bar"/>
          <p:cNvSpPr/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E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fix1-bg"/>
          <p:cNvSpPr/>
          <p:nvPr/>
        </p:nvSpPr>
        <p:spPr>
          <a:xfrm>
            <a:off x="666750" y="1333500"/>
            <a:ext cx="5143500" cy="2114550"/>
          </a:xfrm>
          <a:prstGeom prst="roundRect">
            <a:avLst>
              <a:gd name="adj" fmla="val 7000"/>
            </a:avLst>
          </a:prstGeom>
          <a:solidFill>
            <a:srgbClr val="E3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fix1-head"/>
          <p:cNvSpPr txBox="1"/>
          <p:nvPr/>
        </p:nvSpPr>
        <p:spPr>
          <a:xfrm>
            <a:off x="914400" y="1504950"/>
            <a:ext cx="466725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75" noProof="1">
                <a:solidFill>
                  <a:srgbClr val="2E9E6B"/>
                </a:solidFill>
                <a:latin typeface="MiSans"/>
                <a:ea typeface="MiSans"/>
              </a:rPr>
              <a:t>🔧 调整 ①：Retained Reasoning</a:t>
            </a:r>
          </a:p>
        </p:txBody>
      </p:sp>
      <p:sp>
        <p:nvSpPr>
          <p:cNvPr id="7" name="dsl:fix1-text"/>
          <p:cNvSpPr txBox="1"/>
          <p:nvPr/>
        </p:nvSpPr>
        <p:spPr>
          <a:xfrm>
            <a:off x="914400" y="1828800"/>
            <a:ext cx="4667250" cy="1485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975" noProof="1">
                <a:solidFill>
                  <a:srgbClr val="23252D"/>
                </a:solidFill>
                <a:latin typeface="MiSans"/>
                <a:ea typeface="MiSans"/>
              </a:rPr>
              <a:t>用 previous_response_id + persisted reasoning，让模型继续使用兼容的 reasoning items（不透明的内部状态，非公开 CoT）。三档控制：</a:t>
            </a:r>
          </a:p>
          <a:p>
            <a:pPr algn="l" lvl="0" indent="-148590" marL="185737">
              <a:lnSpc>
                <a:spcPct val="160000"/>
              </a:lnSpc>
              <a:buChar char="•"/>
            </a:pPr>
            <a:r>
              <a:rPr b="1" sz="975" noProof="1">
                <a:solidFill>
                  <a:srgbClr val="23252D"/>
                </a:solidFill>
                <a:latin typeface="MiSans"/>
                <a:ea typeface="MiSans"/>
              </a:rPr>
              <a:t>all_turns</a:t>
            </a:r>
            <a:r>
              <a:rPr sz="975" noProof="1">
                <a:solidFill>
                  <a:srgbClr val="23252D"/>
                </a:solidFill>
                <a:latin typeface="MiSans"/>
                <a:ea typeface="MiSans"/>
              </a:rPr>
              <a:t>：用更早回合的推理状态</a:t>
            </a:r>
          </a:p>
          <a:p>
            <a:pPr algn="l" lvl="0" indent="-148590" marL="185737">
              <a:lnSpc>
                <a:spcPct val="160000"/>
              </a:lnSpc>
              <a:buChar char="•"/>
            </a:pPr>
            <a:r>
              <a:rPr b="1" sz="975" noProof="1">
                <a:solidFill>
                  <a:srgbClr val="23252D"/>
                </a:solidFill>
                <a:latin typeface="MiSans"/>
                <a:ea typeface="MiSans"/>
              </a:rPr>
              <a:t>current_turn</a:t>
            </a:r>
            <a:r>
              <a:rPr sz="975" noProof="1">
                <a:solidFill>
                  <a:srgbClr val="23252D"/>
                </a:solidFill>
                <a:latin typeface="MiSans"/>
                <a:ea typeface="MiSans"/>
              </a:rPr>
              <a:t>：只用当前回合，避免旧推理干扰</a:t>
            </a:r>
          </a:p>
          <a:p>
            <a:pPr algn="l" lvl="0" indent="-148590" marL="185737">
              <a:lnSpc>
                <a:spcPct val="160000"/>
              </a:lnSpc>
              <a:buChar char="•"/>
            </a:pPr>
            <a:r>
              <a:rPr b="1" sz="975" noProof="1">
                <a:solidFill>
                  <a:srgbClr val="23252D"/>
                </a:solidFill>
                <a:latin typeface="MiSans"/>
                <a:ea typeface="MiSans"/>
              </a:rPr>
              <a:t>auto</a:t>
            </a:r>
            <a:r>
              <a:rPr sz="975" noProof="1">
                <a:solidFill>
                  <a:srgbClr val="23252D"/>
                </a:solidFill>
                <a:latin typeface="MiSans"/>
                <a:ea typeface="MiSans"/>
              </a:rPr>
              <a:t>：默认，GPT-5.6 相当于 all_turns</a:t>
            </a:r>
          </a:p>
        </p:txBody>
      </p:sp>
      <p:sp>
        <p:nvSpPr>
          <p:cNvPr id="8" name="dsl:fix2-bg"/>
          <p:cNvSpPr/>
          <p:nvPr/>
        </p:nvSpPr>
        <p:spPr>
          <a:xfrm>
            <a:off x="666750" y="3600450"/>
            <a:ext cx="5143500" cy="2076450"/>
          </a:xfrm>
          <a:prstGeom prst="roundRect">
            <a:avLst>
              <a:gd name="adj" fmla="val 7000"/>
            </a:avLst>
          </a:prstGeom>
          <a:solidFill>
            <a:srgbClr val="E3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fix2-head"/>
          <p:cNvSpPr txBox="1"/>
          <p:nvPr/>
        </p:nvSpPr>
        <p:spPr>
          <a:xfrm>
            <a:off x="914400" y="3771900"/>
            <a:ext cx="466725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75" noProof="1">
                <a:solidFill>
                  <a:srgbClr val="2E9E6B"/>
                </a:solidFill>
                <a:latin typeface="MiSans"/>
                <a:ea typeface="MiSans"/>
              </a:rPr>
              <a:t>🗜️ 调整 ②：Compaction</a:t>
            </a:r>
          </a:p>
        </p:txBody>
      </p:sp>
      <p:sp>
        <p:nvSpPr>
          <p:cNvPr id="10" name="dsl:fix2-text"/>
          <p:cNvSpPr txBox="1"/>
          <p:nvPr/>
        </p:nvSpPr>
        <p:spPr>
          <a:xfrm>
            <a:off x="914400" y="4095750"/>
            <a:ext cx="4667250" cy="1447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975" noProof="1">
                <a:solidFill>
                  <a:srgbClr val="23252D"/>
                </a:solidFill>
                <a:latin typeface="MiSans"/>
                <a:ea typeface="MiSans"/>
              </a:rPr>
              <a:t>上下文到阈值后不再删除最早记录，而是生成不透明的 compaction item，用更少 Token 承载后续仍需要的状态与推理。</a:t>
            </a:r>
          </a:p>
          <a:p>
            <a:pPr algn="l">
              <a:lnSpc>
                <a:spcPct val="160000"/>
              </a:lnSpc>
            </a:pPr>
            <a:r>
              <a:rPr sz="975" noProof="1">
                <a:solidFill>
                  <a:srgbClr val="23252D"/>
                </a:solidFill>
                <a:latin typeface="MiSans"/>
                <a:ea typeface="MiSans"/>
              </a:rPr>
              <a:t>= 有损但面向继续执行的</a:t>
            </a:r>
            <a:r>
              <a:rPr b="1" sz="975" noProof="1">
                <a:solidFill>
                  <a:srgbClr val="23252D"/>
                </a:solidFill>
                <a:latin typeface="MiSans"/>
                <a:ea typeface="MiSans"/>
              </a:rPr>
              <a:t>工作状态检查点</a:t>
            </a:r>
          </a:p>
          <a:p>
            <a:pPr algn="l">
              <a:lnSpc>
                <a:spcPct val="160000"/>
              </a:lnSpc>
            </a:pPr>
            <a:r>
              <a:rPr sz="975" noProof="1">
                <a:solidFill>
                  <a:srgbClr val="23252D"/>
                </a:solidFill>
                <a:latin typeface="MiSans"/>
                <a:ea typeface="MiSans"/>
              </a:rPr>
              <a:t>≠ 普通对话摘要　≠ 可审计的原始 Trace</a:t>
            </a:r>
          </a:p>
        </p:txBody>
      </p:sp>
      <p:sp>
        <p:nvSpPr>
          <p:cNvPr id="11" name="dsl:chart-title"/>
          <p:cNvSpPr txBox="1"/>
          <p:nvPr/>
        </p:nvSpPr>
        <p:spPr>
          <a:xfrm>
            <a:off x="6191250" y="1333500"/>
            <a:ext cx="53340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23252D"/>
                </a:solidFill>
                <a:latin typeface="MiSans"/>
                <a:ea typeface="MiSans"/>
              </a:rPr>
              <a:t>公开集得分（同一 GPT-5.6 Sol，未重新训练）</a:t>
            </a:r>
          </a:p>
        </p:txBody>
      </p:sp>
      <p:graphicFrame>
        <p:nvGraphicFramePr>
          <p:cNvPr id="12" name="dsl:score-chart"/>
          <p:cNvGraphicFramePr>
            <a:graphicFrameLocks noGrp="1"/>
          </p:cNvGraphicFramePr>
          <p:nvPr/>
        </p:nvGraphicFramePr>
        <p:xfrm>
          <a:off x="6191250" y="1676400"/>
          <a:ext cx="5334000" cy="2819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dsl:chart-note"/>
          <p:cNvSpPr txBox="1"/>
          <p:nvPr/>
        </p:nvSpPr>
        <p:spPr>
          <a:xfrm>
            <a:off x="6191250" y="4648200"/>
            <a:ext cx="5334000" cy="10287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050" noProof="1">
                <a:solidFill>
                  <a:srgbClr val="5C5F6B"/>
                </a:solidFill>
                <a:latin typeface="MiSans"/>
                <a:ea typeface="MiSans"/>
              </a:rPr>
              <a:t>同时输出 Token 降到原来的约 </a:t>
            </a:r>
            <a:r>
              <a:rPr b="1" sz="1050" noProof="1">
                <a:solidFill>
                  <a:srgbClr val="5C5F6B"/>
                </a:solidFill>
                <a:latin typeface="MiSans"/>
                <a:ea typeface="MiSans"/>
              </a:rPr>
              <a:t>1/6</a:t>
            </a:r>
            <a:r>
              <a:rPr sz="1050" noProof="1">
                <a:solidFill>
                  <a:srgbClr val="5C5F6B"/>
                </a:solidFill>
                <a:latin typeface="MiSans"/>
                <a:ea typeface="MiSans"/>
              </a:rPr>
              <a:t>。更少"从头思考"，策略反而更连贯——收益来自减少重复推理和状态丢失，而不是思考次数越多越好。</a:t>
            </a:r>
          </a:p>
        </p:txBody>
      </p:sp>
      <p:sp>
        <p:nvSpPr>
          <p:cNvPr id="14" name="dsl:takeaway-bg"/>
          <p:cNvSpPr/>
          <p:nvPr/>
        </p:nvSpPr>
        <p:spPr>
          <a:xfrm>
            <a:off x="666750" y="5867400"/>
            <a:ext cx="10858500" cy="419100"/>
          </a:xfrm>
          <a:prstGeom prst="roundRect">
            <a:avLst>
              <a:gd name="adj" fmla="val 16000"/>
            </a:avLst>
          </a:prstGeom>
          <a:solidFill>
            <a:srgbClr val="EC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takeaway"/>
          <p:cNvSpPr txBox="1"/>
          <p:nvPr/>
        </p:nvSpPr>
        <p:spPr>
          <a:xfrm>
            <a:off x="952500" y="5867400"/>
            <a:ext cx="102870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125" noProof="1">
                <a:solidFill>
                  <a:srgbClr val="23252D"/>
                </a:solidFill>
                <a:latin typeface="MiSans"/>
                <a:ea typeface="MiSans"/>
              </a:rPr>
              <a:t>📌 评测对象 = 模型 + API + Harness。</a:t>
            </a:r>
            <a:r>
              <a:rPr sz="1125" noProof="1">
                <a:solidFill>
                  <a:srgbClr val="23252D"/>
                </a:solidFill>
                <a:latin typeface="MiSans"/>
                <a:ea typeface="MiSans"/>
              </a:rPr>
              <a:t>接口没有创造三倍智能，是原接口限制了已有能力——勿外推到单轮任务。</a:t>
            </a:r>
          </a:p>
        </p:txBody>
      </p:sp>
      <p:cxnSp>
        <p:nvCxnSpPr>
          <p:cNvPr id="16" name="dsl:footer-line"/>
          <p:cNvCxnSpPr/>
          <p:nvPr/>
        </p:nvCxnSpPr>
        <p:spPr>
          <a:xfrm>
            <a:off x="666750" y="6438900"/>
            <a:ext cx="10858500" cy="0"/>
          </a:xfrm>
          <a:prstGeom prst="straightConnector1">
            <a:avLst/>
          </a:prstGeom>
          <a:ln w="12700">
            <a:solidFill>
              <a:srgbClr val="E3E0D8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sl:footer-left|s=$small"/>
          <p:cNvSpPr txBox="1"/>
          <p:nvPr/>
        </p:nvSpPr>
        <p:spPr>
          <a:xfrm>
            <a:off x="666750" y="6534150"/>
            <a:ext cx="4762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从 Chat API 到 Agent Runtime · 技术分享</a:t>
            </a:r>
          </a:p>
        </p:txBody>
      </p:sp>
      <p:sp>
        <p:nvSpPr>
          <p:cNvPr id="18" name="dsl:page-num|s=$small"/>
          <p:cNvSpPr txBox="1"/>
          <p:nvPr/>
        </p:nvSpPr>
        <p:spPr>
          <a:xfrm>
            <a:off x="10763250" y="65341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666750" y="381000"/>
            <a:ext cx="6667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 spc="225">
                <a:solidFill>
                  <a:srgbClr val="4A44C6"/>
                </a:solidFill>
                <a:latin typeface="MiSans"/>
                <a:ea typeface="MiSans"/>
              </a:rPr>
              <a:t>PART 05 · 实战与未来</a:t>
            </a:r>
          </a:p>
        </p:txBody>
      </p:sp>
      <p:sp>
        <p:nvSpPr>
          <p:cNvPr id="3" name="dsl:title|s=$title"/>
          <p:cNvSpPr txBox="1"/>
          <p:nvPr/>
        </p:nvSpPr>
        <p:spPr>
          <a:xfrm>
            <a:off x="666750" y="62865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250" noProof="1">
                <a:solidFill>
                  <a:srgbClr val="23252D"/>
                </a:solidFill>
                <a:latin typeface="alimamashuheiti"/>
                <a:ea typeface="alimamashuheiti"/>
              </a:rPr>
              <a:t>八个可以直接抄的实战 Tricks</a:t>
            </a:r>
          </a:p>
        </p:txBody>
      </p:sp>
      <p:sp>
        <p:nvSpPr>
          <p:cNvPr id="4" name="dsl:title-bar"/>
          <p:cNvSpPr/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E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t1-bg"/>
          <p:cNvSpPr/>
          <p:nvPr/>
        </p:nvSpPr>
        <p:spPr>
          <a:xfrm>
            <a:off x="666750" y="1333500"/>
            <a:ext cx="2571750" cy="230505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t1-tag"/>
          <p:cNvSpPr/>
          <p:nvPr/>
        </p:nvSpPr>
        <p:spPr>
          <a:xfrm>
            <a:off x="876300" y="1524000"/>
            <a:ext cx="533400" cy="228600"/>
          </a:xfrm>
          <a:prstGeom prst="roundRect">
            <a:avLst>
              <a:gd name="adj" fmla="val 30000"/>
            </a:avLst>
          </a:prstGeom>
          <a:solidFill>
            <a:srgbClr val="4A4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t1-tag-txt"/>
          <p:cNvSpPr txBox="1"/>
          <p:nvPr/>
        </p:nvSpPr>
        <p:spPr>
          <a:xfrm>
            <a:off x="876300" y="1524000"/>
            <a:ext cx="5334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01</a:t>
            </a:r>
          </a:p>
        </p:txBody>
      </p:sp>
      <p:sp>
        <p:nvSpPr>
          <p:cNvPr id="8" name="dsl:t1-name"/>
          <p:cNvSpPr txBox="1"/>
          <p:nvPr/>
        </p:nvSpPr>
        <p:spPr>
          <a:xfrm>
            <a:off x="876300" y="1847850"/>
            <a:ext cx="215265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125" noProof="1">
                <a:solidFill>
                  <a:srgbClr val="23252D"/>
                </a:solidFill>
                <a:latin typeface="MiSans"/>
                <a:ea typeface="MiSans"/>
              </a:rPr>
              <a:t>按需开启推理连续性</a:t>
            </a:r>
          </a:p>
        </p:txBody>
      </p:sp>
      <p:sp>
        <p:nvSpPr>
          <p:cNvPr id="9" name="dsl:t1-desc"/>
          <p:cNvSpPr txBox="1"/>
          <p:nvPr/>
        </p:nvSpPr>
        <p:spPr>
          <a:xfrm>
            <a:off x="876300" y="2362200"/>
            <a:ext cx="215265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900" noProof="1">
                <a:solidFill>
                  <a:srgbClr val="5C5F6B"/>
                </a:solidFill>
                <a:latin typeface="MiSans"/>
                <a:ea typeface="MiSans"/>
              </a:rPr>
              <a:t>目标稳定的长程任务用 all_turns；目标变了、假设被推翻、要独立复核时，切 current_turn 或开新会话。</a:t>
            </a:r>
          </a:p>
        </p:txBody>
      </p:sp>
      <p:sp>
        <p:nvSpPr>
          <p:cNvPr id="10" name="dsl:t2-bg"/>
          <p:cNvSpPr/>
          <p:nvPr/>
        </p:nvSpPr>
        <p:spPr>
          <a:xfrm>
            <a:off x="3429000" y="1333500"/>
            <a:ext cx="2571750" cy="230505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t2-tag"/>
          <p:cNvSpPr/>
          <p:nvPr/>
        </p:nvSpPr>
        <p:spPr>
          <a:xfrm>
            <a:off x="3638550" y="1524000"/>
            <a:ext cx="533400" cy="228600"/>
          </a:xfrm>
          <a:prstGeom prst="roundRect">
            <a:avLst>
              <a:gd name="adj" fmla="val 30000"/>
            </a:avLst>
          </a:prstGeom>
          <a:solidFill>
            <a:srgbClr val="4A4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t2-tag-txt"/>
          <p:cNvSpPr txBox="1"/>
          <p:nvPr/>
        </p:nvSpPr>
        <p:spPr>
          <a:xfrm>
            <a:off x="3638550" y="1524000"/>
            <a:ext cx="5334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02</a:t>
            </a:r>
          </a:p>
        </p:txBody>
      </p:sp>
      <p:sp>
        <p:nvSpPr>
          <p:cNvPr id="13" name="dsl:t2-name"/>
          <p:cNvSpPr txBox="1"/>
          <p:nvPr/>
        </p:nvSpPr>
        <p:spPr>
          <a:xfrm>
            <a:off x="3638550" y="1847850"/>
            <a:ext cx="215265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125" noProof="1">
                <a:solidFill>
                  <a:srgbClr val="23252D"/>
                </a:solidFill>
                <a:latin typeface="MiSans"/>
                <a:ea typeface="MiSans"/>
              </a:rPr>
              <a:t>Compaction 替代硬截断</a:t>
            </a:r>
          </a:p>
        </p:txBody>
      </p:sp>
      <p:sp>
        <p:nvSpPr>
          <p:cNvPr id="14" name="dsl:t2-desc"/>
          <p:cNvSpPr txBox="1"/>
          <p:nvPr/>
        </p:nvSpPr>
        <p:spPr>
          <a:xfrm>
            <a:off x="3638550" y="2362200"/>
            <a:ext cx="215265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900" noProof="1">
                <a:solidFill>
                  <a:srgbClr val="5C5F6B"/>
                </a:solidFill>
                <a:latin typeface="MiSans"/>
                <a:ea typeface="MiSans"/>
              </a:rPr>
              <a:t>目标、验收条件、Artifact ID 存外部 Task State；compaction item 不当可读记忆或审计日志。</a:t>
            </a:r>
          </a:p>
        </p:txBody>
      </p:sp>
      <p:sp>
        <p:nvSpPr>
          <p:cNvPr id="15" name="dsl:t3-bg"/>
          <p:cNvSpPr/>
          <p:nvPr/>
        </p:nvSpPr>
        <p:spPr>
          <a:xfrm>
            <a:off x="6191250" y="1333500"/>
            <a:ext cx="2571750" cy="230505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t3-tag"/>
          <p:cNvSpPr/>
          <p:nvPr/>
        </p:nvSpPr>
        <p:spPr>
          <a:xfrm>
            <a:off x="6400800" y="1524000"/>
            <a:ext cx="533400" cy="228600"/>
          </a:xfrm>
          <a:prstGeom prst="roundRect">
            <a:avLst>
              <a:gd name="adj" fmla="val 30000"/>
            </a:avLst>
          </a:prstGeom>
          <a:solidFill>
            <a:srgbClr val="4A4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t3-tag-txt"/>
          <p:cNvSpPr txBox="1"/>
          <p:nvPr/>
        </p:nvSpPr>
        <p:spPr>
          <a:xfrm>
            <a:off x="6400800" y="1524000"/>
            <a:ext cx="5334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03</a:t>
            </a:r>
          </a:p>
        </p:txBody>
      </p:sp>
      <p:sp>
        <p:nvSpPr>
          <p:cNvPr id="18" name="dsl:t3-name"/>
          <p:cNvSpPr txBox="1"/>
          <p:nvPr/>
        </p:nvSpPr>
        <p:spPr>
          <a:xfrm>
            <a:off x="6400800" y="1847850"/>
            <a:ext cx="215265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125" noProof="1">
                <a:solidFill>
                  <a:srgbClr val="23252D"/>
                </a:solidFill>
                <a:latin typeface="MiSans"/>
                <a:ea typeface="MiSans"/>
              </a:rPr>
              <a:t>推理强度按阶段设置</a:t>
            </a:r>
          </a:p>
        </p:txBody>
      </p:sp>
      <p:sp>
        <p:nvSpPr>
          <p:cNvPr id="19" name="dsl:t3-desc"/>
          <p:cNvSpPr txBox="1"/>
          <p:nvPr/>
        </p:nvSpPr>
        <p:spPr>
          <a:xfrm>
            <a:off x="6400800" y="2362200"/>
            <a:ext cx="215265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900" noProof="1">
                <a:solidFill>
                  <a:srgbClr val="5C5F6B"/>
                </a:solidFill>
                <a:latin typeface="MiSans"/>
                <a:ea typeface="MiSans"/>
              </a:rPr>
              <a:t>路由/抽取 none-low；编码执行 low-medium；诊断研究 medium-high。全程拉满不保证更高完成率。</a:t>
            </a:r>
          </a:p>
        </p:txBody>
      </p:sp>
      <p:sp>
        <p:nvSpPr>
          <p:cNvPr id="20" name="dsl:t4-bg"/>
          <p:cNvSpPr/>
          <p:nvPr/>
        </p:nvSpPr>
        <p:spPr>
          <a:xfrm>
            <a:off x="8953500" y="1333500"/>
            <a:ext cx="2571750" cy="230505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t4-tag"/>
          <p:cNvSpPr/>
          <p:nvPr/>
        </p:nvSpPr>
        <p:spPr>
          <a:xfrm>
            <a:off x="9163050" y="1524000"/>
            <a:ext cx="533400" cy="228600"/>
          </a:xfrm>
          <a:prstGeom prst="roundRect">
            <a:avLst>
              <a:gd name="adj" fmla="val 30000"/>
            </a:avLst>
          </a:prstGeom>
          <a:solidFill>
            <a:srgbClr val="4A4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t4-tag-txt"/>
          <p:cNvSpPr txBox="1"/>
          <p:nvPr/>
        </p:nvSpPr>
        <p:spPr>
          <a:xfrm>
            <a:off x="9163050" y="1524000"/>
            <a:ext cx="5334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04</a:t>
            </a:r>
          </a:p>
        </p:txBody>
      </p:sp>
      <p:sp>
        <p:nvSpPr>
          <p:cNvPr id="23" name="dsl:t4-name"/>
          <p:cNvSpPr txBox="1"/>
          <p:nvPr/>
        </p:nvSpPr>
        <p:spPr>
          <a:xfrm>
            <a:off x="9163050" y="1847850"/>
            <a:ext cx="215265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125" noProof="1">
                <a:solidFill>
                  <a:srgbClr val="23252D"/>
                </a:solidFill>
                <a:latin typeface="MiSans"/>
                <a:ea typeface="MiSans"/>
              </a:rPr>
              <a:t>工具定义按需加载</a:t>
            </a:r>
          </a:p>
        </p:txBody>
      </p:sp>
      <p:sp>
        <p:nvSpPr>
          <p:cNvPr id="24" name="dsl:t4-desc"/>
          <p:cNvSpPr txBox="1"/>
          <p:nvPr/>
        </p:nvSpPr>
        <p:spPr>
          <a:xfrm>
            <a:off x="9163050" y="2362200"/>
            <a:ext cx="215265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900" noProof="1">
                <a:solidFill>
                  <a:srgbClr val="5C5F6B"/>
                </a:solidFill>
                <a:latin typeface="MiSans"/>
                <a:ea typeface="MiSans"/>
              </a:rPr>
              <a:t>高频直接加载；大集合用 namespace；低频用 defer_loading；记录"模型看见了哪些工具"。</a:t>
            </a:r>
          </a:p>
        </p:txBody>
      </p:sp>
      <p:sp>
        <p:nvSpPr>
          <p:cNvPr id="25" name="dsl:t5-bg"/>
          <p:cNvSpPr/>
          <p:nvPr/>
        </p:nvSpPr>
        <p:spPr>
          <a:xfrm>
            <a:off x="666750" y="3790950"/>
            <a:ext cx="2571750" cy="230505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t5-tag"/>
          <p:cNvSpPr/>
          <p:nvPr/>
        </p:nvSpPr>
        <p:spPr>
          <a:xfrm>
            <a:off x="876300" y="3981450"/>
            <a:ext cx="533400" cy="228600"/>
          </a:xfrm>
          <a:prstGeom prst="roundRect">
            <a:avLst>
              <a:gd name="adj" fmla="val 30000"/>
            </a:avLst>
          </a:prstGeom>
          <a:solidFill>
            <a:srgbClr val="4A4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sl:t5-tag-txt"/>
          <p:cNvSpPr txBox="1"/>
          <p:nvPr/>
        </p:nvSpPr>
        <p:spPr>
          <a:xfrm>
            <a:off x="876300" y="3981450"/>
            <a:ext cx="5334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05</a:t>
            </a:r>
          </a:p>
        </p:txBody>
      </p:sp>
      <p:sp>
        <p:nvSpPr>
          <p:cNvPr id="28" name="dsl:t5-name"/>
          <p:cNvSpPr txBox="1"/>
          <p:nvPr/>
        </p:nvSpPr>
        <p:spPr>
          <a:xfrm>
            <a:off x="876300" y="4305300"/>
            <a:ext cx="215265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125" noProof="1">
                <a:solidFill>
                  <a:srgbClr val="23252D"/>
                </a:solidFill>
                <a:latin typeface="MiSans"/>
                <a:ea typeface="MiSans"/>
              </a:rPr>
              <a:t>区分直接与程序化调用</a:t>
            </a:r>
          </a:p>
        </p:txBody>
      </p:sp>
      <p:sp>
        <p:nvSpPr>
          <p:cNvPr id="29" name="dsl:t5-desc"/>
          <p:cNvSpPr txBox="1"/>
          <p:nvPr/>
        </p:nvSpPr>
        <p:spPr>
          <a:xfrm>
            <a:off x="876300" y="4819650"/>
            <a:ext cx="215265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900" noProof="1">
                <a:solidFill>
                  <a:srgbClr val="5C5F6B"/>
                </a:solidFill>
                <a:latin typeface="MiSans"/>
                <a:ea typeface="MiSans"/>
              </a:rPr>
              <a:t>确定性规则走程序化；语义判断回模型；写入/付款/删除默认直接调用并保留审批点。</a:t>
            </a:r>
          </a:p>
        </p:txBody>
      </p:sp>
      <p:sp>
        <p:nvSpPr>
          <p:cNvPr id="30" name="dsl:t6-bg"/>
          <p:cNvSpPr/>
          <p:nvPr/>
        </p:nvSpPr>
        <p:spPr>
          <a:xfrm>
            <a:off x="3429000" y="3790950"/>
            <a:ext cx="2571750" cy="230505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sl:t6-tag"/>
          <p:cNvSpPr/>
          <p:nvPr/>
        </p:nvSpPr>
        <p:spPr>
          <a:xfrm>
            <a:off x="3638550" y="3981450"/>
            <a:ext cx="533400" cy="228600"/>
          </a:xfrm>
          <a:prstGeom prst="roundRect">
            <a:avLst>
              <a:gd name="adj" fmla="val 30000"/>
            </a:avLst>
          </a:prstGeom>
          <a:solidFill>
            <a:srgbClr val="4A4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sl:t6-tag-txt"/>
          <p:cNvSpPr txBox="1"/>
          <p:nvPr/>
        </p:nvSpPr>
        <p:spPr>
          <a:xfrm>
            <a:off x="3638550" y="3981450"/>
            <a:ext cx="5334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06</a:t>
            </a:r>
          </a:p>
        </p:txBody>
      </p:sp>
      <p:sp>
        <p:nvSpPr>
          <p:cNvPr id="33" name="dsl:t6-name"/>
          <p:cNvSpPr txBox="1"/>
          <p:nvPr/>
        </p:nvSpPr>
        <p:spPr>
          <a:xfrm>
            <a:off x="3638550" y="4305300"/>
            <a:ext cx="215265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125" noProof="1">
                <a:solidFill>
                  <a:srgbClr val="23252D"/>
                </a:solidFill>
                <a:latin typeface="MiSans"/>
                <a:ea typeface="MiSans"/>
              </a:rPr>
              <a:t>输出提供"双视图"</a:t>
            </a:r>
          </a:p>
        </p:txBody>
      </p:sp>
      <p:sp>
        <p:nvSpPr>
          <p:cNvPr id="34" name="dsl:t6-desc"/>
          <p:cNvSpPr txBox="1"/>
          <p:nvPr/>
        </p:nvSpPr>
        <p:spPr>
          <a:xfrm>
            <a:off x="3638550" y="4819650"/>
            <a:ext cx="215265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900" noProof="1">
                <a:solidFill>
                  <a:srgbClr val="5C5F6B"/>
                </a:solidFill>
                <a:latin typeface="MiSans"/>
                <a:ea typeface="MiSans"/>
              </a:rPr>
              <a:t>summary 给模型、structured 给程序、resources 存大对象、evidence 供验证、control 标状态。</a:t>
            </a:r>
          </a:p>
        </p:txBody>
      </p:sp>
      <p:sp>
        <p:nvSpPr>
          <p:cNvPr id="35" name="dsl:t7-bg"/>
          <p:cNvSpPr/>
          <p:nvPr/>
        </p:nvSpPr>
        <p:spPr>
          <a:xfrm>
            <a:off x="6191250" y="3790950"/>
            <a:ext cx="2571750" cy="230505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sl:t7-tag"/>
          <p:cNvSpPr/>
          <p:nvPr/>
        </p:nvSpPr>
        <p:spPr>
          <a:xfrm>
            <a:off x="6400800" y="3981450"/>
            <a:ext cx="533400" cy="228600"/>
          </a:xfrm>
          <a:prstGeom prst="roundRect">
            <a:avLst>
              <a:gd name="adj" fmla="val 30000"/>
            </a:avLst>
          </a:prstGeom>
          <a:solidFill>
            <a:srgbClr val="4A4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sl:t7-tag-txt"/>
          <p:cNvSpPr txBox="1"/>
          <p:nvPr/>
        </p:nvSpPr>
        <p:spPr>
          <a:xfrm>
            <a:off x="6400800" y="3981450"/>
            <a:ext cx="5334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07</a:t>
            </a:r>
          </a:p>
        </p:txBody>
      </p:sp>
      <p:sp>
        <p:nvSpPr>
          <p:cNvPr id="38" name="dsl:t7-name"/>
          <p:cNvSpPr txBox="1"/>
          <p:nvPr/>
        </p:nvSpPr>
        <p:spPr>
          <a:xfrm>
            <a:off x="6400800" y="4305300"/>
            <a:ext cx="215265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125" noProof="1">
                <a:solidFill>
                  <a:srgbClr val="23252D"/>
                </a:solidFill>
                <a:latin typeface="MiSans"/>
                <a:ea typeface="MiSans"/>
              </a:rPr>
              <a:t>错误支持自我恢复</a:t>
            </a:r>
          </a:p>
        </p:txBody>
      </p:sp>
      <p:sp>
        <p:nvSpPr>
          <p:cNvPr id="39" name="dsl:t7-desc"/>
          <p:cNvSpPr txBox="1"/>
          <p:nvPr/>
        </p:nvSpPr>
        <p:spPr>
          <a:xfrm>
            <a:off x="6400800" y="4819650"/>
            <a:ext cx="215265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900" noProof="1">
                <a:solidFill>
                  <a:srgbClr val="5C5F6B"/>
                </a:solidFill>
                <a:latin typeface="MiSans"/>
                <a:ea typeface="MiSans"/>
              </a:rPr>
              <a:t>区分可修复/临时/权限/状态失效/永久失败；显式给出 retryable；重试有上限并用幂等键。</a:t>
            </a:r>
          </a:p>
        </p:txBody>
      </p:sp>
      <p:sp>
        <p:nvSpPr>
          <p:cNvPr id="40" name="dsl:t8-bg"/>
          <p:cNvSpPr/>
          <p:nvPr/>
        </p:nvSpPr>
        <p:spPr>
          <a:xfrm>
            <a:off x="8953500" y="3790950"/>
            <a:ext cx="2571750" cy="230505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sl:t8-tag"/>
          <p:cNvSpPr/>
          <p:nvPr/>
        </p:nvSpPr>
        <p:spPr>
          <a:xfrm>
            <a:off x="9163050" y="3981450"/>
            <a:ext cx="533400" cy="228600"/>
          </a:xfrm>
          <a:prstGeom prst="roundRect">
            <a:avLst>
              <a:gd name="adj" fmla="val 30000"/>
            </a:avLst>
          </a:prstGeom>
          <a:solidFill>
            <a:srgbClr val="4A4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sl:t8-tag-txt"/>
          <p:cNvSpPr txBox="1"/>
          <p:nvPr/>
        </p:nvSpPr>
        <p:spPr>
          <a:xfrm>
            <a:off x="9163050" y="3981450"/>
            <a:ext cx="5334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08</a:t>
            </a:r>
          </a:p>
        </p:txBody>
      </p:sp>
      <p:sp>
        <p:nvSpPr>
          <p:cNvPr id="43" name="dsl:t8-name"/>
          <p:cNvSpPr txBox="1"/>
          <p:nvPr/>
        </p:nvSpPr>
        <p:spPr>
          <a:xfrm>
            <a:off x="9163050" y="4305300"/>
            <a:ext cx="215265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125" noProof="1">
                <a:solidFill>
                  <a:srgbClr val="23252D"/>
                </a:solidFill>
                <a:latin typeface="MiSans"/>
                <a:ea typeface="MiSans"/>
              </a:rPr>
              <a:t>评测记录完整 Harness</a:t>
            </a:r>
          </a:p>
        </p:txBody>
      </p:sp>
      <p:sp>
        <p:nvSpPr>
          <p:cNvPr id="44" name="dsl:t8-desc"/>
          <p:cNvSpPr txBox="1"/>
          <p:nvPr/>
        </p:nvSpPr>
        <p:spPr>
          <a:xfrm>
            <a:off x="9163050" y="4819650"/>
            <a:ext cx="215265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900" noProof="1">
                <a:solidFill>
                  <a:srgbClr val="5C5F6B"/>
                </a:solidFill>
                <a:latin typeface="MiSans"/>
                <a:ea typeface="MiSans"/>
              </a:rPr>
              <a:t>模型快照、接口类型、reasoning 配置、compaction 阈值、工具版本、沙箱——否则"能力变化"可能只是环境变了。</a:t>
            </a:r>
          </a:p>
        </p:txBody>
      </p:sp>
      <p:cxnSp>
        <p:nvCxnSpPr>
          <p:cNvPr id="45" name="dsl:footer-line"/>
          <p:cNvCxnSpPr/>
          <p:nvPr/>
        </p:nvCxnSpPr>
        <p:spPr>
          <a:xfrm>
            <a:off x="666750" y="6438900"/>
            <a:ext cx="10858500" cy="0"/>
          </a:xfrm>
          <a:prstGeom prst="straightConnector1">
            <a:avLst/>
          </a:prstGeom>
          <a:ln w="12700">
            <a:solidFill>
              <a:srgbClr val="E3E0D8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dsl:footer-left|s=$small"/>
          <p:cNvSpPr txBox="1"/>
          <p:nvPr/>
        </p:nvSpPr>
        <p:spPr>
          <a:xfrm>
            <a:off x="666750" y="6534150"/>
            <a:ext cx="4762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从 Chat API 到 Agent Runtime · 技术分享</a:t>
            </a:r>
          </a:p>
        </p:txBody>
      </p:sp>
      <p:sp>
        <p:nvSpPr>
          <p:cNvPr id="47" name="dsl:page-num|s=$small"/>
          <p:cNvSpPr txBox="1"/>
          <p:nvPr/>
        </p:nvSpPr>
        <p:spPr>
          <a:xfrm>
            <a:off x="10763250" y="65341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666750" y="381000"/>
            <a:ext cx="6667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 spc="225">
                <a:solidFill>
                  <a:srgbClr val="4A44C6"/>
                </a:solidFill>
                <a:latin typeface="MiSans"/>
                <a:ea typeface="MiSans"/>
              </a:rPr>
              <a:t>PART 05 · 实战与未来</a:t>
            </a:r>
          </a:p>
        </p:txBody>
      </p:sp>
      <p:sp>
        <p:nvSpPr>
          <p:cNvPr id="3" name="dsl:title|s=$title"/>
          <p:cNvSpPr txBox="1"/>
          <p:nvPr/>
        </p:nvSpPr>
        <p:spPr>
          <a:xfrm>
            <a:off x="666750" y="62865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250" noProof="1">
                <a:solidFill>
                  <a:srgbClr val="23252D"/>
                </a:solidFill>
                <a:latin typeface="alimamashuheiti"/>
                <a:ea typeface="alimamashuheiti"/>
              </a:rPr>
              <a:t>未来：从 generate() 到 run()</a:t>
            </a:r>
          </a:p>
        </p:txBody>
      </p:sp>
      <p:sp>
        <p:nvSpPr>
          <p:cNvPr id="4" name="dsl:title-bar"/>
          <p:cNvSpPr/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E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past-label"/>
          <p:cNvSpPr txBox="1"/>
          <p:nvPr/>
        </p:nvSpPr>
        <p:spPr>
          <a:xfrm>
            <a:off x="666750" y="1333500"/>
            <a:ext cx="5334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5C5F6B"/>
                </a:solidFill>
                <a:latin typeface="MiSans"/>
                <a:ea typeface="MiSans"/>
              </a:rPr>
              <a:t>过去 · 生成接口</a:t>
            </a:r>
          </a:p>
        </p:txBody>
      </p:sp>
      <p:sp>
        <p:nvSpPr>
          <p:cNvPr id="6" name="dsl:past-bg"/>
          <p:cNvSpPr/>
          <p:nvPr/>
        </p:nvSpPr>
        <p:spPr>
          <a:xfrm>
            <a:off x="666750" y="1619250"/>
            <a:ext cx="5334000" cy="85725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past-code"/>
          <p:cNvSpPr txBox="1"/>
          <p:nvPr/>
        </p:nvSpPr>
        <p:spPr>
          <a:xfrm>
            <a:off x="914400" y="1619250"/>
            <a:ext cx="4838700" cy="857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275" noProof="1">
                <a:solidFill>
                  <a:srgbClr val="5C5F6B"/>
                </a:solidFill>
                <a:latin typeface="MiSans"/>
                <a:ea typeface="MiSans"/>
              </a:rPr>
              <a:t>generate(messages) → text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输入消息，输出文本，仅此而已</a:t>
            </a:r>
          </a:p>
        </p:txBody>
      </p:sp>
      <p:sp>
        <p:nvSpPr>
          <p:cNvPr id="8" name="dsl:future-label"/>
          <p:cNvSpPr txBox="1"/>
          <p:nvPr/>
        </p:nvSpPr>
        <p:spPr>
          <a:xfrm>
            <a:off x="666750" y="2724150"/>
            <a:ext cx="5334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4A44C6"/>
                </a:solidFill>
                <a:latin typeface="MiSans"/>
                <a:ea typeface="MiSans"/>
              </a:rPr>
              <a:t>未来 · 任务运行时</a:t>
            </a:r>
          </a:p>
        </p:txBody>
      </p:sp>
      <p:sp>
        <p:nvSpPr>
          <p:cNvPr id="9" name="dsl:future-bg"/>
          <p:cNvSpPr/>
          <p:nvPr/>
        </p:nvSpPr>
        <p:spPr>
          <a:xfrm>
            <a:off x="666750" y="3009900"/>
            <a:ext cx="5334000" cy="2286000"/>
          </a:xfrm>
          <a:prstGeom prst="roundRect">
            <a:avLst>
              <a:gd name="adj" fmla="val 7000"/>
            </a:avLst>
          </a:prstGeom>
          <a:solidFill>
            <a:srgbClr val="26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future-code"/>
          <p:cNvSpPr txBox="1"/>
          <p:nvPr/>
        </p:nvSpPr>
        <p:spPr>
          <a:xfrm>
            <a:off x="914400" y="3009900"/>
            <a:ext cx="4838700" cy="2286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65000"/>
              </a:lnSpc>
            </a:pPr>
            <a:r>
              <a:rPr b="1" sz="1125" noProof="1">
                <a:solidFill>
                  <a:srgbClr val="F2B98C"/>
                </a:solidFill>
                <a:latin typeface="MiSans"/>
                <a:ea typeface="MiSans"/>
              </a:rPr>
              <a:t>run</a:t>
            </a:r>
            <a:r>
              <a:rPr sz="1125" noProof="1">
                <a:solidFill>
                  <a:srgbClr val="C9C3FF"/>
                </a:solidFill>
                <a:latin typeface="MiSans"/>
                <a:ea typeface="MiSans"/>
              </a:rPr>
              <a:t>(</a:t>
            </a:r>
          </a:p>
          <a:p>
            <a:pPr algn="l">
              <a:lnSpc>
                <a:spcPct val="165000"/>
              </a:lnSpc>
            </a:pPr>
            <a:r>
              <a:rPr sz="1125" noProof="1">
                <a:solidFill>
                  <a:srgbClr val="C9C3FF"/>
                </a:solidFill>
                <a:latin typeface="MiSans"/>
                <a:ea typeface="MiSans"/>
              </a:rPr>
              <a:t>  task, state_refs,</a:t>
            </a:r>
          </a:p>
          <a:p>
            <a:pPr algn="l">
              <a:lnSpc>
                <a:spcPct val="165000"/>
              </a:lnSpc>
            </a:pPr>
            <a:r>
              <a:rPr sz="1125" noProof="1">
                <a:solidFill>
                  <a:srgbClr val="C9C3FF"/>
                </a:solidFill>
                <a:latin typeface="MiSans"/>
                <a:ea typeface="MiSans"/>
              </a:rPr>
              <a:t>  available_capabilities,</a:t>
            </a:r>
          </a:p>
          <a:p>
            <a:pPr algn="l">
              <a:lnSpc>
                <a:spcPct val="165000"/>
              </a:lnSpc>
            </a:pPr>
            <a:r>
              <a:rPr sz="1125" noProof="1">
                <a:solidFill>
                  <a:srgbClr val="C9C3FF"/>
                </a:solidFill>
                <a:latin typeface="MiSans"/>
                <a:ea typeface="MiSans"/>
              </a:rPr>
              <a:t>  policy, budget,</a:t>
            </a:r>
          </a:p>
          <a:p>
            <a:pPr algn="l">
              <a:lnSpc>
                <a:spcPct val="165000"/>
              </a:lnSpc>
            </a:pPr>
            <a:r>
              <a:rPr sz="1125" noProof="1">
                <a:solidFill>
                  <a:srgbClr val="C9C3FF"/>
                </a:solidFill>
                <a:latin typeface="MiSans"/>
                <a:ea typeface="MiSans"/>
              </a:rPr>
              <a:t>  output_contract</a:t>
            </a:r>
          </a:p>
          <a:p>
            <a:pPr algn="l">
              <a:lnSpc>
                <a:spcPct val="165000"/>
              </a:lnSpc>
            </a:pPr>
            <a:r>
              <a:rPr sz="1125" noProof="1">
                <a:solidFill>
                  <a:srgbClr val="C9C3FF"/>
                </a:solidFill>
                <a:latin typeface="MiSans"/>
                <a:ea typeface="MiSans"/>
              </a:rPr>
              <a:t>)</a:t>
            </a:r>
          </a:p>
          <a:p>
            <a:pPr algn="l">
              <a:lnSpc>
                <a:spcPct val="165000"/>
              </a:lnSpc>
            </a:pPr>
            <a:r>
              <a:rPr sz="1125" noProof="1">
                <a:solidFill>
                  <a:srgbClr val="C9C3FF"/>
                </a:solidFill>
                <a:latin typeface="MiSans"/>
                <a:ea typeface="MiSans"/>
              </a:rPr>
              <a:t>→ events + artifacts</a:t>
            </a:r>
          </a:p>
          <a:p>
            <a:pPr algn="l">
              <a:lnSpc>
                <a:spcPct val="165000"/>
              </a:lnSpc>
            </a:pPr>
            <a:r>
              <a:rPr sz="1125" noProof="1">
                <a:solidFill>
                  <a:srgbClr val="C9C3FF"/>
                </a:solidFill>
                <a:latin typeface="MiSans"/>
                <a:ea typeface="MiSans"/>
              </a:rPr>
              <a:t>  + evidence + checkpoint</a:t>
            </a:r>
          </a:p>
        </p:txBody>
      </p:sp>
      <p:sp>
        <p:nvSpPr>
          <p:cNvPr id="11" name="dsl:vocab-note"/>
          <p:cNvSpPr txBox="1"/>
          <p:nvPr/>
        </p:nvSpPr>
        <p:spPr>
          <a:xfrm>
            <a:off x="666750" y="5486400"/>
            <a:ext cx="5334000" cy="609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核心对象从 Message 扩展为：</a:t>
            </a:r>
            <a:r>
              <a:rPr b="1" sz="975" noProof="1">
                <a:solidFill>
                  <a:srgbClr val="5C5F6B"/>
                </a:solidFill>
                <a:latin typeface="MiSans"/>
                <a:ea typeface="MiSans"/>
              </a:rPr>
              <a:t>Task</a:t>
            </a: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（目标与生命周期）、</a:t>
            </a:r>
            <a:r>
              <a:rPr b="1" sz="975" noProof="1">
                <a:solidFill>
                  <a:srgbClr val="5C5F6B"/>
                </a:solidFill>
                <a:latin typeface="MiSans"/>
                <a:ea typeface="MiSans"/>
              </a:rPr>
              <a:t>Item/Event</a:t>
            </a: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、</a:t>
            </a:r>
            <a:r>
              <a:rPr b="1" sz="975" noProof="1">
                <a:solidFill>
                  <a:srgbClr val="5C5F6B"/>
                </a:solidFill>
                <a:latin typeface="MiSans"/>
                <a:ea typeface="MiSans"/>
              </a:rPr>
              <a:t>Artifact</a:t>
            </a: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（交付物）、</a:t>
            </a:r>
            <a:r>
              <a:rPr b="1" sz="975" noProof="1">
                <a:solidFill>
                  <a:srgbClr val="5C5F6B"/>
                </a:solidFill>
                <a:latin typeface="MiSans"/>
                <a:ea typeface="MiSans"/>
              </a:rPr>
              <a:t>Checkpoint</a:t>
            </a: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（恢复点）、</a:t>
            </a:r>
            <a:r>
              <a:rPr b="1" sz="975" noProof="1">
                <a:solidFill>
                  <a:srgbClr val="5C5F6B"/>
                </a:solidFill>
                <a:latin typeface="MiSans"/>
                <a:ea typeface="MiSans"/>
              </a:rPr>
              <a:t>Capability</a:t>
            </a: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、</a:t>
            </a:r>
            <a:r>
              <a:rPr b="1" sz="975" noProof="1">
                <a:solidFill>
                  <a:srgbClr val="5C5F6B"/>
                </a:solidFill>
                <a:latin typeface="MiSans"/>
                <a:ea typeface="MiSans"/>
              </a:rPr>
              <a:t>Policy</a:t>
            </a: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、</a:t>
            </a:r>
            <a:r>
              <a:rPr b="1" sz="975" noProof="1">
                <a:solidFill>
                  <a:srgbClr val="5C5F6B"/>
                </a:solidFill>
                <a:latin typeface="MiSans"/>
                <a:ea typeface="MiSans"/>
              </a:rPr>
              <a:t>Memory</a:t>
            </a: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。</a:t>
            </a:r>
          </a:p>
        </p:txBody>
      </p:sp>
      <p:sp>
        <p:nvSpPr>
          <p:cNvPr id="12" name="dsl:tr1-bg"/>
          <p:cNvSpPr/>
          <p:nvPr/>
        </p:nvSpPr>
        <p:spPr>
          <a:xfrm>
            <a:off x="6381750" y="1333500"/>
            <a:ext cx="5143500" cy="144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tr1-head"/>
          <p:cNvSpPr txBox="1"/>
          <p:nvPr/>
        </p:nvSpPr>
        <p:spPr>
          <a:xfrm>
            <a:off x="6629400" y="1485900"/>
            <a:ext cx="466725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23252D"/>
                </a:solidFill>
                <a:latin typeface="MiSans"/>
                <a:ea typeface="MiSans"/>
              </a:rPr>
              <a:t>🔀 上层更语义化，下层更类型化</a:t>
            </a:r>
          </a:p>
        </p:txBody>
      </p:sp>
      <p:sp>
        <p:nvSpPr>
          <p:cNvPr id="14" name="dsl:tr1-text"/>
          <p:cNvSpPr txBox="1"/>
          <p:nvPr/>
        </p:nvSpPr>
        <p:spPr>
          <a:xfrm>
            <a:off x="6629400" y="1790700"/>
            <a:ext cx="4667250" cy="857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Agent 用自然语言表达目标、约束和成功标准；Runtime 将意图编译为可检查的类型化计划，校验权限、成本和副作用后再执行。Schema 还会表达前置条件、幂等性、审批要求。</a:t>
            </a:r>
          </a:p>
        </p:txBody>
      </p:sp>
      <p:sp>
        <p:nvSpPr>
          <p:cNvPr id="15" name="dsl:tr2-bg"/>
          <p:cNvSpPr/>
          <p:nvPr/>
        </p:nvSpPr>
        <p:spPr>
          <a:xfrm>
            <a:off x="6381750" y="2933700"/>
            <a:ext cx="5143500" cy="144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tr2-head"/>
          <p:cNvSpPr txBox="1"/>
          <p:nvPr/>
        </p:nvSpPr>
        <p:spPr>
          <a:xfrm>
            <a:off x="6629400" y="3086100"/>
            <a:ext cx="466725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23252D"/>
                </a:solidFill>
                <a:latin typeface="MiSans"/>
                <a:ea typeface="MiSans"/>
              </a:rPr>
              <a:t>🗂️ 上下文 = 被调度的工作集</a:t>
            </a:r>
          </a:p>
        </p:txBody>
      </p:sp>
      <p:sp>
        <p:nvSpPr>
          <p:cNvPr id="17" name="dsl:tr2-text"/>
          <p:cNvSpPr txBox="1"/>
          <p:nvPr/>
        </p:nvSpPr>
        <p:spPr>
          <a:xfrm>
            <a:off x="6629400" y="3390900"/>
            <a:ext cx="4667250" cy="857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原始数据留在外部系统，用 handle / URI / cursor / Artifact ID 引用；按阶段以 summary / slice / query / raw 视图读取。更像一个 Context OS，而不是无限扩大的 Prompt。</a:t>
            </a:r>
          </a:p>
        </p:txBody>
      </p:sp>
      <p:sp>
        <p:nvSpPr>
          <p:cNvPr id="18" name="dsl:tr3-bg"/>
          <p:cNvSpPr/>
          <p:nvPr/>
        </p:nvSpPr>
        <p:spPr>
          <a:xfrm>
            <a:off x="6381750" y="4533900"/>
            <a:ext cx="5143500" cy="144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tr3-head"/>
          <p:cNvSpPr txBox="1"/>
          <p:nvPr/>
        </p:nvSpPr>
        <p:spPr>
          <a:xfrm>
            <a:off x="6629400" y="4686300"/>
            <a:ext cx="466725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23252D"/>
                </a:solidFill>
                <a:latin typeface="MiSans"/>
                <a:ea typeface="MiSans"/>
              </a:rPr>
              <a:t>🧱 五层并存，协议边界不消失</a:t>
            </a:r>
          </a:p>
        </p:txBody>
      </p:sp>
      <p:sp>
        <p:nvSpPr>
          <p:cNvPr id="20" name="dsl:tr3-text"/>
          <p:cNvSpPr txBox="1"/>
          <p:nvPr/>
        </p:nvSpPr>
        <p:spPr>
          <a:xfrm>
            <a:off x="6629400" y="4991100"/>
            <a:ext cx="4667250" cy="857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Runtime / Skill / MCP / A2A / Policy-Memory 会共享身份、Schema、Artifact 和事件格式，也会相互引用——但"是否具备自主任务生命周期"这条 Tool 与 Agent 的分界线不会消失。</a:t>
            </a:r>
          </a:p>
        </p:txBody>
      </p:sp>
      <p:cxnSp>
        <p:nvCxnSpPr>
          <p:cNvPr id="21" name="dsl:footer-line"/>
          <p:cNvCxnSpPr/>
          <p:nvPr/>
        </p:nvCxnSpPr>
        <p:spPr>
          <a:xfrm>
            <a:off x="666750" y="6438900"/>
            <a:ext cx="10858500" cy="0"/>
          </a:xfrm>
          <a:prstGeom prst="straightConnector1">
            <a:avLst/>
          </a:prstGeom>
          <a:ln w="12700">
            <a:solidFill>
              <a:srgbClr val="E3E0D8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sl:footer-left|s=$small"/>
          <p:cNvSpPr txBox="1"/>
          <p:nvPr/>
        </p:nvSpPr>
        <p:spPr>
          <a:xfrm>
            <a:off x="666750" y="6534150"/>
            <a:ext cx="4762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从 Chat API 到 Agent Runtime · 技术分享</a:t>
            </a:r>
          </a:p>
        </p:txBody>
      </p:sp>
      <p:sp>
        <p:nvSpPr>
          <p:cNvPr id="23" name="dsl:page-num|s=$small"/>
          <p:cNvSpPr txBox="1"/>
          <p:nvPr/>
        </p:nvSpPr>
        <p:spPr>
          <a:xfrm>
            <a:off x="10763250" y="65341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75" noProof="1">
                <a:solidFill>
                  <a:srgbClr val="5C5F6B"/>
                </a:solidFill>
                <a:latin typeface="MiSans"/>
                <a:ea typeface="Mi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6233F"/>
            </a:gs>
            <a:gs pos="100000">
              <a:srgbClr val="3D3580"/>
            </a:gs>
          </a:gsLst>
          <a:lin scaled="1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deco-circle"/>
          <p:cNvSpPr/>
          <p:nvPr/>
        </p:nvSpPr>
        <p:spPr>
          <a:xfrm>
            <a:off x="7048500" y="5562600"/>
            <a:ext cx="1047750" cy="1047750"/>
          </a:xfrm>
          <a:prstGeom prst="ellipse">
            <a:avLst/>
          </a:prstGeom>
          <a:solidFill>
            <a:srgbClr val="FFFFFF">
              <a:alpha val="313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kicker"/>
          <p:cNvSpPr txBox="1"/>
          <p:nvPr/>
        </p:nvSpPr>
        <p:spPr>
          <a:xfrm>
            <a:off x="857250" y="1143000"/>
            <a:ext cx="476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 spc="300">
                <a:solidFill>
                  <a:srgbClr val="B9B4E0"/>
                </a:solidFill>
                <a:latin typeface="MiSans"/>
                <a:ea typeface="MiSans"/>
              </a:rPr>
              <a:t>结语 · KEY TAKEAWAY</a:t>
            </a:r>
          </a:p>
        </p:txBody>
      </p:sp>
      <p:sp>
        <p:nvSpPr>
          <p:cNvPr id="4" name="dsl:quote-bar"/>
          <p:cNvSpPr/>
          <p:nvPr/>
        </p:nvSpPr>
        <p:spPr>
          <a:xfrm>
            <a:off x="857250" y="1562100"/>
            <a:ext cx="609600" cy="47625"/>
          </a:xfrm>
          <a:prstGeom prst="rect">
            <a:avLst/>
          </a:prstGeom>
          <a:solidFill>
            <a:srgbClr val="E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quote"/>
          <p:cNvSpPr txBox="1"/>
          <p:nvPr/>
        </p:nvSpPr>
        <p:spPr>
          <a:xfrm>
            <a:off x="857250" y="1866900"/>
            <a:ext cx="6096000" cy="2286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sz="1875" noProof="1">
                <a:solidFill>
                  <a:srgbClr val="FFFFFF"/>
                </a:solidFill>
                <a:latin typeface="alimamashuheiti"/>
                <a:ea typeface="alimamashuheiti"/>
              </a:rPr>
              <a:t>「Chat API 暴露模型的『说话能力』；下一代 Agent API 暴露的，是模型在一个受控世界中持续工作、恢复状态、调用能力并交付可验证结果的能力。」</a:t>
            </a:r>
          </a:p>
        </p:txBody>
      </p:sp>
      <p:sp>
        <p:nvSpPr>
          <p:cNvPr id="6" name="dsl:quote-sub"/>
          <p:cNvSpPr txBox="1"/>
          <p:nvPr/>
        </p:nvSpPr>
        <p:spPr>
          <a:xfrm>
            <a:off x="857250" y="4343400"/>
            <a:ext cx="59055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CFCAE8"/>
                </a:solidFill>
                <a:latin typeface="MiSans"/>
                <a:ea typeface="MiSans"/>
              </a:rPr>
              <a:t>接口设计不再只是工程兼容问题——它直接决定模型在长程任务中的有效能力、Token 消耗和可靠性。</a:t>
            </a:r>
          </a:p>
        </p:txBody>
      </p:sp>
      <p:sp>
        <p:nvSpPr>
          <p:cNvPr id="7" name="dsl:footer-note"/>
          <p:cNvSpPr txBox="1"/>
          <p:nvPr/>
        </p:nvSpPr>
        <p:spPr>
          <a:xfrm>
            <a:off x="857250" y="6096000"/>
            <a:ext cx="6096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>
                <a:solidFill>
                  <a:srgbClr val="8F8AB0"/>
                </a:solidFill>
                <a:latin typeface="MiSans"/>
                <a:ea typeface="MiSans"/>
              </a:rPr>
              <a:t>配套：同名 HTML 交互讲义（含自测题与一页纸总结）· 2026-08</a:t>
            </a:r>
          </a:p>
        </p:txBody>
      </p:sp>
      <p:sp>
        <p:nvSpPr>
          <p:cNvPr id="8" name="dsl:refs-bg"/>
          <p:cNvSpPr/>
          <p:nvPr/>
        </p:nvSpPr>
        <p:spPr>
          <a:xfrm>
            <a:off x="7524750" y="1143000"/>
            <a:ext cx="3810000" cy="4572000"/>
          </a:xfrm>
          <a:prstGeom prst="roundRect">
            <a:avLst>
              <a:gd name="adj" fmla="val 500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3333"/>
              </a:srgb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refs-head"/>
          <p:cNvSpPr txBox="1"/>
          <p:nvPr/>
        </p:nvSpPr>
        <p:spPr>
          <a:xfrm>
            <a:off x="7791450" y="1352550"/>
            <a:ext cx="32766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FFFFFF"/>
                </a:solidFill>
                <a:latin typeface="MiSans"/>
                <a:ea typeface="MiSans"/>
              </a:rPr>
              <a:t>📚 参考资料</a:t>
            </a:r>
          </a:p>
        </p:txBody>
      </p:sp>
      <p:sp>
        <p:nvSpPr>
          <p:cNvPr id="10" name="dsl:refs-list"/>
          <p:cNvSpPr txBox="1"/>
          <p:nvPr/>
        </p:nvSpPr>
        <p:spPr>
          <a:xfrm>
            <a:off x="7791450" y="1714500"/>
            <a:ext cx="3314700" cy="381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90000"/>
              </a:lnSpc>
            </a:pPr>
            <a:r>
              <a:rPr sz="900" noProof="1">
                <a:solidFill>
                  <a:srgbClr val="B9B4E0"/>
                </a:solidFill>
                <a:latin typeface="MiSans"/>
                <a:ea typeface="MiSans"/>
              </a:rPr>
              <a:t>1. </a:t>
            </a:r>
            <a:r>
              <a:rPr sz="900" noProof="1">
                <a:solidFill>
                  <a:srgbClr val="B9B4E0"/>
                </a:solidFill>
                <a:latin typeface="MiSans"/>
                <a:ea typeface="MiSans"/>
                <a:hlinkClick r:id="rId2"/>
              </a:rPr>
              <a:t>OpenAI：两个设置让 ARC-AGI-3 得分翻三倍</a:t>
            </a:r>
          </a:p>
          <a:p>
            <a:pPr algn="l">
              <a:lnSpc>
                <a:spcPct val="190000"/>
              </a:lnSpc>
            </a:pPr>
            <a:r>
              <a:rPr sz="900" noProof="1">
                <a:solidFill>
                  <a:srgbClr val="B9B4E0"/>
                </a:solidFill>
                <a:latin typeface="MiSans"/>
                <a:ea typeface="MiSans"/>
              </a:rPr>
              <a:t>2. </a:t>
            </a:r>
            <a:r>
              <a:rPr sz="900" noProof="1">
                <a:solidFill>
                  <a:srgbClr val="B9B4E0"/>
                </a:solidFill>
                <a:latin typeface="MiSans"/>
                <a:ea typeface="MiSans"/>
                <a:hlinkClick r:id="rId3"/>
              </a:rPr>
              <a:t>OpenAI API：Reasoning models</a:t>
            </a:r>
          </a:p>
          <a:p>
            <a:pPr algn="l">
              <a:lnSpc>
                <a:spcPct val="190000"/>
              </a:lnSpc>
            </a:pPr>
            <a:r>
              <a:rPr sz="900" noProof="1">
                <a:solidFill>
                  <a:srgbClr val="B9B4E0"/>
                </a:solidFill>
                <a:latin typeface="MiSans"/>
                <a:ea typeface="MiSans"/>
              </a:rPr>
              <a:t>3. </a:t>
            </a:r>
            <a:r>
              <a:rPr sz="900" noProof="1">
                <a:solidFill>
                  <a:srgbClr val="B9B4E0"/>
                </a:solidFill>
                <a:latin typeface="MiSans"/>
                <a:ea typeface="MiSans"/>
                <a:hlinkClick r:id="rId4"/>
              </a:rPr>
              <a:t>OpenAI API：Compaction</a:t>
            </a:r>
          </a:p>
          <a:p>
            <a:pPr algn="l">
              <a:lnSpc>
                <a:spcPct val="190000"/>
              </a:lnSpc>
            </a:pPr>
            <a:r>
              <a:rPr sz="900" noProof="1">
                <a:solidFill>
                  <a:srgbClr val="B9B4E0"/>
                </a:solidFill>
                <a:latin typeface="MiSans"/>
                <a:ea typeface="MiSans"/>
              </a:rPr>
              <a:t>4. </a:t>
            </a:r>
            <a:r>
              <a:rPr sz="900" noProof="1">
                <a:solidFill>
                  <a:srgbClr val="B9B4E0"/>
                </a:solidFill>
                <a:latin typeface="MiSans"/>
                <a:ea typeface="MiSans"/>
                <a:hlinkClick r:id="rId5"/>
              </a:rPr>
              <a:t>OpenAI API：Tool search</a:t>
            </a:r>
          </a:p>
          <a:p>
            <a:pPr algn="l">
              <a:lnSpc>
                <a:spcPct val="190000"/>
              </a:lnSpc>
            </a:pPr>
            <a:r>
              <a:rPr sz="900" noProof="1">
                <a:solidFill>
                  <a:srgbClr val="B9B4E0"/>
                </a:solidFill>
                <a:latin typeface="MiSans"/>
                <a:ea typeface="MiSans"/>
              </a:rPr>
              <a:t>5. </a:t>
            </a:r>
            <a:r>
              <a:rPr sz="900" noProof="1">
                <a:solidFill>
                  <a:srgbClr val="B9B4E0"/>
                </a:solidFill>
                <a:latin typeface="MiSans"/>
                <a:ea typeface="MiSans"/>
                <a:hlinkClick r:id="rId6"/>
              </a:rPr>
              <a:t>OpenAI API：Programmatic Tool Calling</a:t>
            </a:r>
          </a:p>
          <a:p>
            <a:pPr algn="l">
              <a:lnSpc>
                <a:spcPct val="190000"/>
              </a:lnSpc>
            </a:pPr>
            <a:r>
              <a:rPr sz="900" noProof="1">
                <a:solidFill>
                  <a:srgbClr val="B9B4E0"/>
                </a:solidFill>
                <a:latin typeface="MiSans"/>
                <a:ea typeface="MiSans"/>
              </a:rPr>
              <a:t>6. </a:t>
            </a:r>
            <a:r>
              <a:rPr sz="900" noProof="1">
                <a:solidFill>
                  <a:srgbClr val="B9B4E0"/>
                </a:solidFill>
                <a:latin typeface="MiSans"/>
                <a:ea typeface="MiSans"/>
                <a:hlinkClick r:id="rId7"/>
              </a:rPr>
              <a:t>OpenAI API：MCP and Connectors</a:t>
            </a:r>
          </a:p>
          <a:p>
            <a:pPr algn="l">
              <a:lnSpc>
                <a:spcPct val="190000"/>
              </a:lnSpc>
            </a:pPr>
            <a:r>
              <a:rPr sz="900" noProof="1">
                <a:solidFill>
                  <a:srgbClr val="B9B4E0"/>
                </a:solidFill>
                <a:latin typeface="MiSans"/>
                <a:ea typeface="MiSans"/>
              </a:rPr>
              <a:t>7. </a:t>
            </a:r>
            <a:r>
              <a:rPr sz="900" noProof="1">
                <a:solidFill>
                  <a:srgbClr val="B9B4E0"/>
                </a:solidFill>
                <a:latin typeface="MiSans"/>
                <a:ea typeface="MiSans"/>
                <a:hlinkClick r:id="rId8"/>
              </a:rPr>
              <a:t>MCP：Tools specification</a:t>
            </a:r>
          </a:p>
          <a:p>
            <a:pPr algn="l">
              <a:lnSpc>
                <a:spcPct val="190000"/>
              </a:lnSpc>
            </a:pPr>
            <a:r>
              <a:rPr sz="900" noProof="1">
                <a:solidFill>
                  <a:srgbClr val="B9B4E0"/>
                </a:solidFill>
                <a:latin typeface="MiSans"/>
                <a:ea typeface="MiSans"/>
              </a:rPr>
              <a:t>8. </a:t>
            </a:r>
            <a:r>
              <a:rPr sz="900" noProof="1">
                <a:solidFill>
                  <a:srgbClr val="B9B4E0"/>
                </a:solidFill>
                <a:latin typeface="MiSans"/>
                <a:ea typeface="MiSans"/>
                <a:hlinkClick r:id="rId9"/>
              </a:rPr>
              <a:t>A2A Protocol：Specification</a:t>
            </a:r>
          </a:p>
          <a:p>
            <a:pPr algn="l">
              <a:lnSpc>
                <a:spcPct val="190000"/>
              </a:lnSpc>
            </a:pPr>
            <a:r>
              <a:rPr sz="900" noProof="1">
                <a:solidFill>
                  <a:srgbClr val="B9B4E0"/>
                </a:solidFill>
                <a:latin typeface="MiSans"/>
                <a:ea typeface="MiSans"/>
              </a:rPr>
              <a:t>9. </a:t>
            </a:r>
            <a:r>
              <a:rPr sz="900" noProof="1">
                <a:solidFill>
                  <a:srgbClr val="B9B4E0"/>
                </a:solidFill>
                <a:latin typeface="MiSans"/>
                <a:ea typeface="MiSans"/>
                <a:hlinkClick r:id="rId10"/>
              </a:rPr>
              <a:t>A2A：Streaming and Async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bg" value="#F7F6F3"/>
    <Color name="paper" value="#FFFFFF"/>
    <Color name="ink" value="#23252D"/>
    <Color name="soft" value="#5C5F6B"/>
    <Color name="line" value="#E3E0D8"/>
    <Color name="primary" value="#4A44C6"/>
    <Color name="primaryMid" value="#6E67D8"/>
    <Color name="primarySoft" value="#ECEAFA"/>
    <Color name="accent" value="#E8863A"/>
    <Color name="accentSoft" value="#FCEBDD"/>
    <Color name="good" value="#2E9E6B"/>
    <Color name="goodSoft" value="#E3F4EC"/>
    <Color name="bad" value="#D5544F"/>
    <Color name="badSoft" value="#FBE9E8"/>
    <Color name="night" value="#26233F"/>
    <Color name="nightSoft" value="#3D3580"/>
  </Colors>
  <TextStyles>
    <TextStyle name="kicker" font_size="14.0" color="$primary" font_family="MiSans" letter_spacing="3.0"/>
    <TextStyle name="title" font_size="30.0" color="$ink" font_family="alimamashuheiti"/>
    <TextStyle name="body" font_size="17.0" color="$ink" font_family="MiSans" line_height="1.5"/>
    <TextStyle name="small" font_size="13.0" color="$soft" font_family="MiSans" line_height="1.4"/>
  </TextStyles>
  <TableStyles>
    <TableStyle name="default" fontSize="15.0" fontFamily="MiSans" headerFill="$night" headerColor="#FFFFFF" headerBold="true" bodyFill="#FFFFFF,#F4F2EC" bodyColor="$ink" firstColumnBold="false">
      <Border style="solid" width="1.0" color="$line"/>
    </TableStyle>
  </TableStyles>
</DslMetadata>
</file>

<file path=customXml/itemProps1.xml><?xml version="1.0" encoding="utf-8"?>
<ns0:datastoreItem xmlns:ns0="http://schemas.openxmlformats.org/officeDocument/2006/customXml" ns0:itemID="{0831F7BD-37C5-40E1-8A11-560BEAA88363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