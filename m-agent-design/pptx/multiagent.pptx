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 type="custom"/>
  <p:notesSz cx="12192000" cy="6858000"/>
  <p:embeddedFontLst>
    <p:embeddedFont>
      <p:font typeface="MiSans" charset="-122" pitchFamily="34"/>
      <p:regular r:id="rId36"/>
    </p:embeddedFont>
    <p:embeddedFont>
      <p:font typeface="思源宋体" charset="-122" pitchFamily="34"/>
      <p:regular r:id="rId37"/>
    </p:embeddedFont>
    <p:embeddedFont>
      <p:font typeface="JetBrains Mono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v2/docs/agents" TargetMode="External"/><Relationship Id="rId3" Type="http://schemas.openxmlformats.org/officeDocument/2006/relationships/hyperlink" Target="https://opencode.ai/v2/docs/migrate-v1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abel"/>
          <p:cNvSpPr txBox="1"/>
          <p:nvPr/>
        </p:nvSpPr>
        <p:spPr>
          <a:xfrm>
            <a:off x="1016000" y="9144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AI AGENT 教学系列 · 多智能体专题</a:t>
            </a:r>
            <a:endParaRPr lang="en-US" sz="1200" noProof="1"/>
          </a:p>
        </p:txBody>
      </p:sp>
      <p:sp>
        <p:nvSpPr>
          <p:cNvPr id="3" name="cover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16000" y="13208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4" name="cover-title"/>
          <p:cNvSpPr txBox="1"/>
          <p:nvPr/>
        </p:nvSpPr>
        <p:spPr>
          <a:xfrm>
            <a:off x="1016000" y="1905000"/>
            <a:ext cx="7874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4200" noProof="1" b="1">
                <a:solidFill>
                  <a:srgbClr val="211D19"/>
                </a:solidFill>
                <a:latin typeface="思源宋体"/>
                <a:ea typeface="思源宋体"/>
              </a:rPr>
              <a:t>多智能体：</a:t>
            </a:r>
            <a:endParaRPr lang="en-US" sz="4200" noProof="1"/>
          </a:p>
          <a:p>
            <a:pPr>
              <a:lnSpc>
                <a:spcPct val="135000"/>
              </a:lnSpc>
            </a:pPr>
            <a:r>
              <a:rPr lang="en-US" sz="4200" noProof="1" b="1">
                <a:solidFill>
                  <a:srgbClr val="211D19"/>
                </a:solidFill>
                <a:latin typeface="思源宋体"/>
                <a:ea typeface="思源宋体"/>
              </a:rPr>
              <a:t>设计正确的能力与上下文边界</a:t>
            </a:r>
            <a:endParaRPr lang="en-US" sz="4200" noProof="1"/>
          </a:p>
        </p:txBody>
      </p:sp>
      <p:sp>
        <p:nvSpPr>
          <p:cNvPr id="5" name="cover-sub"/>
          <p:cNvSpPr txBox="1"/>
          <p:nvPr/>
        </p:nvSpPr>
        <p:spPr>
          <a:xfrm>
            <a:off x="1016000" y="40386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6E675E"/>
                </a:solidFill>
                <a:latin typeface="MiSans"/>
                <a:ea typeface="MiSans"/>
              </a:rPr>
              <a:t>不是把一个模型复制很多份</a:t>
            </a:r>
            <a:endParaRPr lang="en-US" sz="1600" noProof="1"/>
          </a:p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6E675E"/>
                </a:solidFill>
                <a:latin typeface="MiSans"/>
                <a:ea typeface="MiSans"/>
              </a:rPr>
              <a:t>一份从问题出发的多智能体教学课件</a:t>
            </a:r>
            <a:endParaRPr lang="en-US" sz="1600" noProof="1"/>
          </a:p>
        </p:txBody>
      </p:sp>
      <p:sp>
        <p:nvSpPr>
          <p:cNvPr id="6" name="cover-meta-rule"/>
          <p:cNvSpPr/>
          <p:nvPr>
            <p:extLst>
              <p:ext uri="{F5677B7D-0D2A-4D9B-9A5C-6D8D7D0E5A5D}">
                <pptd:line encoding="base64url">eyJ2aWV3Qm94IjpbODAwLDFdLCJwb2ludHMiOiIwLDAgODAwLDAiLCJjdXJ2ZSI6InNoYXJwIn0</pptd:line>
              </p:ext>
            </p:extLst>
          </p:nvPr>
        </p:nvSpPr>
        <p:spPr>
          <a:xfrm>
            <a:off x="1016000" y="5334000"/>
            <a:ext cx="10160000" cy="12700"/>
          </a:xfrm>
          <a:custGeom>
            <a:avLst/>
            <a:gdLst/>
            <a:ahLst/>
            <a:cxnLst/>
            <a:rect l="l" t="t" r="r" b="b"/>
            <a:pathLst>
              <a:path w="800" h="1">
                <a:moveTo>
                  <a:pt x="0" y="0"/>
                </a:moveTo>
                <a:lnTo>
                  <a:pt x="80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7" name="cover-meta"/>
          <p:cNvSpPr txBox="1"/>
          <p:nvPr/>
        </p:nvSpPr>
        <p:spPr>
          <a:xfrm>
            <a:off x="1016000" y="55372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适用对象：已有单 Agent 使用经验、准备设计或评审多智能体结构的工程师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建议时长：50 分钟授课 + 20 分钟演示讨论　·　配套讲义：《多智能体教学讲义（完善版）》</a:t>
            </a:r>
            <a:endParaRPr lang="en-US" sz="1150" noProof="1"/>
          </a:p>
        </p:txBody>
      </p:sp>
      <p:sp>
        <p:nvSpPr>
          <p:cNvPr id="8" name="deco-box-primary"/>
          <p:cNvSpPr/>
          <p:nvPr/>
        </p:nvSpPr>
        <p:spPr>
          <a:xfrm>
            <a:off x="9398000" y="1905000"/>
            <a:ext cx="1778000" cy="1143000"/>
          </a:xfrm>
          <a:prstGeom prst="rect">
            <a:avLst/>
          </a:prstGeom>
          <a:solidFill>
            <a:srgbClr val="FAF8F4"/>
          </a:solidFill>
          <a:ln w="25400">
            <a:solidFill>
              <a:srgbClr val="211D19"/>
            </a:solidFill>
          </a:ln>
        </p:spPr>
      </p:sp>
      <p:sp>
        <p:nvSpPr>
          <p:cNvPr id="9" name="deco-box-primary-text"/>
          <p:cNvSpPr txBox="1"/>
          <p:nvPr/>
        </p:nvSpPr>
        <p:spPr>
          <a:xfrm>
            <a:off x="9398000" y="1905000"/>
            <a:ext cx="177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Primary</a:t>
            </a:r>
            <a:endParaRPr lang="en-US" sz="1300" noProof="1"/>
          </a:p>
        </p:txBody>
      </p:sp>
      <p:sp>
        <p:nvSpPr>
          <p:cNvPr id="10" name="deco-line-1"/>
          <p:cNvSpPr/>
          <p:nvPr>
            <p:extLst>
              <p:ext uri="{F5677B7D-0D2A-4D9B-9A5C-6D8D7D0E5A5D}">
                <pptd:line encoding="base64url">eyJ2aWV3Qm94IjpbMSw0MF0sInBvaW50cyI6IjAsMCAwLDQwIiwiY3VydmUiOiJzaGFycCJ9</pptd:line>
              </p:ext>
            </p:extLst>
          </p:nvPr>
        </p:nvSpPr>
        <p:spPr>
          <a:xfrm>
            <a:off x="10287000" y="3048000"/>
            <a:ext cx="12700" cy="508000"/>
          </a:xfrm>
          <a:custGeom>
            <a:avLst/>
            <a:gdLst/>
            <a:ahLst/>
            <a:cxnLst/>
            <a:rect l="l" t="t" r="r" b="b"/>
            <a:pathLst>
              <a:path w="1" h="40">
                <a:moveTo>
                  <a:pt x="0" y="0"/>
                </a:moveTo>
                <a:lnTo>
                  <a:pt x="0" y="40"/>
                </a:lnTo>
              </a:path>
            </a:pathLst>
          </a:custGeom>
          <a:noFill/>
          <a:ln w="19050">
            <a:solidFill>
              <a:srgbClr val="B4532A"/>
            </a:solidFill>
            <a:tailEnd type="arrow"/>
          </a:ln>
        </p:spPr>
      </p:sp>
      <p:sp>
        <p:nvSpPr>
          <p:cNvPr id="11" name="deco-box-sub1"/>
          <p:cNvSpPr/>
          <p:nvPr/>
        </p:nvSpPr>
        <p:spPr>
          <a:xfrm>
            <a:off x="8890000" y="3606800"/>
            <a:ext cx="1397000" cy="812800"/>
          </a:xfrm>
          <a:prstGeom prst="rect">
            <a:avLst/>
          </a:prstGeom>
          <a:solidFill>
            <a:srgbClr val="F1E3D9"/>
          </a:solidFill>
          <a:ln w="19050">
            <a:solidFill>
              <a:srgbClr val="B4532A"/>
            </a:solidFill>
          </a:ln>
        </p:spPr>
      </p:sp>
      <p:sp>
        <p:nvSpPr>
          <p:cNvPr id="12" name="deco-box-sub1-text"/>
          <p:cNvSpPr txBox="1"/>
          <p:nvPr/>
        </p:nvSpPr>
        <p:spPr>
          <a:xfrm>
            <a:off x="8890000" y="3606800"/>
            <a:ext cx="139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4532A"/>
                </a:solidFill>
                <a:latin typeface="MiSans"/>
                <a:ea typeface="MiSans"/>
              </a:rPr>
              <a:t>Subagent A</a:t>
            </a:r>
            <a:endParaRPr lang="en-US" sz="1200" noProof="1"/>
          </a:p>
        </p:txBody>
      </p:sp>
      <p:sp>
        <p:nvSpPr>
          <p:cNvPr id="13" name="deco-box-sub2"/>
          <p:cNvSpPr/>
          <p:nvPr/>
        </p:nvSpPr>
        <p:spPr>
          <a:xfrm>
            <a:off x="10490200" y="3606800"/>
            <a:ext cx="1397000" cy="812800"/>
          </a:xfrm>
          <a:prstGeom prst="rect">
            <a:avLst/>
          </a:prstGeom>
          <a:solidFill>
            <a:srgbClr val="DFEAE6"/>
          </a:solidFill>
          <a:ln w="19050">
            <a:solidFill>
              <a:srgbClr val="166E63"/>
            </a:solidFill>
          </a:ln>
        </p:spPr>
      </p:sp>
      <p:sp>
        <p:nvSpPr>
          <p:cNvPr id="14" name="deco-box-sub2-text"/>
          <p:cNvSpPr txBox="1"/>
          <p:nvPr/>
        </p:nvSpPr>
        <p:spPr>
          <a:xfrm>
            <a:off x="10490200" y="3606800"/>
            <a:ext cx="139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66E63"/>
                </a:solidFill>
                <a:latin typeface="MiSans"/>
                <a:ea typeface="MiSans"/>
              </a:rPr>
              <a:t>Subagent B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开场 · 问题定义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先别问“创建哪些角色”，先回答三个问题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intro"/>
          <p:cNvSpPr txBox="1"/>
          <p:nvPr/>
        </p:nvSpPr>
        <p:spPr>
          <a:xfrm>
            <a:off x="762000" y="1498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6E675E"/>
                </a:solidFill>
                <a:latin typeface="MiSans"/>
                <a:ea typeface="MiSans"/>
              </a:rPr>
              <a:t>很多人的第一反应是让多个 Agent 扮演产品经理、架构师、开发者并“开会协作”。但若它们使用相同模型、相同上下文、相同工具，只是换了角色名称，往往只是把一次推理拆成多次相似推理，同时增加成本、延迟与沟通损耗。</a:t>
            </a:r>
            <a:endParaRPr lang="en-US" sz="1350" noProof="1"/>
          </a:p>
        </p:txBody>
      </p:sp>
      <p:sp>
        <p:nvSpPr>
          <p:cNvPr id="6" name="q1-text"/>
          <p:cNvSpPr txBox="1"/>
          <p:nvPr/>
        </p:nvSpPr>
        <p:spPr>
          <a:xfrm>
            <a:off x="1778000" y="24130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700" noProof="1" b="1">
                <a:solidFill>
                  <a:srgbClr val="211D19"/>
                </a:solidFill>
                <a:latin typeface="MiSans"/>
                <a:ea typeface="MiSans"/>
              </a:rPr>
              <a:t>单个 Agent 到底缺少什么？——能力、工具，还是权限？</a:t>
            </a:r>
            <a:endParaRPr lang="en-US" sz="1700" noProof="1"/>
          </a:p>
        </p:txBody>
      </p:sp>
      <p:sp>
        <p:nvSpPr>
          <p:cNvPr id="7" name="q1-rule"/>
          <p:cNvSpPr/>
          <p:nvPr>
            <p:extLst>
              <p:ext uri="{F5677B7D-0D2A-4D9B-9A5C-6D8D7D0E5A5D}">
                <pptd:line encoding="base64url">eyJ2aWV3Qm94IjpbNzIwLDFdLCJwb2ludHMiOiIwLDAgNzIwLDAiLCJjdXJ2ZSI6InNoYXJwIn0</pptd:line>
              </p:ext>
            </p:extLst>
          </p:nvPr>
        </p:nvSpPr>
        <p:spPr>
          <a:xfrm>
            <a:off x="1778000" y="2946400"/>
            <a:ext cx="9144000" cy="12700"/>
          </a:xfrm>
          <a:custGeom>
            <a:avLst/>
            <a:gdLst/>
            <a:ahLst/>
            <a:cxn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8" name="q2-text"/>
          <p:cNvSpPr txBox="1"/>
          <p:nvPr/>
        </p:nvSpPr>
        <p:spPr>
          <a:xfrm>
            <a:off x="1778000" y="31750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700" noProof="1" b="1">
                <a:solidFill>
                  <a:srgbClr val="211D19"/>
                </a:solidFill>
                <a:latin typeface="MiSans"/>
                <a:ea typeface="MiSans"/>
              </a:rPr>
              <a:t>哪些信息应该共享，哪些上下文必须隔离？</a:t>
            </a:r>
            <a:endParaRPr lang="en-US" sz="1700" noProof="1"/>
          </a:p>
        </p:txBody>
      </p:sp>
      <p:sp>
        <p:nvSpPr>
          <p:cNvPr id="9" name="q2-rule"/>
          <p:cNvSpPr/>
          <p:nvPr>
            <p:extLst>
              <p:ext uri="{F5677B7D-0D2A-4D9B-9A5C-6D8D7D0E5A5D}">
                <pptd:line encoding="base64url">eyJ2aWV3Qm94IjpbNzIwLDFdLCJwb2ludHMiOiIwLDAgNzIwLDAiLCJjdXJ2ZSI6InNoYXJwIn0</pptd:line>
              </p:ext>
            </p:extLst>
          </p:nvPr>
        </p:nvSpPr>
        <p:spPr>
          <a:xfrm>
            <a:off x="1778000" y="3708400"/>
            <a:ext cx="9144000" cy="12700"/>
          </a:xfrm>
          <a:custGeom>
            <a:avLst/>
            <a:gdLst/>
            <a:ahLst/>
            <a:cxn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0" name="q3-text"/>
          <p:cNvSpPr txBox="1"/>
          <p:nvPr/>
        </p:nvSpPr>
        <p:spPr>
          <a:xfrm>
            <a:off x="1778000" y="39370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700" noProof="1" b="1">
                <a:solidFill>
                  <a:srgbClr val="211D19"/>
                </a:solidFill>
                <a:latin typeface="MiSans"/>
                <a:ea typeface="MiSans"/>
              </a:rPr>
              <a:t>子任务之间存在依赖，还是可以真正并行？</a:t>
            </a:r>
            <a:endParaRPr lang="en-US" sz="1700" noProof="1"/>
          </a:p>
        </p:txBody>
      </p:sp>
      <p:sp>
        <p:nvSpPr>
          <p:cNvPr id="11" name="formula-rule-top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4724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12" name="formula-label"/>
          <p:cNvSpPr txBox="1"/>
          <p:nvPr/>
        </p:nvSpPr>
        <p:spPr>
          <a:xfrm>
            <a:off x="762000" y="49022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多智能体价值公式</a:t>
            </a:r>
            <a:endParaRPr lang="en-US" sz="1200" noProof="1"/>
          </a:p>
        </p:txBody>
      </p:sp>
      <p:sp>
        <p:nvSpPr>
          <p:cNvPr id="13" name="formula"/>
          <p:cNvSpPr txBox="1"/>
          <p:nvPr/>
        </p:nvSpPr>
        <p:spPr>
          <a:xfrm>
            <a:off x="762000" y="51816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211D19"/>
                </a:solidFill>
                <a:latin typeface="MiSans"/>
                <a:ea typeface="MiSans"/>
              </a:rPr>
              <a:t>净收益 = 能力互补 + 上下文隔离收益 + 并行收益 − 协调成本</a:t>
            </a:r>
            <a:endParaRPr lang="en-US" sz="1900" noProof="1"/>
          </a:p>
        </p:txBody>
      </p:sp>
      <p:sp>
        <p:nvSpPr>
          <p:cNvPr id="14" name="formula-note"/>
          <p:cNvSpPr txBox="1"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6E675E"/>
                </a:solidFill>
                <a:latin typeface="MiSans"/>
                <a:ea typeface="MiSans"/>
              </a:rPr>
              <a:t>左边三项至少有一项足够明显、且大于协调成本时，多智能体才值得使用。把它当作“决策前的体检表”：每次想拆 Agent，先问收益来自哪一项、协调成本是什么。</a:t>
            </a:r>
            <a:endParaRPr lang="en-US" sz="1250" noProof="1"/>
          </a:p>
        </p:txBody>
      </p:sp>
      <p:sp>
        <p:nvSpPr>
          <p:cNvPr id="15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6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1016000" y="1524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 b="1">
                <a:solidFill>
                  <a:srgbClr val="F1E3D9"/>
                </a:solidFill>
                <a:latin typeface="思源宋体"/>
                <a:ea typeface="思源宋体"/>
              </a:rPr>
              <a:t>01</a:t>
            </a:r>
            <a:endParaRPr lang="en-US" sz="9600" noProof="1"/>
          </a:p>
        </p:txBody>
      </p:sp>
      <p:sp>
        <p:nvSpPr>
          <p:cNvPr id="3" name="ch-label"/>
          <p:cNvSpPr txBox="1"/>
          <p:nvPr/>
        </p:nvSpPr>
        <p:spPr>
          <a:xfrm>
            <a:off x="1066800" y="2997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第一章</a:t>
            </a:r>
            <a:endParaRPr lang="en-US" sz="1200" noProof="1"/>
          </a:p>
        </p:txBody>
      </p:sp>
      <p:sp>
        <p:nvSpPr>
          <p:cNvPr id="4" name="ch-title"/>
          <p:cNvSpPr txBox="1"/>
          <p:nvPr/>
        </p:nvSpPr>
        <p:spPr>
          <a:xfrm>
            <a:off x="1066800" y="32766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11D19"/>
                </a:solidFill>
                <a:latin typeface="思源宋体"/>
                <a:ea typeface="思源宋体"/>
              </a:rPr>
              <a:t>为什么需要多智能体</a:t>
            </a:r>
            <a:endParaRPr lang="en-US" sz="3400" noProof="1"/>
          </a:p>
        </p:txBody>
      </p:sp>
      <p:sp>
        <p:nvSpPr>
          <p:cNvPr id="5" name="ch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66800" y="4089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6" name="ch-points"/>
          <p:cNvSpPr txBox="1"/>
          <p:nvPr/>
        </p:nvSpPr>
        <p:spPr>
          <a:xfrm>
            <a:off x="1066800" y="4368800"/>
            <a:ext cx="889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只有三类正当动机：</a:t>
            </a:r>
            <a:r>
              <a:rPr lang="en-US" sz="1500" noProof="1" b="1">
                <a:solidFill>
                  <a:srgbClr val="211D19"/>
                </a:solidFill>
                <a:latin typeface="MiSans"/>
                <a:ea typeface="MiSans"/>
              </a:rPr>
              <a:t>能力互补</a:t>
            </a: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、</a:t>
            </a:r>
            <a:r>
              <a:rPr lang="en-US" sz="1500" noProof="1" b="1">
                <a:solidFill>
                  <a:srgbClr val="211D19"/>
                </a:solidFill>
                <a:latin typeface="MiSans"/>
                <a:ea typeface="MiSans"/>
              </a:rPr>
              <a:t>上下文与权限隔离</a:t>
            </a: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、</a:t>
            </a:r>
            <a:r>
              <a:rPr lang="en-US" sz="1500" noProof="1" b="1">
                <a:solidFill>
                  <a:srgbClr val="211D19"/>
                </a:solidFill>
                <a:latin typeface="MiSans"/>
                <a:ea typeface="MiSans"/>
              </a:rPr>
              <a:t>独立任务并行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同一个 Agent 自写自验的五类缺陷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哪些场景不需要多智能体</a:t>
            </a:r>
            <a:endParaRPr lang="en-US" sz="1500" noProof="1"/>
          </a:p>
        </p:txBody>
      </p:sp>
      <p:sp>
        <p:nvSpPr>
          <p:cNvPr id="7" name="ft-left"/>
          <p:cNvSpPr txBox="1"/>
          <p:nvPr/>
        </p:nvSpPr>
        <p:spPr>
          <a:xfrm>
            <a:off x="1016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第一章 · 原因一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单个 Agent 的能力由四类资源决定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res1"/>
          <p:cNvSpPr txBox="1"/>
          <p:nvPr/>
        </p:nvSpPr>
        <p:spPr>
          <a:xfrm>
            <a:off x="762000" y="1549400"/>
            <a:ext cx="24765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模型能力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模态、上下文长度、推理水平</a:t>
            </a:r>
            <a:endParaRPr lang="en-US" sz="1300" noProof="1"/>
          </a:p>
        </p:txBody>
      </p:sp>
      <p:sp>
        <p:nvSpPr>
          <p:cNvPr id="6" name="res-div1"/>
          <p:cNvSpPr/>
          <p:nvPr>
            <p:extLst>
              <p:ext uri="{F5677B7D-0D2A-4D9B-9A5C-6D8D7D0E5A5D}">
                <pptd:line encoding="base64url">eyJ2aWV3Qm94IjpbMSw2Ml0sInBvaW50cyI6IjAsMCAwLDYyIiwiY3VydmUiOiJzaGFycCJ9</pptd:line>
              </p:ext>
            </p:extLst>
          </p:nvPr>
        </p:nvSpPr>
        <p:spPr>
          <a:xfrm>
            <a:off x="3340100" y="1600200"/>
            <a:ext cx="12700" cy="787400"/>
          </a:xfrm>
          <a:custGeom>
            <a:avLst/>
            <a:gdLst/>
            <a:ahLst/>
            <a:cxnLst/>
            <a:rect l="l" t="t" r="r" b="b"/>
            <a:pathLst>
              <a:path w="1" h="62">
                <a:moveTo>
                  <a:pt x="0" y="0"/>
                </a:moveTo>
                <a:lnTo>
                  <a:pt x="0" y="62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7" name="res2"/>
          <p:cNvSpPr txBox="1"/>
          <p:nvPr/>
        </p:nvSpPr>
        <p:spPr>
          <a:xfrm>
            <a:off x="3492500" y="1549400"/>
            <a:ext cx="24765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工具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搜索、执行、OCR、裁剪等外部能力</a:t>
            </a:r>
            <a:endParaRPr lang="en-US" sz="1300" noProof="1"/>
          </a:p>
        </p:txBody>
      </p:sp>
      <p:sp>
        <p:nvSpPr>
          <p:cNvPr id="8" name="res-div2"/>
          <p:cNvSpPr/>
          <p:nvPr>
            <p:extLst>
              <p:ext uri="{F5677B7D-0D2A-4D9B-9A5C-6D8D7D0E5A5D}">
                <pptd:line encoding="base64url">eyJ2aWV3Qm94IjpbMSw2Ml0sInBvaW50cyI6IjAsMCAwLDYyIiwiY3VydmUiOiJzaGFycCJ9</pptd:line>
              </p:ext>
            </p:extLst>
          </p:nvPr>
        </p:nvSpPr>
        <p:spPr>
          <a:xfrm>
            <a:off x="6070600" y="1600200"/>
            <a:ext cx="12700" cy="787400"/>
          </a:xfrm>
          <a:custGeom>
            <a:avLst/>
            <a:gdLst/>
            <a:ahLst/>
            <a:cxnLst/>
            <a:rect l="l" t="t" r="r" b="b"/>
            <a:pathLst>
              <a:path w="1" h="62">
                <a:moveTo>
                  <a:pt x="0" y="0"/>
                </a:moveTo>
                <a:lnTo>
                  <a:pt x="0" y="62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9" name="res3"/>
          <p:cNvSpPr txBox="1"/>
          <p:nvPr/>
        </p:nvSpPr>
        <p:spPr>
          <a:xfrm>
            <a:off x="6223000" y="1549400"/>
            <a:ext cx="24765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上下文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能读取哪些信息与材料</a:t>
            </a:r>
            <a:endParaRPr lang="en-US" sz="1300" noProof="1"/>
          </a:p>
        </p:txBody>
      </p:sp>
      <p:sp>
        <p:nvSpPr>
          <p:cNvPr id="10" name="res-div3"/>
          <p:cNvSpPr/>
          <p:nvPr>
            <p:extLst>
              <p:ext uri="{F5677B7D-0D2A-4D9B-9A5C-6D8D7D0E5A5D}">
                <pptd:line encoding="base64url">eyJ2aWV3Qm94IjpbMSw2Ml0sInBvaW50cyI6IjAsMCAwLDYyIiwiY3VydmUiOiJzaGFycCJ9</pptd:line>
              </p:ext>
            </p:extLst>
          </p:nvPr>
        </p:nvSpPr>
        <p:spPr>
          <a:xfrm>
            <a:off x="8801100" y="1600200"/>
            <a:ext cx="12700" cy="787400"/>
          </a:xfrm>
          <a:custGeom>
            <a:avLst/>
            <a:gdLst/>
            <a:ahLst/>
            <a:cxnLst/>
            <a:rect l="l" t="t" r="r" b="b"/>
            <a:pathLst>
              <a:path w="1" h="62">
                <a:moveTo>
                  <a:pt x="0" y="0"/>
                </a:moveTo>
                <a:lnTo>
                  <a:pt x="0" y="62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1" name="res4"/>
          <p:cNvSpPr txBox="1"/>
          <p:nvPr/>
        </p:nvSpPr>
        <p:spPr>
          <a:xfrm>
            <a:off x="8953500" y="1549400"/>
            <a:ext cx="24765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权限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被允许执行哪些操作</a:t>
            </a:r>
            <a:endParaRPr lang="en-US" sz="1300" noProof="1"/>
          </a:p>
        </p:txBody>
      </p:sp>
      <p:sp>
        <p:nvSpPr>
          <p:cNvPr id="12" name="flow-label"/>
          <p:cNvSpPr txBox="1"/>
          <p:nvPr/>
        </p:nvSpPr>
        <p:spPr>
          <a:xfrm>
            <a:off x="762000" y="2717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例：纯文本 Primary 的视觉补位</a:t>
            </a:r>
            <a:endParaRPr lang="en-US" sz="1100" noProof="1"/>
          </a:p>
        </p:txBody>
      </p:sp>
      <p:sp>
        <p:nvSpPr>
          <p:cNvPr id="13" name="flow-box-user"/>
          <p:cNvSpPr/>
          <p:nvPr/>
        </p:nvSpPr>
        <p:spPr>
          <a:xfrm>
            <a:off x="762000" y="3098800"/>
            <a:ext cx="1905000" cy="7366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14" name="flow-box-user-t"/>
          <p:cNvSpPr txBox="1"/>
          <p:nvPr/>
        </p:nvSpPr>
        <p:spPr>
          <a:xfrm>
            <a:off x="762000" y="3098800"/>
            <a:ext cx="190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用户：分析图片</a:t>
            </a:r>
            <a:endParaRPr lang="en-US" sz="1250" noProof="1"/>
          </a:p>
        </p:txBody>
      </p:sp>
      <p:sp>
        <p:nvSpPr>
          <p:cNvPr id="15" name="flow-arrow-1"/>
          <p:cNvSpPr/>
          <p:nvPr>
            <p:extLst>
              <p:ext uri="{F5677B7D-0D2A-4D9B-9A5C-6D8D7D0E5A5D}">
                <pptd:line encoding="base64url">eyJ2aWV3Qm94IjpbNDAsMV0sInBvaW50cyI6IjAsMCA0MCwwIiwiY3VydmUiOiJzaGFycCJ9</pptd:line>
              </p:ext>
            </p:extLst>
          </p:nvPr>
        </p:nvSpPr>
        <p:spPr>
          <a:xfrm>
            <a:off x="2717800" y="345440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6" name="flow-box-primary"/>
          <p:cNvSpPr/>
          <p:nvPr/>
        </p:nvSpPr>
        <p:spPr>
          <a:xfrm>
            <a:off x="3276600" y="3098800"/>
            <a:ext cx="1905000" cy="736600"/>
          </a:xfrm>
          <a:prstGeom prst="rect">
            <a:avLst/>
          </a:prstGeom>
          <a:solidFill>
            <a:srgbClr val="FAF8F4"/>
          </a:solidFill>
          <a:ln w="25400">
            <a:solidFill>
              <a:srgbClr val="211D19"/>
            </a:solidFill>
          </a:ln>
        </p:spPr>
      </p:sp>
      <p:sp>
        <p:nvSpPr>
          <p:cNvPr id="17" name="flow-box-primary-t"/>
          <p:cNvSpPr txBox="1"/>
          <p:nvPr/>
        </p:nvSpPr>
        <p:spPr>
          <a:xfrm>
            <a:off x="3276600" y="3098800"/>
            <a:ext cx="190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文本 Primary</a:t>
            </a:r>
            <a:endParaRPr lang="en-US" sz="1250" noProof="1"/>
          </a:p>
        </p:txBody>
      </p:sp>
      <p:sp>
        <p:nvSpPr>
          <p:cNvPr id="18" name="flow-arrow-down"/>
          <p:cNvSpPr/>
          <p:nvPr>
            <p:extLst>
              <p:ext uri="{F5677B7D-0D2A-4D9B-9A5C-6D8D7D0E5A5D}">
                <pptd:line encoding="base64url">eyJ2aWV3Qm94IjpbMSwzNF0sInBvaW50cyI6IjAsMCAwLDM0IiwiY3VydmUiOiJzaGFycCJ9</pptd:line>
              </p:ext>
            </p:extLst>
          </p:nvPr>
        </p:nvSpPr>
        <p:spPr>
          <a:xfrm>
            <a:off x="4229100" y="3886200"/>
            <a:ext cx="12700" cy="431800"/>
          </a:xfrm>
          <a:custGeom>
            <a:avLst/>
            <a:gdLst/>
            <a:ahLst/>
            <a:cxnLst/>
            <a:rect l="l" t="t" r="r" b="b"/>
            <a:pathLst>
              <a:path w="1" h="34">
                <a:moveTo>
                  <a:pt x="0" y="0"/>
                </a:moveTo>
                <a:lnTo>
                  <a:pt x="0" y="34"/>
                </a:lnTo>
              </a:path>
            </a:pathLst>
          </a:custGeom>
          <a:noFill/>
          <a:ln w="19050">
            <a:solidFill>
              <a:srgbClr val="B4532A"/>
            </a:solidFill>
            <a:tailEnd type="arrow"/>
          </a:ln>
        </p:spPr>
      </p:sp>
      <p:sp>
        <p:nvSpPr>
          <p:cNvPr id="19" name="flow-box-vision"/>
          <p:cNvSpPr/>
          <p:nvPr/>
        </p:nvSpPr>
        <p:spPr>
          <a:xfrm>
            <a:off x="3276600" y="4368800"/>
            <a:ext cx="1905000" cy="736600"/>
          </a:xfrm>
          <a:prstGeom prst="rect">
            <a:avLst/>
          </a:prstGeom>
          <a:solidFill>
            <a:srgbClr val="F1E3D9"/>
          </a:solidFill>
          <a:ln w="19050">
            <a:solidFill>
              <a:srgbClr val="B4532A"/>
            </a:solidFill>
          </a:ln>
        </p:spPr>
      </p:sp>
      <p:sp>
        <p:nvSpPr>
          <p:cNvPr id="20" name="flow-box-vision-t"/>
          <p:cNvSpPr txBox="1"/>
          <p:nvPr/>
        </p:nvSpPr>
        <p:spPr>
          <a:xfrm>
            <a:off x="3276600" y="4368800"/>
            <a:ext cx="190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视觉 Subagent</a:t>
            </a:r>
            <a:endParaRPr lang="en-US" sz="1250" noProof="1"/>
          </a:p>
        </p:txBody>
      </p:sp>
      <p:sp>
        <p:nvSpPr>
          <p:cNvPr id="21" name="flow-arrow-back"/>
          <p:cNvSpPr/>
          <p:nvPr>
            <p:extLst>
              <p:ext uri="{F5677B7D-0D2A-4D9B-9A5C-6D8D7D0E5A5D}">
                <pptd:line encoding="base64url">eyJ2aWV3Qm94IjpbNjAsMV0sInBvaW50cyI6IjAsMCA2MCwwIiwiY3VydmUiOiJzaGFycCJ9</pptd:line>
              </p:ext>
            </p:extLst>
          </p:nvPr>
        </p:nvSpPr>
        <p:spPr>
          <a:xfrm>
            <a:off x="5232400" y="4737100"/>
            <a:ext cx="762000" cy="12700"/>
          </a:xfrm>
          <a:custGeom>
            <a:avLst/>
            <a:gdLst/>
            <a:ahLst/>
            <a:cxnLst/>
            <a:rect l="l" t="t" r="r" b="b"/>
            <a:pathLst>
              <a:path w="60" h="1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19050">
            <a:solidFill>
              <a:srgbClr val="B4532A"/>
            </a:solidFill>
            <a:tailEnd type="arrow"/>
          </a:ln>
        </p:spPr>
      </p:sp>
      <p:sp>
        <p:nvSpPr>
          <p:cNvPr id="22" name="flow-box-json"/>
          <p:cNvSpPr/>
          <p:nvPr/>
        </p:nvSpPr>
        <p:spPr>
          <a:xfrm>
            <a:off x="6045200" y="4368800"/>
            <a:ext cx="2286000" cy="7366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23" name="flow-box-json-t"/>
          <p:cNvSpPr txBox="1"/>
          <p:nvPr/>
        </p:nvSpPr>
        <p:spPr>
          <a:xfrm>
            <a:off x="6045200" y="4368800"/>
            <a:ext cx="2286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37322B"/>
                </a:solidFill>
                <a:latin typeface="JetBrains Mono"/>
                <a:ea typeface="JetBrains Mono"/>
              </a:rPr>
              <a:t>结构化观察结果 (JSON)</a:t>
            </a:r>
            <a:endParaRPr lang="en-US" sz="1200" noProof="1"/>
          </a:p>
        </p:txBody>
      </p:sp>
      <p:sp>
        <p:nvSpPr>
          <p:cNvPr id="24" name="flow-arrow-return"/>
          <p:cNvSpPr/>
          <p:nvPr>
            <p:extLst>
              <p:ext uri="{F5677B7D-0D2A-4D9B-9A5C-6D8D7D0E5A5D}">
                <pptd:line encoding="base64url">eyJ2aWV3Qm94IjpbOTAsNjddLCJwb2ludHMiOiIwLDY3IDkwLDY3IDkwLDAiLCJjdXJ2ZSI6InNoYXJwIn0</pptd:line>
              </p:ext>
            </p:extLst>
          </p:nvPr>
        </p:nvSpPr>
        <p:spPr>
          <a:xfrm>
            <a:off x="7188200" y="3467100"/>
            <a:ext cx="1143000" cy="850900"/>
          </a:xfrm>
          <a:custGeom>
            <a:avLst/>
            <a:gdLst/>
            <a:ahLst/>
            <a:cxnLst/>
            <a:rect l="l" t="t" r="r" b="b"/>
            <a:pathLst>
              <a:path w="90" h="67">
                <a:moveTo>
                  <a:pt x="0" y="67"/>
                </a:moveTo>
                <a:lnTo>
                  <a:pt x="90" y="67"/>
                </a:lnTo>
                <a:lnTo>
                  <a:pt x="90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25" name="flow-return-label"/>
          <p:cNvSpPr txBox="1"/>
          <p:nvPr/>
        </p:nvSpPr>
        <p:spPr>
          <a:xfrm>
            <a:off x="8382000" y="38100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Primary 消费“观察报告”，而非把视觉模型的判断都当成事实</a:t>
            </a:r>
            <a:endParaRPr lang="en-US" sz="1150" noProof="1"/>
          </a:p>
        </p:txBody>
      </p:sp>
      <p:sp>
        <p:nvSpPr>
          <p:cNvPr id="26" name="split-label"/>
          <p:cNvSpPr txBox="1"/>
          <p:nvPr/>
        </p:nvSpPr>
        <p:spPr>
          <a:xfrm>
            <a:off x="762000" y="5384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拆分依据：能力差异，不只是角色扮演</a:t>
            </a:r>
            <a:endParaRPr lang="en-US" sz="1100" noProof="1"/>
          </a:p>
        </p:txBody>
      </p:sp>
      <p:graphicFrame>
        <p:nvGraphicFramePr>
          <p:cNvPr id="27" name="split-table"/>
          <p:cNvGraphicFramePr>
            <a:graphicFrameLocks noGrp="1"/>
          </p:cNvGraphicFramePr>
          <p:nvPr/>
        </p:nvGraphicFramePr>
        <p:xfrm>
          <a:off x="762000" y="5689600"/>
          <a:ext cx="10668000" cy="762000"/>
        </p:xfrm>
        <a:graphic>
          <a:graphicData uri="http://schemas.openxmlformats.org/drawingml/2006/table">
            <a:tbl>
              <a:tblPr/>
              <a:tblGrid>
                <a:gridCol w="1706880"/>
                <a:gridCol w="3840480"/>
                <a:gridCol w="2560320"/>
                <a:gridCol w="2560320"/>
              </a:tblGrid>
              <a:tr h="320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执行单元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主要能力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</a:tr>
              <a:tr h="44196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文本 Primary / 视觉 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规划汇总表达 / 图像理解、OCR、布局识别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用户问题 / 图片与观察指令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最终回答 / 结构化事实与不确定性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29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第一章 · 原因一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返回结构化观察，并显式标注“不确定”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json-label"/>
          <p:cNvSpPr txBox="1"/>
          <p:nvPr/>
        </p:nvSpPr>
        <p:spPr>
          <a:xfrm>
            <a:off x="7620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视觉 Subagent 的输出契约</a:t>
            </a:r>
            <a:endParaRPr lang="en-US" sz="1100" noProof="1"/>
          </a:p>
        </p:txBody>
      </p:sp>
      <p:sp>
        <p:nvSpPr>
          <p:cNvPr id="6" name="json-bg"/>
          <p:cNvSpPr/>
          <p:nvPr/>
        </p:nvSpPr>
        <p:spPr>
          <a:xfrm>
            <a:off x="762000" y="1778000"/>
            <a:ext cx="5080000" cy="2489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7" name="json-code"/>
          <p:cNvSpPr txBox="1"/>
          <p:nvPr/>
        </p:nvSpPr>
        <p:spPr>
          <a:xfrm>
            <a:off x="965200" y="1930400"/>
            <a:ext cx="46736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37322B"/>
                </a:solidFill>
                <a:latin typeface="JetBrains Mono"/>
                <a:ea typeface="JetBrains Mono"/>
              </a:rPr>
              <a:t>{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37322B"/>
                </a:solidFill>
                <a:latin typeface="JetBrains Mono"/>
                <a:ea typeface="JetBrains Mono"/>
              </a:rPr>
              <a:t>  "observations": ["界面右上角存在红色告警图标"],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37322B"/>
                </a:solidFill>
                <a:latin typeface="JetBrains Mono"/>
                <a:ea typeface="JetBrains Mono"/>
              </a:rPr>
              <a:t>  "visible_text": ["Connection failed"],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37322B"/>
                </a:solidFill>
                <a:latin typeface="JetBrains Mono"/>
                <a:ea typeface="JetBrains Mono"/>
              </a:rPr>
              <a:t>  "uncertainties": ["无法确认告警由网络还是权限引起"],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37322B"/>
                </a:solidFill>
                <a:latin typeface="JetBrains Mono"/>
                <a:ea typeface="JetBrains Mono"/>
              </a:rPr>
              <a:t>  "limitations": ["图片未包含浏览器地址栏"]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37322B"/>
                </a:solidFill>
                <a:latin typeface="JetBrains Mono"/>
                <a:ea typeface="JetBrains Mono"/>
              </a:rPr>
              <a:t>}</a:t>
            </a:r>
            <a:endParaRPr lang="en-US" sz="1150" noProof="1"/>
          </a:p>
        </p:txBody>
      </p:sp>
      <p:sp>
        <p:nvSpPr>
          <p:cNvPr id="8" name="json-note"/>
          <p:cNvSpPr txBox="1"/>
          <p:nvPr/>
        </p:nvSpPr>
        <p:spPr>
          <a:xfrm>
            <a:off x="762000" y="44196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uncertainties 与 limitations 让 Primary 知道哪些结论无法从图片得出，避免把“看不见”误当成“不存在”。</a:t>
            </a:r>
            <a:endParaRPr lang="en-US" sz="1200" noProof="1"/>
          </a:p>
        </p:txBody>
      </p:sp>
      <p:sp>
        <p:nvSpPr>
          <p:cNvPr id="9" name="judge-label"/>
          <p:cNvSpPr txBox="1"/>
          <p:nvPr/>
        </p:nvSpPr>
        <p:spPr>
          <a:xfrm>
            <a:off x="63500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是“模型调用”还是“Agent 调用”？</a:t>
            </a:r>
            <a:endParaRPr lang="en-US" sz="1100" noProof="1"/>
          </a:p>
        </p:txBody>
      </p:sp>
      <p:graphicFrame>
        <p:nvGraphicFramePr>
          <p:cNvPr id="10" name="judge-table"/>
          <p:cNvGraphicFramePr>
            <a:graphicFrameLocks noGrp="1"/>
          </p:cNvGraphicFramePr>
          <p:nvPr/>
        </p:nvGraphicFramePr>
        <p:xfrm>
          <a:off x="6350000" y="1778000"/>
          <a:ext cx="5080000" cy="3175000"/>
        </p:xfrm>
        <a:graphic>
          <a:graphicData uri="http://schemas.openxmlformats.org/drawingml/2006/table">
            <a:tbl>
              <a:tblPr/>
              <a:tblGrid>
                <a:gridCol w="1422400"/>
                <a:gridCol w="1727200"/>
                <a:gridCol w="1930400"/>
              </a:tblGrid>
              <a:tr h="4762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特征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模型调用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Agent 调用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任务说明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一次性 prompt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稳定指令与职责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输入输出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自由文本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结构化契约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上下文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与调用方混杂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独立、受控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工具使用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通常无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可按需使用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终止判断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返回即结束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能判断完成 / 失败 / 受阻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conclusion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5384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12" name="conclusion"/>
          <p:cNvSpPr txBox="1"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多智能体的关键不在名字，而在是否形成了</a:t>
            </a:r>
            <a:r>
              <a:rPr lang="en-US" sz="1500" noProof="1" b="1">
                <a:solidFill>
                  <a:srgbClr val="211D19"/>
                </a:solidFill>
                <a:latin typeface="MiSans"/>
                <a:ea typeface="MiSans"/>
              </a:rPr>
              <a:t>真实的执行边界</a:t>
            </a: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：稳定职责、结构化契约、独立上下文、可判断的终止。</a:t>
            </a:r>
            <a:endParaRPr lang="en-US" sz="1500" noProof="1"/>
          </a:p>
        </p:txBody>
      </p:sp>
      <p:sp>
        <p:nvSpPr>
          <p:cNvPr id="13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4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第一章 · 原因二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11D19"/>
                </a:solidFill>
                <a:latin typeface="思源宋体"/>
                <a:ea typeface="思源宋体"/>
              </a:rPr>
              <a:t>生成与验收必须隔离：同一上下文不能证明自己正确</a:t>
            </a:r>
            <a:endParaRPr lang="en-US" sz="25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defect-label"/>
          <p:cNvSpPr txBox="1"/>
          <p:nvPr/>
        </p:nvSpPr>
        <p:spPr>
          <a:xfrm>
            <a:off x="7620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同一 Agent 自写自验的五类缺陷</a:t>
            </a:r>
            <a:endParaRPr lang="en-US" sz="1100" noProof="1"/>
          </a:p>
        </p:txBody>
      </p:sp>
      <p:sp>
        <p:nvSpPr>
          <p:cNvPr id="6" name="defect-list"/>
          <p:cNvSpPr txBox="1"/>
          <p:nvPr/>
        </p:nvSpPr>
        <p:spPr>
          <a:xfrm>
            <a:off x="762000" y="18034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锚定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生成阶段的假设继续影响验收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辩护倾向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更容易解释方案，而非寻找反例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盲区延续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生成时忽略的边界条件验收也忽略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标准稀释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长上下文混杂讨论与临时判断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假阳性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真实路径仍是 fallback / mock / hard-code</a:t>
            </a:r>
            <a:endParaRPr lang="en-US" sz="1300" noProof="1"/>
          </a:p>
        </p:txBody>
      </p:sp>
      <p:sp>
        <p:nvSpPr>
          <p:cNvPr id="7" name="defect-note"/>
          <p:cNvSpPr txBox="1"/>
          <p:nvPr/>
        </p:nvSpPr>
        <p:spPr>
          <a:xfrm>
            <a:off x="762000" y="50038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Reviewer 可以不知道 Builder 的思维过程，但必须知道任务目标、约束与验收标准——否则不是独立验收，而是盲审。</a:t>
            </a:r>
            <a:endParaRPr lang="en-US" sz="1150" noProof="1"/>
          </a:p>
        </p:txBody>
      </p:sp>
      <p:sp>
        <p:nvSpPr>
          <p:cNvPr id="8" name="mid-divider"/>
          <p:cNvSpPr/>
          <p:nvPr>
            <p:extLst>
              <p:ext uri="{F5677B7D-0D2A-4D9B-9A5C-6D8D7D0E5A5D}">
                <pptd:line encoding="base64url">eyJ2aWV3Qm94IjpbMSwzNTBdLCJwb2ludHMiOiIwLDAgMCwzNTAiLCJjdXJ2ZSI6InNoYXJwIn0</pptd:line>
              </p:ext>
            </p:extLst>
          </p:nvPr>
        </p:nvSpPr>
        <p:spPr>
          <a:xfrm>
            <a:off x="6172200" y="1549400"/>
            <a:ext cx="12700" cy="4445000"/>
          </a:xfrm>
          <a:custGeom>
            <a:avLst/>
            <a:gdLst/>
            <a:ahLst/>
            <a:cxnLst/>
            <a:rect l="l" t="t" r="r" b="b"/>
            <a:pathLst>
              <a:path w="1" h="350">
                <a:moveTo>
                  <a:pt x="0" y="0"/>
                </a:moveTo>
                <a:lnTo>
                  <a:pt x="0" y="35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9" name="flow-label"/>
          <p:cNvSpPr txBox="1"/>
          <p:nvPr/>
        </p:nvSpPr>
        <p:spPr>
          <a:xfrm>
            <a:off x="64770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生成—验收隔离闭环</a:t>
            </a:r>
            <a:endParaRPr lang="en-US" sz="1100" noProof="1"/>
          </a:p>
        </p:txBody>
      </p:sp>
      <p:sp>
        <p:nvSpPr>
          <p:cNvPr id="10" name="f-task"/>
          <p:cNvSpPr/>
          <p:nvPr/>
        </p:nvSpPr>
        <p:spPr>
          <a:xfrm>
            <a:off x="6477000" y="1828800"/>
            <a:ext cx="4953000" cy="5334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11" name="f-task-t"/>
          <p:cNvSpPr txBox="1"/>
          <p:nvPr/>
        </p:nvSpPr>
        <p:spPr>
          <a:xfrm>
            <a:off x="6477000" y="182880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任务与验收标准（双方共同输入）</a:t>
            </a:r>
            <a:endParaRPr lang="en-US" sz="1250" noProof="1"/>
          </a:p>
        </p:txBody>
      </p:sp>
      <p:sp>
        <p:nvSpPr>
          <p:cNvPr id="12" name="f-arrow-b"/>
          <p:cNvSpPr/>
          <p:nvPr>
            <p:extLst>
              <p:ext uri="{F5677B7D-0D2A-4D9B-9A5C-6D8D7D0E5A5D}">
                <pptd:line encoding="base64url">eyJ2aWV3Qm94IjpbMSwyNl0sInBvaW50cyI6IjAsMCAwLDI2IiwiY3VydmUiOiJzaGFycCJ9</pptd:line>
              </p:ext>
            </p:extLst>
          </p:nvPr>
        </p:nvSpPr>
        <p:spPr>
          <a:xfrm>
            <a:off x="7620000" y="2413000"/>
            <a:ext cx="12700" cy="330200"/>
          </a:xfrm>
          <a:custGeom>
            <a:avLst/>
            <a:gdLst/>
            <a:ahLst/>
            <a:cxnLst/>
            <a:rect l="l" t="t" r="r" b="b"/>
            <a:pathLst>
              <a:path w="1" h="26">
                <a:moveTo>
                  <a:pt x="0" y="0"/>
                </a:moveTo>
                <a:lnTo>
                  <a:pt x="0" y="26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3" name="f-arrow-r"/>
          <p:cNvSpPr/>
          <p:nvPr>
            <p:extLst>
              <p:ext uri="{F5677B7D-0D2A-4D9B-9A5C-6D8D7D0E5A5D}">
                <pptd:line encoding="base64url">eyJ2aWV3Qm94IjpbMSwyNl0sInBvaW50cyI6IjAsMCAwLDI2IiwiY3VydmUiOiJzaGFycCJ9</pptd:line>
              </p:ext>
            </p:extLst>
          </p:nvPr>
        </p:nvSpPr>
        <p:spPr>
          <a:xfrm>
            <a:off x="10287000" y="2413000"/>
            <a:ext cx="12700" cy="330200"/>
          </a:xfrm>
          <a:custGeom>
            <a:avLst/>
            <a:gdLst/>
            <a:ahLst/>
            <a:cxnLst/>
            <a:rect l="l" t="t" r="r" b="b"/>
            <a:pathLst>
              <a:path w="1" h="26">
                <a:moveTo>
                  <a:pt x="0" y="0"/>
                </a:moveTo>
                <a:lnTo>
                  <a:pt x="0" y="26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4" name="f-builder"/>
          <p:cNvSpPr/>
          <p:nvPr/>
        </p:nvSpPr>
        <p:spPr>
          <a:xfrm>
            <a:off x="6477000" y="2794000"/>
            <a:ext cx="2286000" cy="660400"/>
          </a:xfrm>
          <a:prstGeom prst="rect">
            <a:avLst/>
          </a:prstGeom>
          <a:solidFill>
            <a:srgbClr val="FAF8F4"/>
          </a:solidFill>
          <a:ln w="25400">
            <a:solidFill>
              <a:srgbClr val="211D19"/>
            </a:solidFill>
          </a:ln>
        </p:spPr>
      </p:sp>
      <p:sp>
        <p:nvSpPr>
          <p:cNvPr id="15" name="f-builder-t"/>
          <p:cNvSpPr txBox="1"/>
          <p:nvPr/>
        </p:nvSpPr>
        <p:spPr>
          <a:xfrm>
            <a:off x="6477000" y="2794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Builder：实现与自测</a:t>
            </a:r>
            <a:endParaRPr lang="en-US" sz="1250" noProof="1"/>
          </a:p>
        </p:txBody>
      </p:sp>
      <p:sp>
        <p:nvSpPr>
          <p:cNvPr id="16" name="f-reviewer"/>
          <p:cNvSpPr/>
          <p:nvPr/>
        </p:nvSpPr>
        <p:spPr>
          <a:xfrm>
            <a:off x="9144000" y="2794000"/>
            <a:ext cx="2286000" cy="660400"/>
          </a:xfrm>
          <a:prstGeom prst="rect">
            <a:avLst/>
          </a:prstGeom>
          <a:solidFill>
            <a:srgbClr val="DFEAE6"/>
          </a:solidFill>
          <a:ln w="19050">
            <a:solidFill>
              <a:srgbClr val="166E63"/>
            </a:solidFill>
          </a:ln>
        </p:spPr>
      </p:sp>
      <p:sp>
        <p:nvSpPr>
          <p:cNvPr id="17" name="f-reviewer-t"/>
          <p:cNvSpPr txBox="1"/>
          <p:nvPr/>
        </p:nvSpPr>
        <p:spPr>
          <a:xfrm>
            <a:off x="9144000" y="2794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166E63"/>
                </a:solidFill>
                <a:latin typeface="MiSans"/>
                <a:ea typeface="MiSans"/>
              </a:rPr>
              <a:t>Reviewer：独立验收</a:t>
            </a:r>
            <a:endParaRPr lang="en-US" sz="1250" noProof="1"/>
          </a:p>
        </p:txBody>
      </p:sp>
      <p:sp>
        <p:nvSpPr>
          <p:cNvPr id="18" name="f-handoff"/>
          <p:cNvSpPr/>
          <p:nvPr>
            <p:extLst>
              <p:ext uri="{F5677B7D-0D2A-4D9B-9A5C-6D8D7D0E5A5D}">
                <pptd:line encoding="base64url">eyJ2aWV3Qm94IjpbMjIsMV0sInBvaW50cyI6IjAsMCAyMiwwIiwiY3VydmUiOiJzaGFycCJ9</pptd:line>
              </p:ext>
            </p:extLst>
          </p:nvPr>
        </p:nvSpPr>
        <p:spPr>
          <a:xfrm>
            <a:off x="8813800" y="3124200"/>
            <a:ext cx="279400" cy="12700"/>
          </a:xfrm>
          <a:custGeom>
            <a:avLst/>
            <a:gdLst/>
            <a:ahLst/>
            <a:cxnLst/>
            <a:rect l="l" t="t" r="r" b="b"/>
            <a:pathLst>
              <a:path w="22" h="1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9050">
            <a:solidFill>
              <a:srgbClr val="B4532A"/>
            </a:solidFill>
            <a:tailEnd type="arrow"/>
          </a:ln>
        </p:spPr>
      </p:sp>
      <p:sp>
        <p:nvSpPr>
          <p:cNvPr id="19" name="f-handoff-label"/>
          <p:cNvSpPr txBox="1"/>
          <p:nvPr/>
        </p:nvSpPr>
        <p:spPr>
          <a:xfrm>
            <a:off x="7620000" y="35814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6E675E"/>
                </a:solidFill>
                <a:latin typeface="MiSans"/>
                <a:ea typeface="MiSans"/>
              </a:rPr>
              <a:t>交接包：diff + 证据（不含自我辩护）</a:t>
            </a:r>
            <a:endParaRPr lang="en-US" sz="1050" noProof="1"/>
          </a:p>
        </p:txBody>
      </p:sp>
      <p:sp>
        <p:nvSpPr>
          <p:cNvPr id="20" name="f-verdict"/>
          <p:cNvSpPr/>
          <p:nvPr/>
        </p:nvSpPr>
        <p:spPr>
          <a:xfrm>
            <a:off x="8763000" y="3911600"/>
            <a:ext cx="1524000" cy="558800"/>
          </a:xfrm>
          <a:prstGeom prst="diamond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21" name="f-verdict-t"/>
          <p:cNvSpPr txBox="1"/>
          <p:nvPr/>
        </p:nvSpPr>
        <p:spPr>
          <a:xfrm>
            <a:off x="8890000" y="40132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验收结论</a:t>
            </a:r>
            <a:endParaRPr lang="en-US" sz="1150" noProof="1"/>
          </a:p>
        </p:txBody>
      </p:sp>
      <p:sp>
        <p:nvSpPr>
          <p:cNvPr id="22" name="f-arrow-v"/>
          <p:cNvSpPr/>
          <p:nvPr>
            <p:extLst>
              <p:ext uri="{F5677B7D-0D2A-4D9B-9A5C-6D8D7D0E5A5D}">
                <pptd:line encoding="base64url">eyJ2aWV3Qm94IjpbMSwyOF0sInBvaW50cyI6IjAsMCAwLDI4IiwiY3VydmUiOiJzaGFycCJ9</pptd:line>
              </p:ext>
            </p:extLst>
          </p:nvPr>
        </p:nvSpPr>
        <p:spPr>
          <a:xfrm>
            <a:off x="10287000" y="3505200"/>
            <a:ext cx="12700" cy="355600"/>
          </a:xfrm>
          <a:custGeom>
            <a:avLst/>
            <a:gdLst/>
            <a:ahLst/>
            <a:cxnLst/>
            <a:rect l="l" t="t" r="r" b="b"/>
            <a:pathLst>
              <a:path w="1" h="28">
                <a:moveTo>
                  <a:pt x="0" y="0"/>
                </a:moveTo>
                <a:lnTo>
                  <a:pt x="0" y="28"/>
                </a:lnTo>
              </a:path>
            </a:pathLst>
          </a:custGeom>
          <a:noFill/>
          <a:ln w="19050">
            <a:solidFill>
              <a:srgbClr val="6E675E"/>
            </a:solidFill>
          </a:ln>
        </p:spPr>
      </p:sp>
      <p:sp>
        <p:nvSpPr>
          <p:cNvPr id="23" name="f-pass"/>
          <p:cNvSpPr txBox="1"/>
          <p:nvPr/>
        </p:nvSpPr>
        <p:spPr>
          <a:xfrm>
            <a:off x="10541000" y="4648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66E63"/>
                </a:solidFill>
                <a:latin typeface="MiSans"/>
                <a:ea typeface="MiSans"/>
              </a:rPr>
              <a:t>PASS → 交付</a:t>
            </a:r>
            <a:endParaRPr lang="en-US" sz="1250" noProof="1"/>
          </a:p>
        </p:txBody>
      </p:sp>
      <p:sp>
        <p:nvSpPr>
          <p:cNvPr id="24" name="f-pass-line"/>
          <p:cNvSpPr/>
          <p:nvPr>
            <p:extLst>
              <p:ext uri="{F5677B7D-0D2A-4D9B-9A5C-6D8D7D0E5A5D}">
                <pptd:line encoding="base64url">eyJ2aWV3Qm94IjpbMSwzNF0sInBvaW50cyI6IjAsMCAwLDM0IiwiY3VydmUiOiJzaGFycCJ9</pptd:line>
              </p:ext>
            </p:extLst>
          </p:nvPr>
        </p:nvSpPr>
        <p:spPr>
          <a:xfrm>
            <a:off x="10287000" y="4470400"/>
            <a:ext cx="12700" cy="431800"/>
          </a:xfrm>
          <a:custGeom>
            <a:avLst/>
            <a:gdLst/>
            <a:ahLst/>
            <a:cxnLst/>
            <a:rect l="l" t="t" r="r" b="b"/>
            <a:pathLst>
              <a:path w="1" h="34">
                <a:moveTo>
                  <a:pt x="0" y="0"/>
                </a:moveTo>
                <a:lnTo>
                  <a:pt x="0" y="34"/>
                </a:lnTo>
              </a:path>
            </a:pathLst>
          </a:custGeom>
          <a:noFill/>
          <a:ln w="19050">
            <a:solidFill>
              <a:srgbClr val="166E63"/>
            </a:solidFill>
            <a:tailEnd type="arrow"/>
          </a:ln>
        </p:spPr>
      </p:sp>
      <p:sp>
        <p:nvSpPr>
          <p:cNvPr id="25" name="f-fail-line"/>
          <p:cNvSpPr/>
          <p:nvPr>
            <p:extLst>
              <p:ext uri="{F5677B7D-0D2A-4D9B-9A5C-6D8D7D0E5A5D}">
                <pptd:line encoding="base64url">eyJ2aWV3Qm94IjpbMTQ2LDEzMF0sInBvaW50cyI6IjE0NiwxMzAgMCwxMzAgMCwwIiwiY3VydmUiOiJzaGFycCJ9</pptd:line>
              </p:ext>
            </p:extLst>
          </p:nvPr>
        </p:nvSpPr>
        <p:spPr>
          <a:xfrm>
            <a:off x="6858000" y="3124200"/>
            <a:ext cx="1854200" cy="1651000"/>
          </a:xfrm>
          <a:custGeom>
            <a:avLst/>
            <a:gdLst/>
            <a:ahLst/>
            <a:cxnLst/>
            <a:rect l="l" t="t" r="r" b="b"/>
            <a:pathLst>
              <a:path w="146" h="130">
                <a:moveTo>
                  <a:pt x="146" y="130"/>
                </a:moveTo>
                <a:lnTo>
                  <a:pt x="0" y="13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B3261E"/>
            </a:solidFill>
            <a:prstDash val="dash"/>
            <a:tailEnd type="arrow"/>
          </a:ln>
        </p:spPr>
      </p:sp>
      <p:sp>
        <p:nvSpPr>
          <p:cNvPr id="26" name="f-fail-label"/>
          <p:cNvSpPr txBox="1"/>
          <p:nvPr/>
        </p:nvSpPr>
        <p:spPr>
          <a:xfrm>
            <a:off x="6477000" y="48260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B3261E"/>
                </a:solidFill>
                <a:latin typeface="MiSans"/>
                <a:ea typeface="MiSans"/>
              </a:rPr>
              <a:t>FAIL → 按 finding 修复后复验（限轮次）</a:t>
            </a:r>
            <a:endParaRPr lang="en-US" sz="1100" noProof="1"/>
          </a:p>
        </p:txBody>
      </p:sp>
      <p:sp>
        <p:nvSpPr>
          <p:cNvPr id="27" name="bottom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5588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28" name="bottom-quote"/>
          <p:cNvSpPr txBox="1"/>
          <p:nvPr/>
        </p:nvSpPr>
        <p:spPr>
          <a:xfrm>
            <a:off x="762000" y="57658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55000"/>
              </a:lnSpc>
            </a:pPr>
            <a:r>
              <a:rPr lang="en-US" sz="1500" noProof="1" b="1">
                <a:solidFill>
                  <a:srgbClr val="211D19"/>
                </a:solidFill>
                <a:latin typeface="MiSans"/>
                <a:ea typeface="MiSans"/>
              </a:rPr>
              <a:t>不要让同一个上下文既负责写代码，又负责证明代码正确。</a:t>
            </a:r>
            <a:endParaRPr lang="en-US" sz="1500" noProof="1"/>
          </a:p>
        </p:txBody>
      </p:sp>
      <p:sp>
        <p:nvSpPr>
          <p:cNvPr id="29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30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第一章 · 原因三与边界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真正独立的子任务才值得并行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par-label"/>
          <p:cNvSpPr txBox="1"/>
          <p:nvPr/>
        </p:nvSpPr>
        <p:spPr>
          <a:xfrm>
            <a:off x="7620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适合并行的任务</a:t>
            </a:r>
            <a:endParaRPr lang="en-US" sz="1100" noProof="1"/>
          </a:p>
        </p:txBody>
      </p:sp>
      <p:sp>
        <p:nvSpPr>
          <p:cNvPr id="6" name="par-list"/>
          <p:cNvSpPr txBox="1"/>
          <p:nvPr/>
        </p:nvSpPr>
        <p:spPr>
          <a:xfrm>
            <a:off x="762000" y="1803400"/>
            <a:ext cx="5207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· 分别检索互不依赖的资料源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· 分别分析大型代码库的不同模块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· 同时执行功能、性能与安全检查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· 对同一候选方案做相互独立的反例搜索</a:t>
            </a:r>
            <a:endParaRPr lang="en-US" sz="1350" noProof="1"/>
          </a:p>
        </p:txBody>
      </p:sp>
      <p:sp>
        <p:nvSpPr>
          <p:cNvPr id="7" name="par-gain"/>
          <p:cNvSpPr txBox="1"/>
          <p:nvPr/>
        </p:nvSpPr>
        <p:spPr>
          <a:xfrm>
            <a:off x="762000" y="35814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并行收益有两个：缩短墙上时钟时间；在上下文隔离的前提下获得</a:t>
            </a: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多个真正独立的证据源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——比“让一个 Agent 多想几遍”更接近独立判断。</a:t>
            </a:r>
            <a:endParaRPr lang="en-US" sz="1300" noProof="1"/>
          </a:p>
        </p:txBody>
      </p:sp>
      <p:sp>
        <p:nvSpPr>
          <p:cNvPr id="8" name="par-test-rule"/>
          <p:cNvSpPr/>
          <p:nvPr>
            <p:extLst>
              <p:ext uri="{F5677B7D-0D2A-4D9B-9A5C-6D8D7D0E5A5D}">
                <pptd:line encoding="base64url">eyJ2aWV3Qm94IjpbNDEwLDFdLCJwb2ludHMiOiIwLDAgNDEwLDAiLCJjdXJ2ZSI6InNoYXJwIn0</pptd:line>
              </p:ext>
            </p:extLst>
          </p:nvPr>
        </p:nvSpPr>
        <p:spPr>
          <a:xfrm>
            <a:off x="762000" y="4597400"/>
            <a:ext cx="5207000" cy="12700"/>
          </a:xfrm>
          <a:custGeom>
            <a:avLst/>
            <a:gdLst/>
            <a:ahLst/>
            <a:cxnLst/>
            <a:rect l="l" t="t" r="r" b="b"/>
            <a:pathLst>
              <a:path w="410" h="1">
                <a:moveTo>
                  <a:pt x="0" y="0"/>
                </a:moveTo>
                <a:lnTo>
                  <a:pt x="41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9" name="par-test"/>
          <p:cNvSpPr txBox="1"/>
          <p:nvPr/>
        </p:nvSpPr>
        <p:spPr>
          <a:xfrm>
            <a:off x="762000" y="4749800"/>
            <a:ext cx="520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试金石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：每个子任务在启动那一刻，输入是否已经完整？“可以拆成多个描述”不等于“可以并行”——强行并行只会产生猜测、返工和冲突。</a:t>
            </a:r>
            <a:endParaRPr lang="en-US" sz="1350" noProof="1"/>
          </a:p>
        </p:txBody>
      </p:sp>
      <p:sp>
        <p:nvSpPr>
          <p:cNvPr id="10" name="mid-divider"/>
          <p:cNvSpPr/>
          <p:nvPr>
            <p:extLst>
              <p:ext uri="{F5677B7D-0D2A-4D9B-9A5C-6D8D7D0E5A5D}">
                <pptd:line encoding="base64url">eyJ2aWV3Qm94IjpbMSwzNTBdLCJwb2ludHMiOiIwLDAgMCwzNTAiLCJjdXJ2ZSI6InNoYXJwIn0</pptd:line>
              </p:ext>
            </p:extLst>
          </p:nvPr>
        </p:nvSpPr>
        <p:spPr>
          <a:xfrm>
            <a:off x="6350000" y="1549400"/>
            <a:ext cx="12700" cy="4445000"/>
          </a:xfrm>
          <a:custGeom>
            <a:avLst/>
            <a:gdLst/>
            <a:ahLst/>
            <a:cxnLst/>
            <a:rect l="l" t="t" r="r" b="b"/>
            <a:pathLst>
              <a:path w="1" h="350">
                <a:moveTo>
                  <a:pt x="0" y="0"/>
                </a:moveTo>
                <a:lnTo>
                  <a:pt x="0" y="35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1" name="no-label"/>
          <p:cNvSpPr txBox="1"/>
          <p:nvPr/>
        </p:nvSpPr>
        <p:spPr>
          <a:xfrm>
            <a:off x="66548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这些场景优先使用单 Agent</a:t>
            </a:r>
            <a:endParaRPr lang="en-US" sz="1100" noProof="1"/>
          </a:p>
        </p:txBody>
      </p:sp>
      <p:sp>
        <p:nvSpPr>
          <p:cNvPr id="12" name="no-list"/>
          <p:cNvSpPr txBox="1"/>
          <p:nvPr/>
        </p:nvSpPr>
        <p:spPr>
          <a:xfrm>
            <a:off x="6654800" y="1803400"/>
            <a:ext cx="47752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B3261E"/>
                </a:solidFill>
                <a:latin typeface="MiSans"/>
                <a:ea typeface="MiSans"/>
              </a:rPr>
              <a:t>✕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任务简单、步骤短、结果容易验证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B3261E"/>
                </a:solidFill>
                <a:latin typeface="MiSans"/>
                <a:ea typeface="MiSans"/>
              </a:rPr>
              <a:t>✕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所有步骤依赖同一份连续上下文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B3261E"/>
                </a:solidFill>
                <a:latin typeface="MiSans"/>
                <a:ea typeface="MiSans"/>
              </a:rPr>
              <a:t>✕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子任务强依赖，无法独立推进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B3261E"/>
                </a:solidFill>
                <a:latin typeface="MiSans"/>
                <a:ea typeface="MiSans"/>
              </a:rPr>
              <a:t>✕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换一个 Skill 或增加工具即可补足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B3261E"/>
                </a:solidFill>
                <a:latin typeface="MiSans"/>
                <a:ea typeface="MiSans"/>
              </a:rPr>
              <a:t>✕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多个 Agent 只是复述相同问题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B3261E"/>
                </a:solidFill>
                <a:latin typeface="MiSans"/>
                <a:ea typeface="MiSans"/>
              </a:rPr>
              <a:t>✕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问题无边界、不可验证，却希望“多人讨论”自动得到正确答案</a:t>
            </a:r>
            <a:endParaRPr lang="en-US" sz="1250" noProof="1"/>
          </a:p>
        </p:txBody>
      </p:sp>
      <p:sp>
        <p:nvSpPr>
          <p:cNvPr id="13" name="no-warn-rule"/>
          <p:cNvSpPr/>
          <p:nvPr>
            <p:extLst>
              <p:ext uri="{F5677B7D-0D2A-4D9B-9A5C-6D8D7D0E5A5D}">
                <pptd:line encoding="base64url">eyJ2aWV3Qm94IjpbMzc2LDFdLCJwb2ludHMiOiIwLDAgMzc2LDAiLCJjdXJ2ZSI6InNoYXJwIn0</pptd:line>
              </p:ext>
            </p:extLst>
          </p:nvPr>
        </p:nvSpPr>
        <p:spPr>
          <a:xfrm>
            <a:off x="6654800" y="4724400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12700">
            <a:solidFill>
              <a:srgbClr val="B3261E"/>
            </a:solidFill>
          </a:ln>
        </p:spPr>
      </p:sp>
      <p:sp>
        <p:nvSpPr>
          <p:cNvPr id="14" name="no-warn"/>
          <p:cNvSpPr txBox="1"/>
          <p:nvPr/>
        </p:nvSpPr>
        <p:spPr>
          <a:xfrm>
            <a:off x="6654800" y="4876800"/>
            <a:ext cx="4775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B3261E"/>
                </a:solidFill>
                <a:latin typeface="MiSans"/>
                <a:ea typeface="MiSans"/>
              </a:rPr>
              <a:t>警惕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：不可验证性不会随 Agent 数量增加而消失，只会被稀释得更难发现——你可能得到多份各自自洽但互相冲突的答案。</a:t>
            </a:r>
            <a:endParaRPr lang="en-US" sz="1250" noProof="1"/>
          </a:p>
        </p:txBody>
      </p:sp>
      <p:sp>
        <p:nvSpPr>
          <p:cNvPr id="15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6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1016000" y="1524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 b="1">
                <a:solidFill>
                  <a:srgbClr val="F1E3D9"/>
                </a:solidFill>
                <a:latin typeface="思源宋体"/>
                <a:ea typeface="思源宋体"/>
              </a:rPr>
              <a:t>02</a:t>
            </a:r>
            <a:endParaRPr lang="en-US" sz="9600" noProof="1"/>
          </a:p>
        </p:txBody>
      </p:sp>
      <p:sp>
        <p:nvSpPr>
          <p:cNvPr id="3" name="ch-label"/>
          <p:cNvSpPr txBox="1"/>
          <p:nvPr/>
        </p:nvSpPr>
        <p:spPr>
          <a:xfrm>
            <a:off x="1066800" y="2997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第二章</a:t>
            </a:r>
            <a:endParaRPr lang="en-US" sz="1200" noProof="1"/>
          </a:p>
        </p:txBody>
      </p:sp>
      <p:sp>
        <p:nvSpPr>
          <p:cNvPr id="4" name="ch-title"/>
          <p:cNvSpPr txBox="1"/>
          <p:nvPr/>
        </p:nvSpPr>
        <p:spPr>
          <a:xfrm>
            <a:off x="1066800" y="3276600"/>
            <a:ext cx="965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11D19"/>
                </a:solidFill>
                <a:latin typeface="思源宋体"/>
                <a:ea typeface="思源宋体"/>
              </a:rPr>
              <a:t>Skill、Agent 与 Multi-Agent 的定位</a:t>
            </a:r>
            <a:endParaRPr lang="en-US" sz="3400" noProof="1"/>
          </a:p>
        </p:txBody>
      </p:sp>
      <p:sp>
        <p:nvSpPr>
          <p:cNvPr id="5" name="ch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66800" y="4089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6" name="ch-points"/>
          <p:cNvSpPr txBox="1"/>
          <p:nvPr/>
        </p:nvSpPr>
        <p:spPr>
          <a:xfrm>
            <a:off x="1066800" y="4368800"/>
            <a:ext cx="914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三个层级分别解决什么问题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Skill 改变“做法”，Agent 改变“执行边界”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不要因为场景变多就立即增加 Agent</a:t>
            </a:r>
            <a:endParaRPr lang="en-US" sz="1500" noProof="1"/>
          </a:p>
        </p:txBody>
      </p:sp>
      <p:sp>
        <p:nvSpPr>
          <p:cNvPr id="7" name="ft-left"/>
          <p:cNvSpPr txBox="1"/>
          <p:nvPr/>
        </p:nvSpPr>
        <p:spPr>
          <a:xfrm>
            <a:off x="1016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第二章 · 三层定位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三个层级，三种不同的设计对象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graphicFrame>
        <p:nvGraphicFramePr>
          <p:cNvPr id="5" name="layer-table"/>
          <p:cNvGraphicFramePr>
            <a:graphicFrameLocks noGrp="1"/>
          </p:cNvGraphicFramePr>
          <p:nvPr/>
        </p:nvGraphicFramePr>
        <p:xfrm>
          <a:off x="762000" y="1549400"/>
          <a:ext cx="10668000" cy="2413000"/>
        </p:xfrm>
        <a:graphic>
          <a:graphicData uri="http://schemas.openxmlformats.org/drawingml/2006/table">
            <a:tbl>
              <a:tblPr/>
              <a:tblGrid>
                <a:gridCol w="1493520"/>
                <a:gridCol w="2987040"/>
                <a:gridCol w="3520440"/>
                <a:gridCol w="2667000"/>
              </a:tblGrid>
              <a:tr h="4826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典型变化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</a:tr>
              <a:tr h="6515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Skill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在某个场景里应该怎样工作？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方法、流程、知识、脚本、模板、验收清单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同一 Agent 按场景加载不同工作方法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65151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谁在什么边界内执行？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模型、系统提示、工具、权限、上下文、停止条件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为一类任务建立稳定执行单元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6273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Multi-Agent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多个执行单元如何协作？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委托、隔离、串并行、汇总、冲突处理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对任务进行能力路由与上下文编排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skill-label"/>
          <p:cNvSpPr txBox="1"/>
          <p:nvPr/>
        </p:nvSpPr>
        <p:spPr>
          <a:xfrm>
            <a:off x="762000" y="42672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Skill：共享上下文</a:t>
            </a:r>
            <a:endParaRPr lang="en-US" sz="1100" noProof="1"/>
          </a:p>
        </p:txBody>
      </p:sp>
      <p:sp>
        <p:nvSpPr>
          <p:cNvPr id="7" name="skill-text"/>
          <p:cNvSpPr txBox="1"/>
          <p:nvPr/>
        </p:nvSpPr>
        <p:spPr>
          <a:xfrm>
            <a:off x="762000" y="4546600"/>
            <a:ext cx="330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同一编码 Agent 可按任务动态加载 API 改造、数据分析、安全检查、文档编写等 Skill。它们共享该 Agent 的模型、上下文与权限——改变的是“做法”，不是“执行边界”。</a:t>
            </a:r>
            <a:endParaRPr lang="en-US" sz="1250" noProof="1"/>
          </a:p>
        </p:txBody>
      </p:sp>
      <p:sp>
        <p:nvSpPr>
          <p:cNvPr id="8" name="agent-divider"/>
          <p:cNvSpPr/>
          <p:nvPr>
            <p:extLst>
              <p:ext uri="{F5677B7D-0D2A-4D9B-9A5C-6D8D7D0E5A5D}">
                <pptd:line encoding="base64url">eyJ2aWV3Qm94IjpbMSwxMzBdLCJwb2ludHMiOiIwLDAgMCwxMzAiLCJjdXJ2ZSI6InNoYXJwIn0</pptd:line>
              </p:ext>
            </p:extLst>
          </p:nvPr>
        </p:nvSpPr>
        <p:spPr>
          <a:xfrm>
            <a:off x="4318000" y="4368800"/>
            <a:ext cx="12700" cy="1651000"/>
          </a:xfrm>
          <a:custGeom>
            <a:avLst/>
            <a:gdLst/>
            <a:ahLst/>
            <a:cxnLst/>
            <a:rect l="l" t="t" r="r" b="b"/>
            <a:pathLst>
              <a:path w="1" h="130">
                <a:moveTo>
                  <a:pt x="0" y="0"/>
                </a:moveTo>
                <a:lnTo>
                  <a:pt x="0" y="13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9" name="agent-label"/>
          <p:cNvSpPr txBox="1"/>
          <p:nvPr/>
        </p:nvSpPr>
        <p:spPr>
          <a:xfrm>
            <a:off x="4572000" y="42672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Agent：建立执行边界</a:t>
            </a:r>
            <a:endParaRPr lang="en-US" sz="1100" noProof="1"/>
          </a:p>
        </p:txBody>
      </p:sp>
      <p:sp>
        <p:nvSpPr>
          <p:cNvPr id="10" name="agent-text"/>
          <p:cNvSpPr txBox="1"/>
          <p:nvPr/>
        </p:nvSpPr>
        <p:spPr>
          <a:xfrm>
            <a:off x="4572000" y="4546600"/>
            <a:ext cx="330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需要改变模型、工具、权限、系统指令或上下文时，才有理由新建 Agent。例如 Vision 用多模态模型、Reviewer 禁止编辑、Database 只读、Security 独立上下文。</a:t>
            </a:r>
            <a:endParaRPr lang="en-US" sz="1250" noProof="1"/>
          </a:p>
        </p:txBody>
      </p:sp>
      <p:sp>
        <p:nvSpPr>
          <p:cNvPr id="11" name="ma-divider"/>
          <p:cNvSpPr/>
          <p:nvPr>
            <p:extLst>
              <p:ext uri="{F5677B7D-0D2A-4D9B-9A5C-6D8D7D0E5A5D}">
                <pptd:line encoding="base64url">eyJ2aWV3Qm94IjpbMSwxMzBdLCJwb2ludHMiOiIwLDAgMCwxMzAiLCJjdXJ2ZSI6InNoYXJwIn0</pptd:line>
              </p:ext>
            </p:extLst>
          </p:nvPr>
        </p:nvSpPr>
        <p:spPr>
          <a:xfrm>
            <a:off x="8128000" y="4368800"/>
            <a:ext cx="12700" cy="1651000"/>
          </a:xfrm>
          <a:custGeom>
            <a:avLst/>
            <a:gdLst/>
            <a:ahLst/>
            <a:cxnLst/>
            <a:rect l="l" t="t" r="r" b="b"/>
            <a:pathLst>
              <a:path w="1" h="130">
                <a:moveTo>
                  <a:pt x="0" y="0"/>
                </a:moveTo>
                <a:lnTo>
                  <a:pt x="0" y="13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2" name="ma-label"/>
          <p:cNvSpPr txBox="1"/>
          <p:nvPr/>
        </p:nvSpPr>
        <p:spPr>
          <a:xfrm>
            <a:off x="8382000" y="42672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Multi-Agent：编排边界</a:t>
            </a:r>
            <a:endParaRPr lang="en-US" sz="1100" noProof="1"/>
          </a:p>
        </p:txBody>
      </p:sp>
      <p:sp>
        <p:nvSpPr>
          <p:cNvPr id="13" name="ma-text"/>
          <p:cNvSpPr txBox="1"/>
          <p:nvPr/>
        </p:nvSpPr>
        <p:spPr>
          <a:xfrm>
            <a:off x="8382000" y="454660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关注何时委托哪个 Subagent、给多少上下文、串行还是并行、返回什么格式、冲突如何处理、何时停止或升级。</a:t>
            </a:r>
            <a:endParaRPr lang="en-US" sz="1250" noProof="1"/>
          </a:p>
        </p:txBody>
      </p:sp>
      <p:sp>
        <p:nvSpPr>
          <p:cNvPr id="14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5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第二章 · 三者关系与取舍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先加 Skill，再拆 Agent，最后编排协作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nest-outer"/>
          <p:cNvSpPr/>
          <p:nvPr/>
        </p:nvSpPr>
        <p:spPr>
          <a:xfrm>
            <a:off x="762000" y="1651000"/>
            <a:ext cx="5334000" cy="3556000"/>
          </a:xfrm>
          <a:prstGeom prst="rect">
            <a:avLst/>
          </a:prstGeom>
          <a:solidFill>
            <a:srgbClr val="FAF8F4"/>
          </a:solidFill>
          <a:ln w="19050">
            <a:solidFill>
              <a:srgbClr val="166E63"/>
            </a:solidFill>
          </a:ln>
        </p:spPr>
      </p:sp>
      <p:sp>
        <p:nvSpPr>
          <p:cNvPr id="6" name="nest-outer-t"/>
          <p:cNvSpPr txBox="1"/>
          <p:nvPr/>
        </p:nvSpPr>
        <p:spPr>
          <a:xfrm>
            <a:off x="965200" y="1752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6E63"/>
                </a:solidFill>
                <a:latin typeface="MiSans"/>
                <a:ea typeface="MiSans"/>
              </a:rPr>
              <a:t>Multi-Agent：协作结构</a:t>
            </a:r>
            <a:endParaRPr lang="en-US" sz="1300" noProof="1"/>
          </a:p>
        </p:txBody>
      </p:sp>
      <p:sp>
        <p:nvSpPr>
          <p:cNvPr id="7" name="nest-mid"/>
          <p:cNvSpPr/>
          <p:nvPr/>
        </p:nvSpPr>
        <p:spPr>
          <a:xfrm>
            <a:off x="1066800" y="2159000"/>
            <a:ext cx="4724400" cy="26670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8" name="nest-mid-t"/>
          <p:cNvSpPr txBox="1"/>
          <p:nvPr/>
        </p:nvSpPr>
        <p:spPr>
          <a:xfrm>
            <a:off x="1270000" y="2260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Agent：执行边界（模型·工具·权限·上下文）</a:t>
            </a:r>
            <a:endParaRPr lang="en-US" sz="1300" noProof="1"/>
          </a:p>
        </p:txBody>
      </p:sp>
      <p:sp>
        <p:nvSpPr>
          <p:cNvPr id="9" name="nest-inner"/>
          <p:cNvSpPr/>
          <p:nvPr/>
        </p:nvSpPr>
        <p:spPr>
          <a:xfrm>
            <a:off x="1371600" y="2641600"/>
            <a:ext cx="4114800" cy="1879600"/>
          </a:xfrm>
          <a:prstGeom prst="rect">
            <a:avLst/>
          </a:prstGeom>
          <a:solidFill>
            <a:srgbClr val="F1E3D9"/>
          </a:solidFill>
          <a:ln w="19050">
            <a:solidFill>
              <a:srgbClr val="B4532A"/>
            </a:solidFill>
          </a:ln>
        </p:spPr>
      </p:sp>
      <p:sp>
        <p:nvSpPr>
          <p:cNvPr id="10" name="nest-inner-t"/>
          <p:cNvSpPr txBox="1"/>
          <p:nvPr/>
        </p:nvSpPr>
        <p:spPr>
          <a:xfrm>
            <a:off x="1574800" y="2743200"/>
            <a:ext cx="37084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Skill：场景方法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211D19"/>
                </a:solidFill>
                <a:latin typeface="MiSans"/>
                <a:ea typeface="MiSans"/>
              </a:rPr>
              <a:t>API 改造 · 数据分析 · 安全检查 · 文档编写……多个 Skill 可组合加载</a:t>
            </a:r>
            <a:endParaRPr lang="en-US" sz="1300" noProof="1"/>
          </a:p>
        </p:txBody>
      </p:sp>
      <p:sp>
        <p:nvSpPr>
          <p:cNvPr id="11" name="right-rule"/>
          <p:cNvSpPr/>
          <p:nvPr>
            <p:extLst>
              <p:ext uri="{F5677B7D-0D2A-4D9B-9A5C-6D8D7D0E5A5D}">
                <pptd:line encoding="base64url">eyJ2aWV3Qm94IjpbMzgwLDFdLCJwb2ludHMiOiIwLDAgMzgwLDAiLCJjdXJ2ZSI6InNoYXJwIn0</pptd:line>
              </p:ext>
            </p:extLst>
          </p:nvPr>
        </p:nvSpPr>
        <p:spPr>
          <a:xfrm>
            <a:off x="6604000" y="16510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0"/>
                </a:moveTo>
                <a:lnTo>
                  <a:pt x="38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12" name="right-quote"/>
          <p:cNvSpPr txBox="1"/>
          <p:nvPr/>
        </p:nvSpPr>
        <p:spPr>
          <a:xfrm>
            <a:off x="6604000" y="1828800"/>
            <a:ext cx="482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Skill</a:t>
            </a:r>
            <a:r>
              <a:rPr lang="en-US" sz="1450" noProof="1">
                <a:solidFill>
                  <a:srgbClr val="211D19"/>
                </a:solidFill>
                <a:latin typeface="MiSans"/>
                <a:ea typeface="MiSans"/>
              </a:rPr>
              <a:t> 优化一个 Agent 在场景中的做法；</a:t>
            </a: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Agent</a:t>
            </a:r>
            <a:r>
              <a:rPr lang="en-US" sz="1450" noProof="1">
                <a:solidFill>
                  <a:srgbClr val="211D19"/>
                </a:solidFill>
                <a:latin typeface="MiSans"/>
                <a:ea typeface="MiSans"/>
              </a:rPr>
              <a:t> 定义一个执行单元；</a:t>
            </a: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Multi-Agent</a:t>
            </a:r>
            <a:r>
              <a:rPr lang="en-US" sz="1450" noProof="1">
                <a:solidFill>
                  <a:srgbClr val="211D19"/>
                </a:solidFill>
                <a:latin typeface="MiSans"/>
                <a:ea typeface="MiSans"/>
              </a:rPr>
              <a:t> 设计多个执行单元之间的关系。</a:t>
            </a:r>
            <a:endParaRPr lang="en-US" sz="1450" noProof="1"/>
          </a:p>
        </p:txBody>
      </p:sp>
      <p:sp>
        <p:nvSpPr>
          <p:cNvPr id="13" name="right-guide"/>
          <p:cNvSpPr txBox="1"/>
          <p:nvPr/>
        </p:nvSpPr>
        <p:spPr>
          <a:xfrm>
            <a:off x="6604000" y="3124200"/>
            <a:ext cx="4826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不要因为场景变多就立即增加 Agent。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多个场景若可共享同一模型、工具、权限和上下文边界，优先给单 Agent 增加按需加载的 Skill。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只有出现真实的</a:t>
            </a: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能力差异、权限差异、上下文隔离需求或并行价值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时，再拆 Agent。</a:t>
            </a:r>
            <a:endParaRPr lang="en-US" sz="1300" noProof="1"/>
          </a:p>
        </p:txBody>
      </p:sp>
      <p:sp>
        <p:nvSpPr>
          <p:cNvPr id="14" name="right-note-rule"/>
          <p:cNvSpPr/>
          <p:nvPr>
            <p:extLst>
              <p:ext uri="{F5677B7D-0D2A-4D9B-9A5C-6D8D7D0E5A5D}">
                <pptd:line encoding="base64url">eyJ2aWV3Qm94IjpbMzgwLDFdLCJwb2ludHMiOiIwLDAgMzgwLDAiLCJjdXJ2ZSI6InNoYXJwIn0</pptd:line>
              </p:ext>
            </p:extLst>
          </p:nvPr>
        </p:nvSpPr>
        <p:spPr>
          <a:xfrm>
            <a:off x="6604000" y="51562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0"/>
                </a:moveTo>
                <a:lnTo>
                  <a:pt x="38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5" name="right-note"/>
          <p:cNvSpPr txBox="1"/>
          <p:nvPr/>
        </p:nvSpPr>
        <p:spPr>
          <a:xfrm>
            <a:off x="6604000" y="5308600"/>
            <a:ext cx="482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检验方法：如果两个“Agent”在模型、工具、权限、上下文上完全一致，那它们大概率是同一个 Agent 的两个名字。</a:t>
            </a:r>
            <a:endParaRPr lang="en-US" sz="1200" noProof="1"/>
          </a:p>
        </p:txBody>
      </p:sp>
      <p:sp>
        <p:nvSpPr>
          <p:cNvPr id="16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7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1016000" y="1524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 b="1">
                <a:solidFill>
                  <a:srgbClr val="F1E3D9"/>
                </a:solidFill>
                <a:latin typeface="思源宋体"/>
                <a:ea typeface="思源宋体"/>
              </a:rPr>
              <a:t>03</a:t>
            </a:r>
            <a:endParaRPr lang="en-US" sz="9600" noProof="1"/>
          </a:p>
        </p:txBody>
      </p:sp>
      <p:sp>
        <p:nvSpPr>
          <p:cNvPr id="3" name="ch-label"/>
          <p:cNvSpPr txBox="1"/>
          <p:nvPr/>
        </p:nvSpPr>
        <p:spPr>
          <a:xfrm>
            <a:off x="1066800" y="2997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第三章</a:t>
            </a:r>
            <a:endParaRPr lang="en-US" sz="1200" noProof="1"/>
          </a:p>
        </p:txBody>
      </p:sp>
      <p:sp>
        <p:nvSpPr>
          <p:cNvPr id="4" name="ch-title"/>
          <p:cNvSpPr txBox="1"/>
          <p:nvPr/>
        </p:nvSpPr>
        <p:spPr>
          <a:xfrm>
            <a:off x="1066800" y="3276600"/>
            <a:ext cx="965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11D19"/>
                </a:solidFill>
                <a:latin typeface="思源宋体"/>
                <a:ea typeface="思源宋体"/>
              </a:rPr>
              <a:t>核心机制：Agent 调用 Agent</a:t>
            </a:r>
            <a:endParaRPr lang="en-US" sz="3400" noProof="1"/>
          </a:p>
        </p:txBody>
      </p:sp>
      <p:sp>
        <p:nvSpPr>
          <p:cNvPr id="5" name="ch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66800" y="4089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6" name="ch-points"/>
          <p:cNvSpPr txBox="1"/>
          <p:nvPr/>
        </p:nvSpPr>
        <p:spPr>
          <a:xfrm>
            <a:off x="1066800" y="4368800"/>
            <a:ext cx="914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多智能体的最小闭环：五步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委托的不是一句话，而是一份任务包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输出必须携带状态与证据：PASS / FAIL / BLOCKED</a:t>
            </a:r>
            <a:endParaRPr lang="en-US" sz="1500" noProof="1"/>
          </a:p>
        </p:txBody>
      </p:sp>
      <p:sp>
        <p:nvSpPr>
          <p:cNvPr id="7" name="ft-left"/>
          <p:cNvSpPr txBox="1"/>
          <p:nvPr/>
        </p:nvSpPr>
        <p:spPr>
          <a:xfrm>
            <a:off x="1016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第三章 · 最小闭环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多智能体的最小闭环只有五步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s1-num"/>
          <p:cNvSpPr txBox="1"/>
          <p:nvPr/>
        </p:nvSpPr>
        <p:spPr>
          <a:xfrm>
            <a:off x="762000" y="1676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B4532A"/>
                </a:solidFill>
                <a:latin typeface="思源宋体"/>
                <a:ea typeface="思源宋体"/>
              </a:rPr>
              <a:t>1</a:t>
            </a:r>
            <a:endParaRPr lang="en-US" sz="2200" noProof="1"/>
          </a:p>
        </p:txBody>
      </p:sp>
      <p:sp>
        <p:nvSpPr>
          <p:cNvPr id="6" name="s1-text"/>
          <p:cNvSpPr txBox="1"/>
          <p:nvPr/>
        </p:nvSpPr>
        <p:spPr>
          <a:xfrm>
            <a:off x="1193800" y="1701800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Primary 判断任务需要委托</a:t>
            </a:r>
            <a:endParaRPr lang="en-US" sz="1200" noProof="1"/>
          </a:p>
        </p:txBody>
      </p:sp>
      <p:sp>
        <p:nvSpPr>
          <p:cNvPr id="7" name="s1-arrow"/>
          <p:cNvSpPr/>
          <p:nvPr>
            <p:extLst>
              <p:ext uri="{F5677B7D-0D2A-4D9B-9A5C-6D8D7D0E5A5D}">
                <pptd:line encoding="base64url">eyJ2aWV3Qm94IjpbMjIsMV0sInBvaW50cyI6IjAsMCAyMiwwIiwiY3VydmUiOiJzaGFycCJ9</pptd:line>
              </p:ext>
            </p:extLst>
          </p:nvPr>
        </p:nvSpPr>
        <p:spPr>
          <a:xfrm>
            <a:off x="2768600" y="2133600"/>
            <a:ext cx="279400" cy="12700"/>
          </a:xfrm>
          <a:custGeom>
            <a:avLst/>
            <a:gdLst/>
            <a:ahLst/>
            <a:cxnLst/>
            <a:rect l="l" t="t" r="r" b="b"/>
            <a:pathLst>
              <a:path w="22" h="1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8" name="s2-num"/>
          <p:cNvSpPr txBox="1"/>
          <p:nvPr/>
        </p:nvSpPr>
        <p:spPr>
          <a:xfrm>
            <a:off x="3098800" y="1676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B4532A"/>
                </a:solidFill>
                <a:latin typeface="思源宋体"/>
                <a:ea typeface="思源宋体"/>
              </a:rPr>
              <a:t>2</a:t>
            </a:r>
            <a:endParaRPr lang="en-US" sz="2200" noProof="1"/>
          </a:p>
        </p:txBody>
      </p:sp>
      <p:sp>
        <p:nvSpPr>
          <p:cNvPr id="9" name="s2-text"/>
          <p:cNvSpPr txBox="1"/>
          <p:nvPr/>
        </p:nvSpPr>
        <p:spPr>
          <a:xfrm>
            <a:off x="3530600" y="1701800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Primary 构造受控的任务包</a:t>
            </a:r>
            <a:endParaRPr lang="en-US" sz="1200" noProof="1"/>
          </a:p>
        </p:txBody>
      </p:sp>
      <p:sp>
        <p:nvSpPr>
          <p:cNvPr id="10" name="s2-arrow"/>
          <p:cNvSpPr/>
          <p:nvPr>
            <p:extLst>
              <p:ext uri="{F5677B7D-0D2A-4D9B-9A5C-6D8D7D0E5A5D}">
                <pptd:line encoding="base64url">eyJ2aWV3Qm94IjpbMjIsMV0sInBvaW50cyI6IjAsMCAyMiwwIiwiY3VydmUiOiJzaGFycCJ9</pptd:line>
              </p:ext>
            </p:extLst>
          </p:nvPr>
        </p:nvSpPr>
        <p:spPr>
          <a:xfrm>
            <a:off x="5105400" y="2133600"/>
            <a:ext cx="279400" cy="12700"/>
          </a:xfrm>
          <a:custGeom>
            <a:avLst/>
            <a:gdLst/>
            <a:ahLst/>
            <a:cxnLst/>
            <a:rect l="l" t="t" r="r" b="b"/>
            <a:pathLst>
              <a:path w="22" h="1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1" name="s3-num"/>
          <p:cNvSpPr txBox="1"/>
          <p:nvPr/>
        </p:nvSpPr>
        <p:spPr>
          <a:xfrm>
            <a:off x="5435600" y="1676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B4532A"/>
                </a:solidFill>
                <a:latin typeface="思源宋体"/>
                <a:ea typeface="思源宋体"/>
              </a:rPr>
              <a:t>3</a:t>
            </a:r>
            <a:endParaRPr lang="en-US" sz="2200" noProof="1"/>
          </a:p>
        </p:txBody>
      </p:sp>
      <p:sp>
        <p:nvSpPr>
          <p:cNvPr id="12" name="s3-text"/>
          <p:cNvSpPr txBox="1"/>
          <p:nvPr/>
        </p:nvSpPr>
        <p:spPr>
          <a:xfrm>
            <a:off x="5867400" y="1701800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Subagent 在独立上下文中完成</a:t>
            </a:r>
            <a:endParaRPr lang="en-US" sz="1200" noProof="1"/>
          </a:p>
        </p:txBody>
      </p:sp>
      <p:sp>
        <p:nvSpPr>
          <p:cNvPr id="13" name="s3-arrow"/>
          <p:cNvSpPr/>
          <p:nvPr>
            <p:extLst>
              <p:ext uri="{F5677B7D-0D2A-4D9B-9A5C-6D8D7D0E5A5D}">
                <pptd:line encoding="base64url">eyJ2aWV3Qm94IjpbMjIsMV0sInBvaW50cyI6IjAsMCAyMiwwIiwiY3VydmUiOiJzaGFycCJ9</pptd:line>
              </p:ext>
            </p:extLst>
          </p:nvPr>
        </p:nvSpPr>
        <p:spPr>
          <a:xfrm>
            <a:off x="7442200" y="2133600"/>
            <a:ext cx="279400" cy="12700"/>
          </a:xfrm>
          <a:custGeom>
            <a:avLst/>
            <a:gdLst/>
            <a:ahLst/>
            <a:cxnLst/>
            <a:rect l="l" t="t" r="r" b="b"/>
            <a:pathLst>
              <a:path w="22" h="1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4" name="s4-num"/>
          <p:cNvSpPr txBox="1"/>
          <p:nvPr/>
        </p:nvSpPr>
        <p:spPr>
          <a:xfrm>
            <a:off x="7772400" y="1676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B4532A"/>
                </a:solidFill>
                <a:latin typeface="思源宋体"/>
                <a:ea typeface="思源宋体"/>
              </a:rPr>
              <a:t>4</a:t>
            </a:r>
            <a:endParaRPr lang="en-US" sz="2200" noProof="1"/>
          </a:p>
        </p:txBody>
      </p:sp>
      <p:sp>
        <p:nvSpPr>
          <p:cNvPr id="15" name="s4-text"/>
          <p:cNvSpPr txBox="1"/>
          <p:nvPr/>
        </p:nvSpPr>
        <p:spPr>
          <a:xfrm>
            <a:off x="8204200" y="1701800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返回结构化结果与证据</a:t>
            </a:r>
            <a:endParaRPr lang="en-US" sz="1200" noProof="1"/>
          </a:p>
        </p:txBody>
      </p:sp>
      <p:sp>
        <p:nvSpPr>
          <p:cNvPr id="16" name="s4-arrow"/>
          <p:cNvSpPr/>
          <p:nvPr>
            <p:extLst>
              <p:ext uri="{F5677B7D-0D2A-4D9B-9A5C-6D8D7D0E5A5D}">
                <pptd:line encoding="base64url">eyJ2aWV3Qm94IjpbMjIsMV0sInBvaW50cyI6IjAsMCAyMiwwIiwiY3VydmUiOiJzaGFycCJ9</pptd:line>
              </p:ext>
            </p:extLst>
          </p:nvPr>
        </p:nvSpPr>
        <p:spPr>
          <a:xfrm>
            <a:off x="9779000" y="2133600"/>
            <a:ext cx="279400" cy="12700"/>
          </a:xfrm>
          <a:custGeom>
            <a:avLst/>
            <a:gdLst/>
            <a:ahLst/>
            <a:cxnLst/>
            <a:rect l="l" t="t" r="r" b="b"/>
            <a:pathLst>
              <a:path w="22" h="1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7" name="s5-num"/>
          <p:cNvSpPr txBox="1"/>
          <p:nvPr/>
        </p:nvSpPr>
        <p:spPr>
          <a:xfrm>
            <a:off x="10109200" y="1676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B4532A"/>
                </a:solidFill>
                <a:latin typeface="思源宋体"/>
                <a:ea typeface="思源宋体"/>
              </a:rPr>
              <a:t>5</a:t>
            </a:r>
            <a:endParaRPr lang="en-US" sz="2200" noProof="1"/>
          </a:p>
        </p:txBody>
      </p:sp>
      <p:sp>
        <p:nvSpPr>
          <p:cNvPr id="18" name="s5-text"/>
          <p:cNvSpPr txBox="1"/>
          <p:nvPr/>
        </p:nvSpPr>
        <p:spPr>
          <a:xfrm>
            <a:off x="10541000" y="1701800"/>
            <a:ext cx="101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汇总后决定继续或停止</a:t>
            </a:r>
            <a:endParaRPr lang="en-US" sz="1200" noProof="1"/>
          </a:p>
        </p:txBody>
      </p:sp>
      <p:sp>
        <p:nvSpPr>
          <p:cNvPr id="19" name="seq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3200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20" name="seq-label"/>
          <p:cNvSpPr txBox="1"/>
          <p:nvPr/>
        </p:nvSpPr>
        <p:spPr>
          <a:xfrm>
            <a:off x="762000" y="3403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时序视图</a:t>
            </a:r>
            <a:endParaRPr lang="en-US" sz="1100" noProof="1"/>
          </a:p>
        </p:txBody>
      </p:sp>
      <p:sp>
        <p:nvSpPr>
          <p:cNvPr id="21" name="lane-user"/>
          <p:cNvSpPr txBox="1"/>
          <p:nvPr/>
        </p:nvSpPr>
        <p:spPr>
          <a:xfrm>
            <a:off x="762000" y="37592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211D19"/>
                </a:solidFill>
                <a:latin typeface="MiSans"/>
                <a:ea typeface="MiSans"/>
              </a:rPr>
              <a:t>用户</a:t>
            </a:r>
            <a:endParaRPr lang="en-US" sz="1200" noProof="1"/>
          </a:p>
        </p:txBody>
      </p:sp>
      <p:sp>
        <p:nvSpPr>
          <p:cNvPr id="22" name="lane-primary"/>
          <p:cNvSpPr txBox="1"/>
          <p:nvPr/>
        </p:nvSpPr>
        <p:spPr>
          <a:xfrm>
            <a:off x="5524500" y="37592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211D19"/>
                </a:solidFill>
                <a:latin typeface="MiSans"/>
                <a:ea typeface="MiSans"/>
              </a:rPr>
              <a:t>Primary</a:t>
            </a:r>
            <a:endParaRPr lang="en-US" sz="1200" noProof="1"/>
          </a:p>
        </p:txBody>
      </p:sp>
      <p:sp>
        <p:nvSpPr>
          <p:cNvPr id="23" name="lane-sub"/>
          <p:cNvSpPr txBox="1"/>
          <p:nvPr/>
        </p:nvSpPr>
        <p:spPr>
          <a:xfrm>
            <a:off x="10287000" y="37592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4532A"/>
                </a:solidFill>
                <a:latin typeface="MiSans"/>
                <a:ea typeface="MiSans"/>
              </a:rPr>
              <a:t>Subagent</a:t>
            </a:r>
            <a:endParaRPr lang="en-US" sz="1200" noProof="1"/>
          </a:p>
        </p:txBody>
      </p:sp>
      <p:sp>
        <p:nvSpPr>
          <p:cNvPr id="24" name="lane-u-line"/>
          <p:cNvSpPr/>
          <p:nvPr>
            <p:extLst>
              <p:ext uri="{F5677B7D-0D2A-4D9B-9A5C-6D8D7D0E5A5D}">
                <pptd:line encoding="base64url">eyJ2aWV3Qm94IjpbMSwxMzBdLCJwb2ludHMiOiIwLDAgMCwxMzAiLCJjdXJ2ZSI6InNoYXJwIn0</pptd:line>
              </p:ext>
            </p:extLst>
          </p:nvPr>
        </p:nvSpPr>
        <p:spPr>
          <a:xfrm>
            <a:off x="1333500" y="4064000"/>
            <a:ext cx="12700" cy="1651000"/>
          </a:xfrm>
          <a:custGeom>
            <a:avLst/>
            <a:gdLst/>
            <a:ahLst/>
            <a:cxnLst/>
            <a:rect l="l" t="t" r="r" b="b"/>
            <a:pathLst>
              <a:path w="1" h="130">
                <a:moveTo>
                  <a:pt x="0" y="0"/>
                </a:moveTo>
                <a:lnTo>
                  <a:pt x="0" y="130"/>
                </a:lnTo>
              </a:path>
            </a:pathLst>
          </a:custGeom>
          <a:noFill/>
          <a:ln w="12700">
            <a:solidFill>
              <a:srgbClr val="DED8CD"/>
            </a:solidFill>
            <a:prstDash val="dash"/>
          </a:ln>
        </p:spPr>
      </p:sp>
      <p:sp>
        <p:nvSpPr>
          <p:cNvPr id="25" name="lane-p-line"/>
          <p:cNvSpPr/>
          <p:nvPr>
            <p:extLst>
              <p:ext uri="{F5677B7D-0D2A-4D9B-9A5C-6D8D7D0E5A5D}">
                <pptd:line encoding="base64url">eyJ2aWV3Qm94IjpbMSwxMzBdLCJwb2ludHMiOiIwLDAgMCwxMzAiLCJjdXJ2ZSI6InNoYXJwIn0</pptd:line>
              </p:ext>
            </p:extLst>
          </p:nvPr>
        </p:nvSpPr>
        <p:spPr>
          <a:xfrm>
            <a:off x="6096000" y="4064000"/>
            <a:ext cx="12700" cy="1651000"/>
          </a:xfrm>
          <a:custGeom>
            <a:avLst/>
            <a:gdLst/>
            <a:ahLst/>
            <a:cxnLst/>
            <a:rect l="l" t="t" r="r" b="b"/>
            <a:pathLst>
              <a:path w="1" h="130">
                <a:moveTo>
                  <a:pt x="0" y="0"/>
                </a:moveTo>
                <a:lnTo>
                  <a:pt x="0" y="130"/>
                </a:lnTo>
              </a:path>
            </a:pathLst>
          </a:custGeom>
          <a:noFill/>
          <a:ln w="12700">
            <a:solidFill>
              <a:srgbClr val="DED8CD"/>
            </a:solidFill>
            <a:prstDash val="dash"/>
          </a:ln>
        </p:spPr>
      </p:sp>
      <p:sp>
        <p:nvSpPr>
          <p:cNvPr id="26" name="lane-s-line"/>
          <p:cNvSpPr/>
          <p:nvPr>
            <p:extLst>
              <p:ext uri="{F5677B7D-0D2A-4D9B-9A5C-6D8D7D0E5A5D}">
                <pptd:line encoding="base64url">eyJ2aWV3Qm94IjpbMSwxMzBdLCJwb2ludHMiOiIwLDAgMCwxMzAiLCJjdXJ2ZSI6InNoYXJwIn0</pptd:line>
              </p:ext>
            </p:extLst>
          </p:nvPr>
        </p:nvSpPr>
        <p:spPr>
          <a:xfrm>
            <a:off x="10858500" y="4064000"/>
            <a:ext cx="12700" cy="1651000"/>
          </a:xfrm>
          <a:custGeom>
            <a:avLst/>
            <a:gdLst/>
            <a:ahLst/>
            <a:cxnLst/>
            <a:rect l="l" t="t" r="r" b="b"/>
            <a:pathLst>
              <a:path w="1" h="130">
                <a:moveTo>
                  <a:pt x="0" y="0"/>
                </a:moveTo>
                <a:lnTo>
                  <a:pt x="0" y="130"/>
                </a:lnTo>
              </a:path>
            </a:pathLst>
          </a:custGeom>
          <a:noFill/>
          <a:ln w="12700">
            <a:solidFill>
              <a:srgbClr val="DED8CD"/>
            </a:solidFill>
            <a:prstDash val="dash"/>
          </a:ln>
        </p:spPr>
      </p:sp>
      <p:sp>
        <p:nvSpPr>
          <p:cNvPr id="27" name="msg1"/>
          <p:cNvSpPr/>
          <p:nvPr>
            <p:extLst>
              <p:ext uri="{F5677B7D-0D2A-4D9B-9A5C-6D8D7D0E5A5D}">
                <pptd:line encoding="base64url">eyJ2aWV3Qm94IjpbMzc1LDFdLCJwb2ludHMiOiIwLDAgMzc1LDAiLCJjdXJ2ZSI6InNoYXJwIn0</pptd:line>
              </p:ext>
            </p:extLst>
          </p:nvPr>
        </p:nvSpPr>
        <p:spPr>
          <a:xfrm>
            <a:off x="1333500" y="4267200"/>
            <a:ext cx="4762500" cy="12700"/>
          </a:xfrm>
          <a:custGeom>
            <a:avLst/>
            <a:gdLst/>
            <a:ahLst/>
            <a:cxnLst/>
            <a:rect l="l" t="t" r="r" b="b"/>
            <a:pathLst>
              <a:path w="375" h="1">
                <a:moveTo>
                  <a:pt x="0" y="0"/>
                </a:moveTo>
                <a:lnTo>
                  <a:pt x="375" y="0"/>
                </a:lnTo>
              </a:path>
            </a:pathLst>
          </a:custGeom>
          <a:noFill/>
          <a:ln w="19050">
            <a:solidFill>
              <a:srgbClr val="211D19"/>
            </a:solidFill>
            <a:tailEnd type="arrow"/>
          </a:ln>
        </p:spPr>
      </p:sp>
      <p:sp>
        <p:nvSpPr>
          <p:cNvPr id="28" name="msg1-t"/>
          <p:cNvSpPr txBox="1"/>
          <p:nvPr/>
        </p:nvSpPr>
        <p:spPr>
          <a:xfrm>
            <a:off x="2540000" y="40640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6E675E"/>
                </a:solidFill>
                <a:latin typeface="MiSans"/>
                <a:ea typeface="MiSans"/>
              </a:rPr>
              <a:t>提交目标</a:t>
            </a:r>
            <a:endParaRPr lang="en-US" sz="1050" noProof="1"/>
          </a:p>
        </p:txBody>
      </p:sp>
      <p:sp>
        <p:nvSpPr>
          <p:cNvPr id="29" name="msg2"/>
          <p:cNvSpPr/>
          <p:nvPr>
            <p:extLst>
              <p:ext uri="{F5677B7D-0D2A-4D9B-9A5C-6D8D7D0E5A5D}">
                <pptd:line encoding="base64url">eyJ2aWV3Qm94IjpbMzc1LDFdLCJwb2ludHMiOiIwLDAgMzc1LDAiLCJjdXJ2ZSI6InNoYXJwIn0</pptd:line>
              </p:ext>
            </p:extLst>
          </p:nvPr>
        </p:nvSpPr>
        <p:spPr>
          <a:xfrm>
            <a:off x="6096000" y="4724400"/>
            <a:ext cx="4762500" cy="12700"/>
          </a:xfrm>
          <a:custGeom>
            <a:avLst/>
            <a:gdLst/>
            <a:ahLst/>
            <a:cxnLst/>
            <a:rect l="l" t="t" r="r" b="b"/>
            <a:pathLst>
              <a:path w="375" h="1">
                <a:moveTo>
                  <a:pt x="0" y="0"/>
                </a:moveTo>
                <a:lnTo>
                  <a:pt x="375" y="0"/>
                </a:lnTo>
              </a:path>
            </a:pathLst>
          </a:custGeom>
          <a:noFill/>
          <a:ln w="19050">
            <a:solidFill>
              <a:srgbClr val="B4532A"/>
            </a:solidFill>
            <a:tailEnd type="arrow"/>
          </a:ln>
        </p:spPr>
      </p:sp>
      <p:sp>
        <p:nvSpPr>
          <p:cNvPr id="30" name="msg2-t"/>
          <p:cNvSpPr txBox="1"/>
          <p:nvPr/>
        </p:nvSpPr>
        <p:spPr>
          <a:xfrm>
            <a:off x="7366000" y="45212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B4532A"/>
                </a:solidFill>
                <a:latin typeface="MiSans"/>
                <a:ea typeface="MiSans"/>
              </a:rPr>
              <a:t>最小任务包</a:t>
            </a:r>
            <a:endParaRPr lang="en-US" sz="1050" noProof="1"/>
          </a:p>
        </p:txBody>
      </p:sp>
      <p:sp>
        <p:nvSpPr>
          <p:cNvPr id="31" name="msg3"/>
          <p:cNvSpPr/>
          <p:nvPr>
            <p:extLst>
              <p:ext uri="{F5677B7D-0D2A-4D9B-9A5C-6D8D7D0E5A5D}">
                <pptd:line encoding="base64url">eyJ2aWV3Qm94IjpbMzc1LDFdLCJwb2ludHMiOiIzNzUsMCAwLDAiLCJjdXJ2ZSI6InNoYXJwIn0</pptd:line>
              </p:ext>
            </p:extLst>
          </p:nvPr>
        </p:nvSpPr>
        <p:spPr>
          <a:xfrm>
            <a:off x="6096000" y="5181600"/>
            <a:ext cx="4762500" cy="12700"/>
          </a:xfrm>
          <a:custGeom>
            <a:avLst/>
            <a:gdLst/>
            <a:ahLst/>
            <a:cxnLst/>
            <a:rect l="l" t="t" r="r" b="b"/>
            <a:pathLst>
              <a:path w="375" h="1">
                <a:moveTo>
                  <a:pt x="3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B4532A"/>
            </a:solidFill>
            <a:tailEnd type="arrow"/>
          </a:ln>
        </p:spPr>
      </p:sp>
      <p:sp>
        <p:nvSpPr>
          <p:cNvPr id="32" name="msg3-t"/>
          <p:cNvSpPr txBox="1"/>
          <p:nvPr/>
        </p:nvSpPr>
        <p:spPr>
          <a:xfrm>
            <a:off x="7366000" y="49784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B4532A"/>
                </a:solidFill>
                <a:latin typeface="MiSans"/>
                <a:ea typeface="MiSans"/>
              </a:rPr>
              <a:t>结果 + 证据 + 状态</a:t>
            </a:r>
            <a:endParaRPr lang="en-US" sz="1050" noProof="1"/>
          </a:p>
        </p:txBody>
      </p:sp>
      <p:sp>
        <p:nvSpPr>
          <p:cNvPr id="33" name="msg4"/>
          <p:cNvSpPr/>
          <p:nvPr>
            <p:extLst>
              <p:ext uri="{F5677B7D-0D2A-4D9B-9A5C-6D8D7D0E5A5D}">
                <pptd:line encoding="base64url">eyJ2aWV3Qm94IjpbMzc1LDFdLCJwb2ludHMiOiIzNzUsMCAwLDAiLCJjdXJ2ZSI6InNoYXJwIn0</pptd:line>
              </p:ext>
            </p:extLst>
          </p:nvPr>
        </p:nvSpPr>
        <p:spPr>
          <a:xfrm>
            <a:off x="1333500" y="5638800"/>
            <a:ext cx="4762500" cy="12700"/>
          </a:xfrm>
          <a:custGeom>
            <a:avLst/>
            <a:gdLst/>
            <a:ahLst/>
            <a:cxnLst/>
            <a:rect l="l" t="t" r="r" b="b"/>
            <a:pathLst>
              <a:path w="375" h="1">
                <a:moveTo>
                  <a:pt x="3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11D19"/>
            </a:solidFill>
            <a:tailEnd type="arrow"/>
          </a:ln>
        </p:spPr>
      </p:sp>
      <p:sp>
        <p:nvSpPr>
          <p:cNvPr id="34" name="msg4-t"/>
          <p:cNvSpPr txBox="1"/>
          <p:nvPr/>
        </p:nvSpPr>
        <p:spPr>
          <a:xfrm>
            <a:off x="2540000" y="5435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5000"/>
              </a:lnSpc>
            </a:pPr>
            <a:r>
              <a:rPr lang="en-US" sz="1050" noProof="1">
                <a:solidFill>
                  <a:srgbClr val="6E675E"/>
                </a:solidFill>
                <a:latin typeface="MiSans"/>
                <a:ea typeface="MiSans"/>
              </a:rPr>
              <a:t>汇总或请求补充</a:t>
            </a:r>
            <a:endParaRPr lang="en-US" sz="1050" noProof="1"/>
          </a:p>
        </p:txBody>
      </p:sp>
      <p:sp>
        <p:nvSpPr>
          <p:cNvPr id="35" name="bottom-note"/>
          <p:cNvSpPr txBox="1"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第 5 步的出口有四种：继续、重试、停止、升级给用户——它们都应当在设计时显式写出。</a:t>
            </a:r>
            <a:endParaRPr lang="en-US" sz="1200" noProof="1"/>
          </a:p>
        </p:txBody>
      </p:sp>
      <p:sp>
        <p:nvSpPr>
          <p:cNvPr id="36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37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第三章 · 任务包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委托的不是一句话，而是一份任务包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yaml-bg"/>
          <p:cNvSpPr/>
          <p:nvPr/>
        </p:nvSpPr>
        <p:spPr>
          <a:xfrm>
            <a:off x="762000" y="1549400"/>
            <a:ext cx="6096000" cy="4318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6" name="yaml-code"/>
          <p:cNvSpPr txBox="1"/>
          <p:nvPr/>
        </p:nvSpPr>
        <p:spPr>
          <a:xfrm>
            <a:off x="965200" y="1701800"/>
            <a:ext cx="56896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task_id: review-017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objective: 验证登录超时修复是否满足验收标准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scope: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include: [src/auth/**, tests/auth/**]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exclude: [UI 样式]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inputs: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task_spec: artifacts/task.md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diff: artifacts/change.diff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test_evidence: artifacts/test-results.txt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constraints: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- 不得修改文件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- 不接受 mock 代替真实认证路径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output_contract: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status: PASS | FAIL | BLOCKED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findings: 按严重级别列出，附文件位置和证据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missing_evidence: 缺少什么就明确写出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stop_conditions: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- 已覆盖全部验收标准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- 证据不足时返回 BLOCKED，不猜测</a:t>
            </a:r>
            <a:endParaRPr lang="en-US" sz="1050" noProof="1"/>
          </a:p>
        </p:txBody>
      </p:sp>
      <p:sp>
        <p:nvSpPr>
          <p:cNvPr id="7" name="role-label"/>
          <p:cNvSpPr txBox="1"/>
          <p:nvPr/>
        </p:nvSpPr>
        <p:spPr>
          <a:xfrm>
            <a:off x="7315200" y="15494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任务包的三个作用</a:t>
            </a:r>
            <a:endParaRPr lang="en-US" sz="1100" noProof="1"/>
          </a:p>
        </p:txBody>
      </p:sp>
      <p:sp>
        <p:nvSpPr>
          <p:cNvPr id="8" name="role-list"/>
          <p:cNvSpPr txBox="1"/>
          <p:nvPr/>
        </p:nvSpPr>
        <p:spPr>
          <a:xfrm>
            <a:off x="7315200" y="1854200"/>
            <a:ext cx="41148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控制上下文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子 Agent 只看到它需要的材料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限定行为边界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明确可以做与不可以做的事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保证可消费性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返回结果能被程序或 Primary 稳定解析</a:t>
            </a:r>
            <a:endParaRPr lang="en-US" sz="1300" noProof="1"/>
          </a:p>
        </p:txBody>
      </p:sp>
      <p:sp>
        <p:nvSpPr>
          <p:cNvPr id="9" name="role-rule"/>
          <p:cNvSpPr/>
          <p:nvPr>
            <p:extLst>
              <p:ext uri="{F5677B7D-0D2A-4D9B-9A5C-6D8D7D0E5A5D}">
                <pptd:line encoding="base64url">eyJ2aWV3Qm94IjpbMzI0LDFdLCJwb2ludHMiOiIwLDAgMzI0LDAiLCJjdXJ2ZSI6InNoYXJwIn0</pptd:line>
              </p:ext>
            </p:extLst>
          </p:nvPr>
        </p:nvSpPr>
        <p:spPr>
          <a:xfrm>
            <a:off x="7315200" y="3937000"/>
            <a:ext cx="4114800" cy="12700"/>
          </a:xfrm>
          <a:custGeom>
            <a:avLst/>
            <a:gdLst/>
            <a:ahLst/>
            <a:cxnLst/>
            <a:rect l="l" t="t" r="r" b="b"/>
            <a:pathLst>
              <a:path w="324" h="1">
                <a:moveTo>
                  <a:pt x="0" y="0"/>
                </a:moveTo>
                <a:lnTo>
                  <a:pt x="324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0" name="role-tip-label"/>
          <p:cNvSpPr txBox="1"/>
          <p:nvPr/>
        </p:nvSpPr>
        <p:spPr>
          <a:xfrm>
            <a:off x="7315200" y="41148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一个实用心法</a:t>
            </a:r>
            <a:endParaRPr lang="en-US" sz="1100" noProof="1"/>
          </a:p>
        </p:txBody>
      </p:sp>
      <p:sp>
        <p:nvSpPr>
          <p:cNvPr id="11" name="role-tip"/>
          <p:cNvSpPr txBox="1"/>
          <p:nvPr/>
        </p:nvSpPr>
        <p:spPr>
          <a:xfrm>
            <a:off x="7315200" y="4394200"/>
            <a:ext cx="41148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把任务包当作给一位</a:t>
            </a: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聪明但完全不了解前情的同事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写的交接单：它需要的一切都在单子里，单子之外的它一概不知道。</a:t>
            </a:r>
            <a:endParaRPr lang="en-US" sz="1350" noProof="1"/>
          </a:p>
        </p:txBody>
      </p:sp>
      <p:sp>
        <p:nvSpPr>
          <p:cNvPr id="12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3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第三章 · 输出契约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输出必须携带状态与证据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json-bg"/>
          <p:cNvSpPr/>
          <p:nvPr/>
        </p:nvSpPr>
        <p:spPr>
          <a:xfrm>
            <a:off x="762000" y="1549400"/>
            <a:ext cx="5969000" cy="3810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6" name="json-code"/>
          <p:cNvSpPr txBox="1"/>
          <p:nvPr/>
        </p:nvSpPr>
        <p:spPr>
          <a:xfrm>
            <a:off x="965200" y="1701800"/>
            <a:ext cx="55626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{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"status": "FAIL",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"summary": "超时重试会重复提交登录请求",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"findings": [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  {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    "severity": "high",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    "location": "src/auth/client.py:84",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    "claim": "重试路径缺少幂等保护",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    "evidence": "test_retry_timeout 记录两次提交"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  }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],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"missing_evidence": [],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"recommended_next_action": "修复后重跑认证集成测试"</a:t>
            </a:r>
            <a:endParaRPr lang="en-US" sz="1050" noProof="1"/>
          </a:p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}</a:t>
            </a:r>
            <a:endParaRPr lang="en-US" sz="1050" noProof="1"/>
          </a:p>
        </p:txBody>
      </p:sp>
      <p:sp>
        <p:nvSpPr>
          <p:cNvPr id="7" name="st-pass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1882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66E63"/>
          </a:solidFill>
          <a:ln>
            <a:noFill/>
          </a:ln>
        </p:spPr>
      </p:sp>
      <p:sp>
        <p:nvSpPr>
          <p:cNvPr id="8" name="st-pass"/>
          <p:cNvSpPr txBox="1"/>
          <p:nvPr/>
        </p:nvSpPr>
        <p:spPr>
          <a:xfrm>
            <a:off x="7594600" y="1600200"/>
            <a:ext cx="3835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66E63"/>
                </a:solidFill>
                <a:latin typeface="MiSans"/>
                <a:ea typeface="MiSans"/>
              </a:rPr>
              <a:t>PASS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已有证据支持所有验收标准</a:t>
            </a:r>
            <a:endParaRPr lang="en-US" sz="1300" noProof="1"/>
          </a:p>
        </p:txBody>
      </p:sp>
      <p:sp>
        <p:nvSpPr>
          <p:cNvPr id="9" name="st-fail-icon"/>
          <p:cNvSpPr/>
          <p:nvPr>
            <p:extLst>
              <p:ext uri="{F5677B7D-0D2A-4D9B-9A5C-6D8D7D0E5A5D}">
                <pptd:icon encoding="base64url">eyJpY29uTmFtZSI6ImZhczpjaXJjbGUteG1hcmsifQ</pptd:icon>
              </p:ext>
            </p:extLst>
          </p:nvPr>
        </p:nvSpPr>
        <p:spPr>
          <a:xfrm>
            <a:off x="7188200" y="241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167" y="167"/>
                </a:moveTo>
                <a:cubicBezTo>
                  <a:pt x="176" y="158"/>
                  <a:pt x="192" y="158"/>
                  <a:pt x="201" y="167"/>
                </a:cubicBezTo>
                <a:lnTo>
                  <a:pt x="256" y="222"/>
                </a:lnTo>
                <a:lnTo>
                  <a:pt x="311" y="167"/>
                </a:lnTo>
                <a:cubicBezTo>
                  <a:pt x="320" y="158"/>
                  <a:pt x="336" y="158"/>
                  <a:pt x="345" y="167"/>
                </a:cubicBezTo>
                <a:cubicBezTo>
                  <a:pt x="354" y="176"/>
                  <a:pt x="354" y="192"/>
                  <a:pt x="345" y="201"/>
                </a:cubicBezTo>
                <a:lnTo>
                  <a:pt x="290" y="256"/>
                </a:lnTo>
                <a:lnTo>
                  <a:pt x="345" y="311"/>
                </a:lnTo>
                <a:cubicBezTo>
                  <a:pt x="354" y="320"/>
                  <a:pt x="354" y="336"/>
                  <a:pt x="345" y="345"/>
                </a:cubicBezTo>
                <a:cubicBezTo>
                  <a:pt x="335" y="354"/>
                  <a:pt x="320" y="354"/>
                  <a:pt x="311" y="345"/>
                </a:cubicBezTo>
                <a:lnTo>
                  <a:pt x="256" y="290"/>
                </a:lnTo>
                <a:lnTo>
                  <a:pt x="201" y="345"/>
                </a:lnTo>
                <a:cubicBezTo>
                  <a:pt x="191" y="354"/>
                  <a:pt x="176" y="354"/>
                  <a:pt x="167" y="345"/>
                </a:cubicBezTo>
                <a:cubicBezTo>
                  <a:pt x="158" y="335"/>
                  <a:pt x="158" y="320"/>
                  <a:pt x="167" y="311"/>
                </a:cubicBezTo>
                <a:lnTo>
                  <a:pt x="222" y="256"/>
                </a:lnTo>
                <a:lnTo>
                  <a:pt x="167" y="201"/>
                </a:lnTo>
                <a:cubicBezTo>
                  <a:pt x="158" y="191"/>
                  <a:pt x="158" y="176"/>
                  <a:pt x="167" y="167"/>
                </a:cubicBezTo>
                <a:close/>
              </a:path>
            </a:pathLst>
          </a:custGeom>
          <a:solidFill>
            <a:srgbClr val="B3261E"/>
          </a:solidFill>
          <a:ln>
            <a:noFill/>
          </a:ln>
        </p:spPr>
      </p:sp>
      <p:sp>
        <p:nvSpPr>
          <p:cNvPr id="10" name="st-fail"/>
          <p:cNvSpPr txBox="1"/>
          <p:nvPr/>
        </p:nvSpPr>
        <p:spPr>
          <a:xfrm>
            <a:off x="7594600" y="2362200"/>
            <a:ext cx="3835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B3261E"/>
                </a:solidFill>
                <a:latin typeface="MiSans"/>
                <a:ea typeface="MiSans"/>
              </a:rPr>
              <a:t>FAIL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存在明确的不满足项，附位置与证据</a:t>
            </a:r>
            <a:endParaRPr lang="en-US" sz="1300" noProof="1"/>
          </a:p>
        </p:txBody>
      </p:sp>
      <p:sp>
        <p:nvSpPr>
          <p:cNvPr id="11" name="st-blocked-icon"/>
          <p:cNvSpPr/>
          <p:nvPr>
            <p:extLst>
              <p:ext uri="{F5677B7D-0D2A-4D9B-9A5C-6D8D7D0E5A5D}">
                <pptd:icon encoding="base64url">eyJpY29uTmFtZSI6ImZhczpjaXJjbGUtcGF1c2UifQ</pptd:icon>
              </p:ext>
            </p:extLst>
          </p:nvPr>
        </p:nvSpPr>
        <p:spPr>
          <a:xfrm>
            <a:off x="7188200" y="317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92"/>
                </a:moveTo>
                <a:lnTo>
                  <a:pt x="224" y="320"/>
                </a:lnTo>
                <a:cubicBezTo>
                  <a:pt x="224" y="338"/>
                  <a:pt x="210" y="352"/>
                  <a:pt x="192" y="352"/>
                </a:cubicBezTo>
                <a:cubicBezTo>
                  <a:pt x="174" y="352"/>
                  <a:pt x="160" y="338"/>
                  <a:pt x="160" y="320"/>
                </a:cubicBezTo>
                <a:lnTo>
                  <a:pt x="160" y="192"/>
                </a:lnTo>
                <a:cubicBezTo>
                  <a:pt x="160" y="174"/>
                  <a:pt x="174" y="160"/>
                  <a:pt x="192" y="160"/>
                </a:cubicBezTo>
                <a:cubicBezTo>
                  <a:pt x="210" y="160"/>
                  <a:pt x="224" y="174"/>
                  <a:pt x="224" y="192"/>
                </a:cubicBezTo>
                <a:close/>
                <a:moveTo>
                  <a:pt x="352" y="192"/>
                </a:moveTo>
                <a:lnTo>
                  <a:pt x="352" y="320"/>
                </a:lnTo>
                <a:cubicBezTo>
                  <a:pt x="352" y="338"/>
                  <a:pt x="338" y="352"/>
                  <a:pt x="320" y="352"/>
                </a:cubicBezTo>
                <a:cubicBezTo>
                  <a:pt x="302" y="352"/>
                  <a:pt x="288" y="338"/>
                  <a:pt x="288" y="320"/>
                </a:cubicBezTo>
                <a:lnTo>
                  <a:pt x="288" y="192"/>
                </a:lnTo>
                <a:cubicBezTo>
                  <a:pt x="288" y="174"/>
                  <a:pt x="302" y="160"/>
                  <a:pt x="320" y="160"/>
                </a:cubicBezTo>
                <a:cubicBezTo>
                  <a:pt x="338" y="160"/>
                  <a:pt x="352" y="174"/>
                  <a:pt x="352" y="192"/>
                </a:cubicBezTo>
                <a:close/>
              </a:path>
            </a:pathLst>
          </a:custGeom>
          <a:solidFill>
            <a:srgbClr val="B4532A"/>
          </a:solidFill>
          <a:ln>
            <a:noFill/>
          </a:ln>
        </p:spPr>
      </p:sp>
      <p:sp>
        <p:nvSpPr>
          <p:cNvPr id="12" name="st-blocked"/>
          <p:cNvSpPr txBox="1"/>
          <p:nvPr/>
        </p:nvSpPr>
        <p:spPr>
          <a:xfrm>
            <a:off x="7594600" y="3124200"/>
            <a:ext cx="3835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BLOCKED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信息、权限或工具不足，无法可靠判断</a:t>
            </a:r>
            <a:endParaRPr lang="en-US" sz="1300" noProof="1"/>
          </a:p>
        </p:txBody>
      </p:sp>
      <p:sp>
        <p:nvSpPr>
          <p:cNvPr id="13" name="st-rule"/>
          <p:cNvSpPr/>
          <p:nvPr>
            <p:extLst>
              <p:ext uri="{F5677B7D-0D2A-4D9B-9A5C-6D8D7D0E5A5D}">
                <pptd:line encoding="base64url">eyJ2aWV3Qm94IjpbMzM0LDFdLCJwb2ludHMiOiIwLDAgMzM0LDAiLCJjdXJ2ZSI6InNoYXJwIn0</pptd:line>
              </p:ext>
            </p:extLst>
          </p:nvPr>
        </p:nvSpPr>
        <p:spPr>
          <a:xfrm>
            <a:off x="7188200" y="3962400"/>
            <a:ext cx="4241800" cy="12700"/>
          </a:xfrm>
          <a:custGeom>
            <a:avLst/>
            <a:gdLst/>
            <a:ahLst/>
            <a:cxnLst/>
            <a:rect l="l" t="t" r="r" b="b"/>
            <a:pathLst>
              <a:path w="334" h="1">
                <a:moveTo>
                  <a:pt x="0" y="0"/>
                </a:moveTo>
                <a:lnTo>
                  <a:pt x="334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4" name="st-why"/>
          <p:cNvSpPr txBox="1"/>
          <p:nvPr/>
        </p:nvSpPr>
        <p:spPr>
          <a:xfrm>
            <a:off x="7188200" y="4140200"/>
            <a:ext cx="42418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BLOCKED 很重要。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没有它，模型容易在证据不足时被迫猜一个 PASS 或 FAIL——猜测出来的结论比没有结论更危险，因为它看起来像一个结论。</a:t>
            </a:r>
            <a:endParaRPr lang="en-US" sz="1350" noProof="1"/>
          </a:p>
        </p:txBody>
      </p:sp>
      <p:sp>
        <p:nvSpPr>
          <p:cNvPr id="15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6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1016000" y="1524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 b="1">
                <a:solidFill>
                  <a:srgbClr val="F1E3D9"/>
                </a:solidFill>
                <a:latin typeface="思源宋体"/>
                <a:ea typeface="思源宋体"/>
              </a:rPr>
              <a:t>04</a:t>
            </a:r>
            <a:endParaRPr lang="en-US" sz="9600" noProof="1"/>
          </a:p>
        </p:txBody>
      </p:sp>
      <p:sp>
        <p:nvSpPr>
          <p:cNvPr id="3" name="ch-label"/>
          <p:cNvSpPr txBox="1"/>
          <p:nvPr/>
        </p:nvSpPr>
        <p:spPr>
          <a:xfrm>
            <a:off x="1066800" y="2997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第四章 · 实现方式一</a:t>
            </a:r>
            <a:endParaRPr lang="en-US" sz="1200" noProof="1"/>
          </a:p>
        </p:txBody>
      </p:sp>
      <p:sp>
        <p:nvSpPr>
          <p:cNvPr id="4" name="ch-title"/>
          <p:cNvSpPr txBox="1"/>
          <p:nvPr/>
        </p:nvSpPr>
        <p:spPr>
          <a:xfrm>
            <a:off x="1066800" y="32766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11D19"/>
                </a:solidFill>
                <a:latin typeface="思源宋体"/>
                <a:ea typeface="思源宋体"/>
              </a:rPr>
              <a:t>直接调用另一个模型的 V1 推理接口</a:t>
            </a:r>
            <a:endParaRPr lang="en-US" sz="3400" noProof="1"/>
          </a:p>
        </p:txBody>
      </p:sp>
      <p:sp>
        <p:nvSpPr>
          <p:cNvPr id="5" name="ch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66800" y="4089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6" name="ch-points"/>
          <p:cNvSpPr txBox="1"/>
          <p:nvPr/>
        </p:nvSpPr>
        <p:spPr>
          <a:xfrm>
            <a:off x="1066800" y="4368800"/>
            <a:ext cx="965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Primary 构造提示词与上下文，调用 OpenAI-compatible /v1/chat/completions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示例：纯文本 Primary 调用多模态模型分析图片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接口很简单，真正要设计的是边界、契约与失败处理</a:t>
            </a:r>
            <a:endParaRPr lang="en-US" sz="1500" noProof="1"/>
          </a:p>
        </p:txBody>
      </p:sp>
      <p:sp>
        <p:nvSpPr>
          <p:cNvPr id="7" name="ft-left"/>
          <p:cNvSpPr txBox="1"/>
          <p:nvPr/>
        </p:nvSpPr>
        <p:spPr>
          <a:xfrm>
            <a:off x="1016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16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第四章 · 实现方式一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211D19"/>
                </a:solidFill>
                <a:latin typeface="思源宋体"/>
                <a:ea typeface="思源宋体"/>
              </a:rPr>
              <a:t>视觉 Subagent：系统约束与最小 Python 实现</a:t>
            </a:r>
            <a:endParaRPr lang="en-US" sz="24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sys-label"/>
          <p:cNvSpPr txBox="1"/>
          <p:nvPr/>
        </p:nvSpPr>
        <p:spPr>
          <a:xfrm>
            <a:off x="762000" y="147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系统约束（system prompt）</a:t>
            </a:r>
            <a:endParaRPr lang="en-US" sz="1100" noProof="1"/>
          </a:p>
        </p:txBody>
      </p:sp>
      <p:sp>
        <p:nvSpPr>
          <p:cNvPr id="6" name="sys-bg"/>
          <p:cNvSpPr/>
          <p:nvPr/>
        </p:nvSpPr>
        <p:spPr>
          <a:xfrm>
            <a:off x="762000" y="1752600"/>
            <a:ext cx="5080000" cy="2235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7" name="sys-code"/>
          <p:cNvSpPr txBox="1"/>
          <p:nvPr/>
        </p:nvSpPr>
        <p:spPr>
          <a:xfrm>
            <a:off x="939800" y="1879600"/>
            <a:ext cx="47244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你是视觉观察子 Agent。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任务：只报告图片中可观察到的内容，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不替 Primary 推断业务结论。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要求：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1. 区分直接观察、OCR 文本和不确定推断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2. 看不清时明确说明，不得补全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3. 输出 JSON：observations / visible_text /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  uncertainties / limitations</a:t>
            </a:r>
            <a:endParaRPr lang="en-US" sz="1050" noProof="1"/>
          </a:p>
          <a:p>
            <a:pPr>
              <a:lnSpc>
                <a:spcPct val="142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4. 不回答图片之外的问题</a:t>
            </a:r>
            <a:endParaRPr lang="en-US" sz="1050" noProof="1"/>
          </a:p>
        </p:txBody>
      </p:sp>
      <p:sp>
        <p:nvSpPr>
          <p:cNvPr id="8" name="design-label"/>
          <p:cNvSpPr txBox="1"/>
          <p:nvPr/>
        </p:nvSpPr>
        <p:spPr>
          <a:xfrm>
            <a:off x="762000" y="419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真正决定效果的设计点</a:t>
            </a:r>
            <a:endParaRPr lang="en-US" sz="1100" noProof="1"/>
          </a:p>
        </p:txBody>
      </p:sp>
      <p:sp>
        <p:nvSpPr>
          <p:cNvPr id="9" name="design-list"/>
          <p:cNvSpPr txBox="1"/>
          <p:nvPr/>
        </p:nvSpPr>
        <p:spPr>
          <a:xfrm>
            <a:off x="762000" y="4470400"/>
            <a:ext cx="5080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图片是否以模型支持的格式传入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任务边界是否清楚、输出是否结构化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是否显式表达不确定性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Primary 是否把“观察”与“根因推断”分开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超时、非法 JSON、图片过大、模型失败时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如何返回 BLOCKED</a:t>
            </a:r>
            <a:endParaRPr lang="en-US" sz="1250" noProof="1"/>
          </a:p>
        </p:txBody>
      </p:sp>
      <p:sp>
        <p:nvSpPr>
          <p:cNvPr id="10" name="py-label"/>
          <p:cNvSpPr txBox="1"/>
          <p:nvPr/>
        </p:nvSpPr>
        <p:spPr>
          <a:xfrm>
            <a:off x="6299200" y="14732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Python 关键代码（节选）</a:t>
            </a:r>
            <a:endParaRPr lang="en-US" sz="1100" noProof="1"/>
          </a:p>
        </p:txBody>
      </p:sp>
      <p:sp>
        <p:nvSpPr>
          <p:cNvPr id="11" name="py-bg"/>
          <p:cNvSpPr/>
          <p:nvPr/>
        </p:nvSpPr>
        <p:spPr>
          <a:xfrm>
            <a:off x="6299200" y="1752600"/>
            <a:ext cx="5130800" cy="3759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12" name="py-code"/>
          <p:cNvSpPr txBox="1"/>
          <p:nvPr/>
        </p:nvSpPr>
        <p:spPr>
          <a:xfrm>
            <a:off x="6477000" y="1879600"/>
            <a:ext cx="47752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def call_vision_agent(image_path, objective):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payload = {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"model": os.environ["VISION_MODEL"],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"temperature": 0,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"messages": [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  {"role": "system", "content": SYS_PROMPT},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  {"role": "user", "content": [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    {"type": "text", "text": objective},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    {"type": "image_url", "image_url":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       {"url": to_data_url(image_path)}}]}]}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resp = requests.post(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f"{BASE_URL}/v1/chat/completions",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headers={"Authorization": f"Bearer {KEY}"},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json=payload, timeout=60)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resp.raise_for_status()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content = resp.json()["choices"][0] \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                ["message"]["content"]</a:t>
            </a:r>
            <a:endParaRPr lang="en-US" sz="95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37322B"/>
                </a:solidFill>
                <a:latin typeface="JetBrains Mono"/>
                <a:ea typeface="JetBrains Mono"/>
              </a:rPr>
              <a:t>    return json.loads(content)</a:t>
            </a:r>
            <a:endParaRPr lang="en-US" sz="950" noProof="1"/>
          </a:p>
        </p:txBody>
      </p:sp>
      <p:sp>
        <p:nvSpPr>
          <p:cNvPr id="13" name="bottom-note"/>
          <p:cNvSpPr txBox="1"/>
          <p:nvPr/>
        </p:nvSpPr>
        <p:spPr>
          <a:xfrm>
            <a:off x="6299200" y="56642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末尾以 call_vision_agent("screenshots/error.png", objective) 调用即可。若视觉任务只是固定转换，这种轻量实现已足够——先用最薄的实现验证拆分有收益，再决定是否引入框架。</a:t>
            </a:r>
            <a:endParaRPr lang="en-US" sz="1150" noProof="1"/>
          </a:p>
        </p:txBody>
      </p:sp>
      <p:sp>
        <p:nvSpPr>
          <p:cNvPr id="14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5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17</a:t>
            </a:r>
            <a:endParaRPr lang="en-US" sz="10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第四章 · 实际样例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实际样例：视觉委托的一次真实运行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ph-box"/>
          <p:cNvSpPr/>
          <p:nvPr/>
        </p:nvSpPr>
        <p:spPr>
          <a:xfrm>
            <a:off x="762000" y="1600200"/>
            <a:ext cx="7112000" cy="4191000"/>
          </a:xfrm>
          <a:prstGeom prst="rect">
            <a:avLst/>
          </a:prstGeom>
          <a:solidFill>
            <a:srgbClr val="F2EFE7"/>
          </a:solidFill>
          <a:ln w="19050">
            <a:solidFill>
              <a:srgbClr val="6E675E"/>
            </a:solidFill>
            <a:prstDash val="dash"/>
          </a:ln>
        </p:spPr>
      </p:sp>
      <p:sp>
        <p:nvSpPr>
          <p:cNvPr id="6" name="ph-icon"/>
          <p:cNvSpPr/>
          <p:nvPr>
            <p:extLst>
              <p:ext uri="{F5677B7D-0D2A-4D9B-9A5C-6D8D7D0E5A5D}">
                <pptd:icon encoding="base64url">eyJpY29uTmFtZSI6ImZhczppbWFnZSJ9</pptd:icon>
              </p:ext>
            </p:extLst>
          </p:nvPr>
        </p:nvSpPr>
        <p:spPr>
          <a:xfrm>
            <a:off x="3911600" y="274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6E675E"/>
          </a:solidFill>
          <a:ln>
            <a:noFill/>
          </a:ln>
        </p:spPr>
      </p:sp>
      <p:sp>
        <p:nvSpPr>
          <p:cNvPr id="7" name="ph-text"/>
          <p:cNvSpPr txBox="1"/>
          <p:nvPr/>
        </p:nvSpPr>
        <p:spPr>
          <a:xfrm>
            <a:off x="1397000" y="37592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300" noProof="1" b="1">
                <a:solidFill>
                  <a:srgbClr val="6E675E"/>
                </a:solidFill>
                <a:latin typeface="MiSans"/>
                <a:ea typeface="MiSans"/>
              </a:rPr>
              <a:t>截图占位</a:t>
            </a:r>
            <a:r>
              <a:rPr lang="en-US" sz="1300" noProof="1">
                <a:solidFill>
                  <a:srgbClr val="6E675E"/>
                </a:solidFill>
                <a:latin typeface="MiSans"/>
                <a:ea typeface="MiSans"/>
              </a:rPr>
              <a:t>（可编辑区域）</a:t>
            </a:r>
            <a:endParaRPr lang="en-US" sz="1300" noProof="1"/>
          </a:p>
          <a:p>
            <a:pPr algn="ctr">
              <a:lnSpc>
                <a:spcPct val="145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E675E"/>
                </a:solidFill>
                <a:latin typeface="MiSans"/>
                <a:ea typeface="MiSans"/>
              </a:rPr>
              <a:t>请替换为实际运行的终端 / 界面截图</a:t>
            </a:r>
            <a:endParaRPr lang="en-US" sz="1300" noProof="1"/>
          </a:p>
        </p:txBody>
      </p:sp>
      <p:sp>
        <p:nvSpPr>
          <p:cNvPr id="8" name="guide-label"/>
          <p:cNvSpPr txBox="1"/>
          <p:nvPr/>
        </p:nvSpPr>
        <p:spPr>
          <a:xfrm>
            <a:off x="8280400" y="1600200"/>
            <a:ext cx="314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建议截图包含</a:t>
            </a:r>
            <a:endParaRPr lang="en-US" sz="1100" noProof="1"/>
          </a:p>
        </p:txBody>
      </p:sp>
      <p:sp>
        <p:nvSpPr>
          <p:cNvPr id="9" name="guide-list"/>
          <p:cNvSpPr txBox="1"/>
          <p:nvPr/>
        </p:nvSpPr>
        <p:spPr>
          <a:xfrm>
            <a:off x="8280400" y="1905000"/>
            <a:ext cx="31496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输入图片与观察指令（objective）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②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返回的结构化 JSON：observations / visible_text / uncertainties / limitations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③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对照：换用模糊截图时，uncertainties 是否生效</a:t>
            </a:r>
            <a:endParaRPr lang="en-US" sz="1250" noProof="1"/>
          </a:p>
        </p:txBody>
      </p:sp>
      <p:sp>
        <p:nvSpPr>
          <p:cNvPr id="10" name="guide-rule"/>
          <p:cNvSpPr/>
          <p:nvPr>
            <p:extLst>
              <p:ext uri="{F5677B7D-0D2A-4D9B-9A5C-6D8D7D0E5A5D}">
                <pptd:line encoding="base64url">eyJ2aWV3Qm94IjpbMjQ4LDFdLCJwb2ludHMiOiIwLDAgMjQ4LDAiLCJjdXJ2ZSI6InNoYXJwIn0</pptd:line>
              </p:ext>
            </p:extLst>
          </p:nvPr>
        </p:nvSpPr>
        <p:spPr>
          <a:xfrm>
            <a:off x="8280400" y="4470400"/>
            <a:ext cx="3149600" cy="12700"/>
          </a:xfrm>
          <a:custGeom>
            <a:avLst/>
            <a:gdLst/>
            <a:ahLst/>
            <a:cxnLst/>
            <a:rect l="l" t="t" r="r" b="b"/>
            <a:pathLst>
              <a:path w="248" h="1">
                <a:moveTo>
                  <a:pt x="0" y="0"/>
                </a:moveTo>
                <a:lnTo>
                  <a:pt x="248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1" name="guide-note"/>
          <p:cNvSpPr txBox="1"/>
          <p:nvPr/>
        </p:nvSpPr>
        <p:spPr>
          <a:xfrm>
            <a:off x="8280400" y="4648200"/>
            <a:ext cx="3149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讲解重点：让学员看到“不确定”本身就是一种有价值的产出；Primary 只消费观察，不直接继承视觉模型的推测。</a:t>
            </a:r>
            <a:endParaRPr lang="en-US" sz="1200" noProof="1"/>
          </a:p>
        </p:txBody>
      </p:sp>
      <p:sp>
        <p:nvSpPr>
          <p:cNvPr id="12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3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18</a:t>
            </a:r>
            <a:endParaRPr lang="en-US" sz="10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1016000" y="1524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 b="1">
                <a:solidFill>
                  <a:srgbClr val="F1E3D9"/>
                </a:solidFill>
                <a:latin typeface="思源宋体"/>
                <a:ea typeface="思源宋体"/>
              </a:rPr>
              <a:t>05</a:t>
            </a:r>
            <a:endParaRPr lang="en-US" sz="9600" noProof="1"/>
          </a:p>
        </p:txBody>
      </p:sp>
      <p:sp>
        <p:nvSpPr>
          <p:cNvPr id="3" name="ch-label"/>
          <p:cNvSpPr txBox="1"/>
          <p:nvPr/>
        </p:nvSpPr>
        <p:spPr>
          <a:xfrm>
            <a:off x="1066800" y="29972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第五章 · 实现方式二</a:t>
            </a:r>
            <a:endParaRPr lang="en-US" sz="1200" noProof="1"/>
          </a:p>
        </p:txBody>
      </p:sp>
      <p:sp>
        <p:nvSpPr>
          <p:cNvPr id="4" name="ch-title"/>
          <p:cNvSpPr txBox="1"/>
          <p:nvPr/>
        </p:nvSpPr>
        <p:spPr>
          <a:xfrm>
            <a:off x="1066800" y="32766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11D19"/>
                </a:solidFill>
                <a:latin typeface="思源宋体"/>
                <a:ea typeface="思源宋体"/>
              </a:rPr>
              <a:t>使用 OpenCode 的 Primary–Subagent</a:t>
            </a:r>
            <a:endParaRPr lang="en-US" sz="3400" noProof="1"/>
          </a:p>
        </p:txBody>
      </p:sp>
      <p:sp>
        <p:nvSpPr>
          <p:cNvPr id="5" name="ch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66800" y="4089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6" name="ch-points"/>
          <p:cNvSpPr txBox="1"/>
          <p:nvPr/>
        </p:nvSpPr>
        <p:spPr>
          <a:xfrm>
            <a:off x="1066800" y="4368800"/>
            <a:ext cx="965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Agent 组织为 primary / subagent / all 三种模式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项目级 Agent 放在 .opencode/agents/&lt;name&gt;.md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Subagent 在 child session 中以新上下文运行；演示“代码生成与独立验收”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300" noProof="1">
                <a:solidFill>
                  <a:srgbClr val="6E675E"/>
                </a:solidFill>
                <a:latin typeface="MiSans"/>
                <a:ea typeface="MiSans"/>
              </a:rPr>
              <a:t>字段随版本演进，使用时以当前版本文档为准</a:t>
            </a:r>
            <a:endParaRPr lang="en-US" sz="1500" noProof="1"/>
          </a:p>
        </p:txBody>
      </p:sp>
      <p:sp>
        <p:nvSpPr>
          <p:cNvPr id="7" name="ft-left"/>
          <p:cNvSpPr txBox="1"/>
          <p:nvPr/>
        </p:nvSpPr>
        <p:spPr>
          <a:xfrm>
            <a:off x="1016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19</a:t>
            </a:r>
            <a:endParaRPr lang="en-US" sz="10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第五章 · Agent 配置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Builder 负责实现，Reviewer 只验收不改代码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b-label"/>
          <p:cNvSpPr txBox="1"/>
          <p:nvPr/>
        </p:nvSpPr>
        <p:spPr>
          <a:xfrm>
            <a:off x="762000" y="1473200"/>
            <a:ext cx="520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.opencode/agents/builder.md（Primary）</a:t>
            </a:r>
            <a:endParaRPr lang="en-US" sz="1100" noProof="1"/>
          </a:p>
        </p:txBody>
      </p:sp>
      <p:sp>
        <p:nvSpPr>
          <p:cNvPr id="6" name="b-bg"/>
          <p:cNvSpPr/>
          <p:nvPr/>
        </p:nvSpPr>
        <p:spPr>
          <a:xfrm>
            <a:off x="762000" y="1752600"/>
            <a:ext cx="5207000" cy="2540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7" name="b-code"/>
          <p:cNvSpPr txBox="1"/>
          <p:nvPr/>
        </p:nvSpPr>
        <p:spPr>
          <a:xfrm>
            <a:off x="939800" y="1879600"/>
            <a:ext cx="48514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mode: primary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permissions: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- subagent "*" → deny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- subagent "reviewer" → allow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职责：改代码、跑相关测试、生成交接包、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调用 reviewer 独立验收；FAIL 时按 finding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修复后复验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边界：不交完整推理过程；不要求 reviewer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证明自己正确；最多两轮修复—复验</a:t>
            </a:r>
            <a:endParaRPr lang="en-US" sz="1000" noProof="1"/>
          </a:p>
        </p:txBody>
      </p:sp>
      <p:sp>
        <p:nvSpPr>
          <p:cNvPr id="8" name="b-note"/>
          <p:cNvSpPr txBox="1"/>
          <p:nvPr/>
        </p:nvSpPr>
        <p:spPr>
          <a:xfrm>
            <a:off x="762000" y="4445000"/>
            <a:ext cx="520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将 Builder 可调用的 Subagent 限定为 reviewer——委托能力本身也需要权限收敛，避免无限派生子 Agent。</a:t>
            </a:r>
            <a:endParaRPr lang="en-US" sz="1200" noProof="1"/>
          </a:p>
        </p:txBody>
      </p:sp>
      <p:sp>
        <p:nvSpPr>
          <p:cNvPr id="9" name="r-label"/>
          <p:cNvSpPr txBox="1"/>
          <p:nvPr/>
        </p:nvSpPr>
        <p:spPr>
          <a:xfrm>
            <a:off x="6350000" y="1473200"/>
            <a:ext cx="520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.opencode/agents/reviewer.md（Subagent）</a:t>
            </a:r>
            <a:endParaRPr lang="en-US" sz="1100" noProof="1"/>
          </a:p>
        </p:txBody>
      </p:sp>
      <p:sp>
        <p:nvSpPr>
          <p:cNvPr id="10" name="r-bg"/>
          <p:cNvSpPr/>
          <p:nvPr/>
        </p:nvSpPr>
        <p:spPr>
          <a:xfrm>
            <a:off x="6350000" y="1752600"/>
            <a:ext cx="5080000" cy="2540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11" name="r-code"/>
          <p:cNvSpPr txBox="1"/>
          <p:nvPr/>
        </p:nvSpPr>
        <p:spPr>
          <a:xfrm>
            <a:off x="6527800" y="1879600"/>
            <a:ext cx="47244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mode: subagent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steps: 8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permissions: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- edit "*" → deny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- shell "*" → deny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- shell "git status *" → allow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- shell "git diff *" → allow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- shell "pytest *" → allow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输出：status / findings /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missing_evidence / next_action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证据不足返回 BLOCKED，不得猜测</a:t>
            </a:r>
            <a:endParaRPr lang="en-US" sz="1000" noProof="1"/>
          </a:p>
        </p:txBody>
      </p:sp>
      <p:sp>
        <p:nvSpPr>
          <p:cNvPr id="12" name="r-note"/>
          <p:cNvSpPr txBox="1"/>
          <p:nvPr/>
        </p:nvSpPr>
        <p:spPr>
          <a:xfrm>
            <a:off x="6350000" y="4445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权限仅为教学示例，应按语言、测试命令与 OpenCode 版本调整白名单。关键约束：可读取、可验证，但不可替实现者改代码。</a:t>
            </a:r>
            <a:endParaRPr lang="en-US" sz="1200" noProof="1"/>
          </a:p>
        </p:txBody>
      </p:sp>
      <p:sp>
        <p:nvSpPr>
          <p:cNvPr id="13" name="bottom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5435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14" name="bottom-quote"/>
          <p:cNvSpPr txBox="1"/>
          <p:nvPr/>
        </p:nvSpPr>
        <p:spPr>
          <a:xfrm>
            <a:off x="762000" y="5613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450" noProof="1">
                <a:solidFill>
                  <a:srgbClr val="211D19"/>
                </a:solidFill>
                <a:latin typeface="MiSans"/>
                <a:ea typeface="MiSans"/>
              </a:rPr>
              <a:t>提示词里的“请不要修改文件”是</a:t>
            </a: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软约束</a:t>
            </a:r>
            <a:r>
              <a:rPr lang="en-US" sz="1450" noProof="1">
                <a:solidFill>
                  <a:srgbClr val="211D19"/>
                </a:solidFill>
                <a:latin typeface="MiSans"/>
                <a:ea typeface="MiSans"/>
              </a:rPr>
              <a:t>；工具权限里的 deny 才是</a:t>
            </a: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硬边界</a:t>
            </a:r>
            <a:r>
              <a:rPr lang="en-US" sz="1450" noProof="1">
                <a:solidFill>
                  <a:srgbClr val="211D19"/>
                </a:solidFill>
                <a:latin typeface="MiSans"/>
                <a:ea typeface="MiSans"/>
              </a:rPr>
              <a:t>——两者互补，不能互相替代。</a:t>
            </a:r>
            <a:endParaRPr lang="en-US" sz="1450" noProof="1"/>
          </a:p>
        </p:txBody>
      </p:sp>
      <p:sp>
        <p:nvSpPr>
          <p:cNvPr id="15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6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20</a:t>
            </a:r>
            <a:endParaRPr lang="en-US" sz="10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第五章 · 交接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Review Handoff：共享事实与证据，不共享叙事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ho-bg"/>
          <p:cNvSpPr/>
          <p:nvPr/>
        </p:nvSpPr>
        <p:spPr>
          <a:xfrm>
            <a:off x="762000" y="1549400"/>
            <a:ext cx="6096000" cy="4318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6" name="ho-code"/>
          <p:cNvSpPr txBox="1"/>
          <p:nvPr/>
        </p:nvSpPr>
        <p:spPr>
          <a:xfrm>
            <a:off x="965200" y="1701800"/>
            <a:ext cx="56896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# Review Handoff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## Objective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修复登录请求在网关超时时重复提交的问题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## Acceptance criteria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超时重试不得产生第二次业务提交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正常登录行为保持不变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集成测试覆盖超时后的重试路径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## Changed artifacts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src/auth/client.py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tests/auth/test_retry.py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## Evidence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pytest tests/auth/test_retry.py -q: 8 passed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artifacts/change.diff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 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## Known limitations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- 尚未执行完整端到端测试</a:t>
            </a:r>
            <a:endParaRPr lang="en-US" sz="1050" noProof="1"/>
          </a:p>
        </p:txBody>
      </p:sp>
      <p:sp>
        <p:nvSpPr>
          <p:cNvPr id="7" name="pr-label"/>
          <p:cNvSpPr txBox="1"/>
          <p:nvPr/>
        </p:nvSpPr>
        <p:spPr>
          <a:xfrm>
            <a:off x="7315200" y="15494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交接原则</a:t>
            </a:r>
            <a:endParaRPr lang="en-US" sz="1100" noProof="1"/>
          </a:p>
        </p:txBody>
      </p:sp>
      <p:sp>
        <p:nvSpPr>
          <p:cNvPr id="8" name="pr-share"/>
          <p:cNvSpPr txBox="1"/>
          <p:nvPr/>
        </p:nvSpPr>
        <p:spPr>
          <a:xfrm>
            <a:off x="7315200" y="1854200"/>
            <a:ext cx="41148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166E63"/>
                </a:solidFill>
                <a:latin typeface="MiSans"/>
                <a:ea typeface="MiSans"/>
              </a:rPr>
              <a:t>共享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任务事实、验收标准、最终 diff、可复现的测试证据、已知限制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 b="1">
                <a:solidFill>
                  <a:srgbClr val="B3261E"/>
                </a:solidFill>
                <a:latin typeface="MiSans"/>
                <a:ea typeface="MiSans"/>
              </a:rPr>
              <a:t>不共享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会诱导 Reviewer 接受实现者结论的叙事，例如“为什么这个方案肯定正确”</a:t>
            </a:r>
            <a:endParaRPr lang="en-US" sz="1300" noProof="1"/>
          </a:p>
        </p:txBody>
      </p:sp>
      <p:sp>
        <p:nvSpPr>
          <p:cNvPr id="9" name="pr-rule"/>
          <p:cNvSpPr/>
          <p:nvPr>
            <p:extLst>
              <p:ext uri="{F5677B7D-0D2A-4D9B-9A5C-6D8D7D0E5A5D}">
                <pptd:line encoding="base64url">eyJ2aWV3Qm94IjpbMzI0LDFdLCJwb2ludHMiOiIwLDAgMzI0LDAiLCJjdXJ2ZSI6InNoYXJwIn0</pptd:line>
              </p:ext>
            </p:extLst>
          </p:nvPr>
        </p:nvSpPr>
        <p:spPr>
          <a:xfrm>
            <a:off x="7315200" y="3632200"/>
            <a:ext cx="4114800" cy="12700"/>
          </a:xfrm>
          <a:custGeom>
            <a:avLst/>
            <a:gdLst/>
            <a:ahLst/>
            <a:cxnLst/>
            <a:rect l="l" t="t" r="r" b="b"/>
            <a:pathLst>
              <a:path w="324" h="1">
                <a:moveTo>
                  <a:pt x="0" y="0"/>
                </a:moveTo>
                <a:lnTo>
                  <a:pt x="324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0" name="pr-tip"/>
          <p:cNvSpPr txBox="1"/>
          <p:nvPr/>
        </p:nvSpPr>
        <p:spPr>
          <a:xfrm>
            <a:off x="7315200" y="3835400"/>
            <a:ext cx="41148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由 Builder 生成一份</a:t>
            </a: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短交接包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，而不是复制整个主会话。Reviewer 在新上下文中只读这份包与白名单材料——隔离的是过程，共享的是标准。</a:t>
            </a:r>
            <a:endParaRPr lang="en-US" sz="1350" noProof="1"/>
          </a:p>
        </p:txBody>
      </p:sp>
      <p:sp>
        <p:nvSpPr>
          <p:cNvPr id="11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2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21</a:t>
            </a:r>
            <a:endParaRPr lang="en-US" sz="10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第五章 · 实际样例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实际样例：OpenCode 中一次完整的 Builder → Reviewer 委托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ph1-box"/>
          <p:cNvSpPr/>
          <p:nvPr/>
        </p:nvSpPr>
        <p:spPr>
          <a:xfrm>
            <a:off x="762000" y="1600200"/>
            <a:ext cx="5207000" cy="2540000"/>
          </a:xfrm>
          <a:prstGeom prst="rect">
            <a:avLst/>
          </a:prstGeom>
          <a:solidFill>
            <a:srgbClr val="F2EFE7"/>
          </a:solidFill>
          <a:ln w="19050">
            <a:solidFill>
              <a:srgbClr val="6E675E"/>
            </a:solidFill>
            <a:prstDash val="dash"/>
          </a:ln>
        </p:spPr>
      </p:sp>
      <p:sp>
        <p:nvSpPr>
          <p:cNvPr id="6" name="ph1-icon"/>
          <p:cNvSpPr/>
          <p:nvPr>
            <p:extLst>
              <p:ext uri="{F5677B7D-0D2A-4D9B-9A5C-6D8D7D0E5A5D}">
                <pptd:icon encoding="base64url">eyJpY29uTmFtZSI6ImZhczp0ZXJtaW5hbCJ9</pptd:icon>
              </p:ext>
            </p:extLst>
          </p:nvPr>
        </p:nvSpPr>
        <p:spPr>
          <a:xfrm>
            <a:off x="3111500" y="2133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" y="119"/>
                </a:moveTo>
                <a:cubicBezTo>
                  <a:pt x="-3" y="106"/>
                  <a:pt x="-3" y="86"/>
                  <a:pt x="9" y="73"/>
                </a:cubicBezTo>
                <a:cubicBezTo>
                  <a:pt x="22" y="61"/>
                  <a:pt x="42" y="61"/>
                  <a:pt x="55" y="73"/>
                </a:cubicBezTo>
                <a:lnTo>
                  <a:pt x="215" y="233"/>
                </a:lnTo>
                <a:cubicBezTo>
                  <a:pt x="227" y="246"/>
                  <a:pt x="227" y="266"/>
                  <a:pt x="215" y="279"/>
                </a:cubicBezTo>
                <a:lnTo>
                  <a:pt x="55" y="439"/>
                </a:lnTo>
                <a:cubicBezTo>
                  <a:pt x="42" y="451"/>
                  <a:pt x="22" y="451"/>
                  <a:pt x="9" y="439"/>
                </a:cubicBezTo>
                <a:cubicBezTo>
                  <a:pt x="-3" y="426"/>
                  <a:pt x="-3" y="406"/>
                  <a:pt x="9" y="393"/>
                </a:cubicBezTo>
                <a:lnTo>
                  <a:pt x="147" y="256"/>
                </a:lnTo>
                <a:lnTo>
                  <a:pt x="9" y="119"/>
                </a:lnTo>
                <a:close/>
                <a:moveTo>
                  <a:pt x="224" y="384"/>
                </a:move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224" y="448"/>
                </a:lnTo>
                <a:cubicBezTo>
                  <a:pt x="206" y="448"/>
                  <a:pt x="192" y="434"/>
                  <a:pt x="192" y="416"/>
                </a:cubicBezTo>
                <a:cubicBezTo>
                  <a:pt x="192" y="398"/>
                  <a:pt x="206" y="384"/>
                  <a:pt x="224" y="384"/>
                </a:cubicBezTo>
                <a:close/>
              </a:path>
            </a:pathLst>
          </a:custGeom>
          <a:solidFill>
            <a:srgbClr val="6E675E"/>
          </a:solidFill>
          <a:ln>
            <a:noFill/>
          </a:ln>
        </p:spPr>
      </p:sp>
      <p:sp>
        <p:nvSpPr>
          <p:cNvPr id="7" name="ph1-text"/>
          <p:cNvSpPr txBox="1"/>
          <p:nvPr/>
        </p:nvSpPr>
        <p:spPr>
          <a:xfrm>
            <a:off x="1143000" y="2768600"/>
            <a:ext cx="444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6E675E"/>
                </a:solidFill>
                <a:latin typeface="MiSans"/>
                <a:ea typeface="MiSans"/>
              </a:rPr>
              <a:t>截图占位 A</a:t>
            </a: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（可编辑区域）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Primary 会话中发起委托的位置</a:t>
            </a:r>
            <a:endParaRPr lang="en-US" sz="1200" noProof="1"/>
          </a:p>
        </p:txBody>
      </p:sp>
      <p:sp>
        <p:nvSpPr>
          <p:cNvPr id="8" name="ph2-box"/>
          <p:cNvSpPr/>
          <p:nvPr/>
        </p:nvSpPr>
        <p:spPr>
          <a:xfrm>
            <a:off x="6223000" y="1600200"/>
            <a:ext cx="5207000" cy="2540000"/>
          </a:xfrm>
          <a:prstGeom prst="rect">
            <a:avLst/>
          </a:prstGeom>
          <a:solidFill>
            <a:srgbClr val="F2EFE7"/>
          </a:solidFill>
          <a:ln w="19050">
            <a:solidFill>
              <a:srgbClr val="6E675E"/>
            </a:solidFill>
            <a:prstDash val="dash"/>
          </a:ln>
        </p:spPr>
      </p:sp>
      <p:sp>
        <p:nvSpPr>
          <p:cNvPr id="9" name="ph2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8572500" y="2133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6E675E"/>
          </a:solidFill>
          <a:ln>
            <a:noFill/>
          </a:ln>
        </p:spPr>
      </p:sp>
      <p:sp>
        <p:nvSpPr>
          <p:cNvPr id="10" name="ph2-text"/>
          <p:cNvSpPr txBox="1"/>
          <p:nvPr/>
        </p:nvSpPr>
        <p:spPr>
          <a:xfrm>
            <a:off x="6604000" y="2768600"/>
            <a:ext cx="444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6E675E"/>
                </a:solidFill>
                <a:latin typeface="MiSans"/>
                <a:ea typeface="MiSans"/>
              </a:rPr>
              <a:t>截图占位 B</a:t>
            </a: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（可编辑区域）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child session 中 Reviewer 的独立上下文与输出</a:t>
            </a:r>
            <a:endParaRPr lang="en-US" sz="1200" noProof="1"/>
          </a:p>
        </p:txBody>
      </p:sp>
      <p:sp>
        <p:nvSpPr>
          <p:cNvPr id="11" name="guide-label"/>
          <p:cNvSpPr txBox="1"/>
          <p:nvPr/>
        </p:nvSpPr>
        <p:spPr>
          <a:xfrm>
            <a:off x="762000" y="4470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建议截图包含</a:t>
            </a:r>
            <a:endParaRPr lang="en-US" sz="1100" noProof="1"/>
          </a:p>
        </p:txBody>
      </p:sp>
      <p:sp>
        <p:nvSpPr>
          <p:cNvPr id="12" name="guide-list"/>
          <p:cNvSpPr txBox="1"/>
          <p:nvPr/>
        </p:nvSpPr>
        <p:spPr>
          <a:xfrm>
            <a:off x="762000" y="4775200"/>
            <a:ext cx="660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.opencode/agents/ 目录下的 builder.md 与 reviewer.md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②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Builder 生成的 Review Handoff 内容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③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一次真实的 FAIL 结论及 finding 列表（最好抓到预埋缺陷）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④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对比：Builder 自评 vs Reviewer 独立验收发现的问题</a:t>
            </a:r>
            <a:endParaRPr lang="en-US" sz="1250" noProof="1"/>
          </a:p>
        </p:txBody>
      </p:sp>
      <p:sp>
        <p:nvSpPr>
          <p:cNvPr id="13" name="guide-note"/>
          <p:cNvSpPr txBox="1"/>
          <p:nvPr/>
        </p:nvSpPr>
        <p:spPr>
          <a:xfrm>
            <a:off x="7874000" y="4775200"/>
            <a:ext cx="355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讲解重点：拆分的价值不在角色名称，而在新上下文、无编辑权限、只按标准与证据判断、可以直接 FAIL。</a:t>
            </a:r>
            <a:endParaRPr lang="en-US" sz="1200" noProof="1"/>
          </a:p>
        </p:txBody>
      </p:sp>
      <p:sp>
        <p:nvSpPr>
          <p:cNvPr id="14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5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22</a:t>
            </a:r>
            <a:endParaRPr lang="en-US" sz="10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1016000" y="1524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 b="1">
                <a:solidFill>
                  <a:srgbClr val="F1E3D9"/>
                </a:solidFill>
                <a:latin typeface="思源宋体"/>
                <a:ea typeface="思源宋体"/>
              </a:rPr>
              <a:t>06</a:t>
            </a:r>
            <a:endParaRPr lang="en-US" sz="9600" noProof="1"/>
          </a:p>
        </p:txBody>
      </p:sp>
      <p:sp>
        <p:nvSpPr>
          <p:cNvPr id="3" name="ch-label"/>
          <p:cNvSpPr txBox="1"/>
          <p:nvPr/>
        </p:nvSpPr>
        <p:spPr>
          <a:xfrm>
            <a:off x="1066800" y="2997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第六章</a:t>
            </a:r>
            <a:endParaRPr lang="en-US" sz="1200" noProof="1"/>
          </a:p>
        </p:txBody>
      </p:sp>
      <p:sp>
        <p:nvSpPr>
          <p:cNvPr id="4" name="ch-title"/>
          <p:cNvSpPr txBox="1"/>
          <p:nvPr/>
        </p:nvSpPr>
        <p:spPr>
          <a:xfrm>
            <a:off x="1066800" y="3276600"/>
            <a:ext cx="965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11D19"/>
                </a:solidFill>
                <a:latin typeface="思源宋体"/>
                <a:ea typeface="思源宋体"/>
              </a:rPr>
              <a:t>两种基本协作模式：串行与并行</a:t>
            </a:r>
            <a:endParaRPr lang="en-US" sz="3400" noProof="1"/>
          </a:p>
        </p:txBody>
      </p:sp>
      <p:sp>
        <p:nvSpPr>
          <p:cNvPr id="5" name="ch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66800" y="4089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6" name="ch-points"/>
          <p:cNvSpPr txBox="1"/>
          <p:nvPr/>
        </p:nvSpPr>
        <p:spPr>
          <a:xfrm>
            <a:off x="1066800" y="4368800"/>
            <a:ext cx="914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串行：依赖链与“生成—验收—修复”闭环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并行：独立子任务 + 统一结构 + 汇总规则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最难的不是 gather，而是 aggregate</a:t>
            </a:r>
            <a:endParaRPr lang="en-US" sz="1500" noProof="1"/>
          </a:p>
        </p:txBody>
      </p:sp>
      <p:sp>
        <p:nvSpPr>
          <p:cNvPr id="7" name="ft-left"/>
          <p:cNvSpPr txBox="1"/>
          <p:nvPr/>
        </p:nvSpPr>
        <p:spPr>
          <a:xfrm>
            <a:off x="1016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23</a:t>
            </a:r>
            <a:endParaRPr lang="en-US" sz="10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第六章 · 两种模式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串行解决依赖，并行解决耗时与独立证据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ser-label"/>
          <p:cNvSpPr txBox="1"/>
          <p:nvPr/>
        </p:nvSpPr>
        <p:spPr>
          <a:xfrm>
            <a:off x="7620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串行：等待结果后继续</a:t>
            </a:r>
            <a:endParaRPr lang="en-US" sz="1100" noProof="1"/>
          </a:p>
        </p:txBody>
      </p:sp>
      <p:sp>
        <p:nvSpPr>
          <p:cNvPr id="6" name="ser-b1"/>
          <p:cNvSpPr/>
          <p:nvPr/>
        </p:nvSpPr>
        <p:spPr>
          <a:xfrm>
            <a:off x="762000" y="1854200"/>
            <a:ext cx="1524000" cy="5842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7" name="ser-b1t"/>
          <p:cNvSpPr txBox="1"/>
          <p:nvPr/>
        </p:nvSpPr>
        <p:spPr>
          <a:xfrm>
            <a:off x="762000" y="1854200"/>
            <a:ext cx="152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Primary 准备任务</a:t>
            </a:r>
            <a:endParaRPr lang="en-US" sz="1150" noProof="1"/>
          </a:p>
        </p:txBody>
      </p:sp>
      <p:sp>
        <p:nvSpPr>
          <p:cNvPr id="8" name="ser-a1"/>
          <p:cNvSpPr/>
          <p:nvPr>
            <p:extLst>
              <p:ext uri="{F5677B7D-0D2A-4D9B-9A5C-6D8D7D0E5A5D}">
                <pptd:line encoding="base64url">eyJ2aWV3Qm94IjpbMzAsMV0sInBvaW50cyI6IjAsMCAzMCwwIiwiY3VydmUiOiJzaGFycCJ9</pptd:line>
              </p:ext>
            </p:extLst>
          </p:nvPr>
        </p:nvSpPr>
        <p:spPr>
          <a:xfrm>
            <a:off x="2336800" y="2133600"/>
            <a:ext cx="381000" cy="12700"/>
          </a:xfrm>
          <a:custGeom>
            <a:avLst/>
            <a:gdLst/>
            <a:ahLst/>
            <a:cxnLst/>
            <a:rect l="l" t="t" r="r" b="b"/>
            <a:pathLst>
              <a:path w="30" h="1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9" name="ser-b2"/>
          <p:cNvSpPr/>
          <p:nvPr/>
        </p:nvSpPr>
        <p:spPr>
          <a:xfrm>
            <a:off x="2768600" y="1854200"/>
            <a:ext cx="1524000" cy="584200"/>
          </a:xfrm>
          <a:prstGeom prst="rect">
            <a:avLst/>
          </a:prstGeom>
          <a:solidFill>
            <a:srgbClr val="F1E3D9"/>
          </a:solidFill>
          <a:ln w="19050">
            <a:solidFill>
              <a:srgbClr val="B4532A"/>
            </a:solidFill>
          </a:ln>
        </p:spPr>
      </p:sp>
      <p:sp>
        <p:nvSpPr>
          <p:cNvPr id="10" name="ser-b2t"/>
          <p:cNvSpPr txBox="1"/>
          <p:nvPr/>
        </p:nvSpPr>
        <p:spPr>
          <a:xfrm>
            <a:off x="2768600" y="1854200"/>
            <a:ext cx="152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B4532A"/>
                </a:solidFill>
                <a:latin typeface="MiSans"/>
                <a:ea typeface="MiSans"/>
              </a:rPr>
              <a:t>Subagent 处理</a:t>
            </a:r>
            <a:endParaRPr lang="en-US" sz="1150" noProof="1"/>
          </a:p>
        </p:txBody>
      </p:sp>
      <p:sp>
        <p:nvSpPr>
          <p:cNvPr id="11" name="ser-a2"/>
          <p:cNvSpPr/>
          <p:nvPr>
            <p:extLst>
              <p:ext uri="{F5677B7D-0D2A-4D9B-9A5C-6D8D7D0E5A5D}">
                <pptd:line encoding="base64url">eyJ2aWV3Qm94IjpbMzAsMV0sInBvaW50cyI6IjAsMCAzMCwwIiwiY3VydmUiOiJzaGFycCJ9</pptd:line>
              </p:ext>
            </p:extLst>
          </p:nvPr>
        </p:nvSpPr>
        <p:spPr>
          <a:xfrm>
            <a:off x="4343400" y="2133600"/>
            <a:ext cx="381000" cy="12700"/>
          </a:xfrm>
          <a:custGeom>
            <a:avLst/>
            <a:gdLst/>
            <a:ahLst/>
            <a:cxnLst/>
            <a:rect l="l" t="t" r="r" b="b"/>
            <a:pathLst>
              <a:path w="30" h="1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2" name="ser-b3"/>
          <p:cNvSpPr/>
          <p:nvPr/>
        </p:nvSpPr>
        <p:spPr>
          <a:xfrm>
            <a:off x="4775200" y="1854200"/>
            <a:ext cx="1524000" cy="5842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13" name="ser-b3t"/>
          <p:cNvSpPr txBox="1"/>
          <p:nvPr/>
        </p:nvSpPr>
        <p:spPr>
          <a:xfrm>
            <a:off x="4775200" y="1854200"/>
            <a:ext cx="152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消费结果</a:t>
            </a:r>
            <a:endParaRPr lang="en-US" sz="1150" noProof="1"/>
          </a:p>
        </p:txBody>
      </p:sp>
      <p:sp>
        <p:nvSpPr>
          <p:cNvPr id="14" name="ser-cases"/>
          <p:cNvSpPr txBox="1"/>
          <p:nvPr/>
        </p:nvSpPr>
        <p:spPr>
          <a:xfrm>
            <a:off x="762000" y="2641600"/>
            <a:ext cx="5537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适合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：下一步依赖上一步结果；能力转换链（先看图再推理）；生成—验收—修复闭环；子任务少、协调成本需最低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典型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：文本 Primary → 视觉 Agent → 回答；Builder → Reviewer → 修复 → 复验</a:t>
            </a:r>
            <a:endParaRPr lang="en-US" sz="1250" noProof="1"/>
          </a:p>
        </p:txBody>
      </p:sp>
      <p:sp>
        <p:nvSpPr>
          <p:cNvPr id="15" name="ser-warn"/>
          <p:cNvSpPr txBox="1"/>
          <p:nvPr/>
        </p:nvSpPr>
        <p:spPr>
          <a:xfrm>
            <a:off x="762000" y="4267200"/>
            <a:ext cx="5537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B3261E"/>
                </a:solidFill>
                <a:latin typeface="MiSans"/>
                <a:ea typeface="MiSans"/>
              </a:rPr>
              <a:t>必须设最大循环次数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——没有最大轮次的闭环不是闭环，是漩涡。</a:t>
            </a:r>
            <a:endParaRPr lang="en-US" sz="1250" noProof="1"/>
          </a:p>
        </p:txBody>
      </p:sp>
      <p:sp>
        <p:nvSpPr>
          <p:cNvPr id="16" name="mid-divider"/>
          <p:cNvSpPr/>
          <p:nvPr>
            <p:extLst>
              <p:ext uri="{F5677B7D-0D2A-4D9B-9A5C-6D8D7D0E5A5D}">
                <pptd:line encoding="base64url">eyJ2aWV3Qm94IjpbMSwzNTBdLCJwb2ludHMiOiIwLDAgMCwzNTAiLCJjdXJ2ZSI6InNoYXJwIn0</pptd:line>
              </p:ext>
            </p:extLst>
          </p:nvPr>
        </p:nvSpPr>
        <p:spPr>
          <a:xfrm>
            <a:off x="6477000" y="1549400"/>
            <a:ext cx="12700" cy="4445000"/>
          </a:xfrm>
          <a:custGeom>
            <a:avLst/>
            <a:gdLst/>
            <a:ahLst/>
            <a:cxnLst/>
            <a:rect l="l" t="t" r="r" b="b"/>
            <a:pathLst>
              <a:path w="1" h="350">
                <a:moveTo>
                  <a:pt x="0" y="0"/>
                </a:moveTo>
                <a:lnTo>
                  <a:pt x="0" y="35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7" name="par-label"/>
          <p:cNvSpPr txBox="1"/>
          <p:nvPr/>
        </p:nvSpPr>
        <p:spPr>
          <a:xfrm>
            <a:off x="67818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并行：同时启动，统一汇总</a:t>
            </a:r>
            <a:endParaRPr lang="en-US" sz="1100" noProof="1"/>
          </a:p>
        </p:txBody>
      </p:sp>
      <p:sp>
        <p:nvSpPr>
          <p:cNvPr id="18" name="par-b0"/>
          <p:cNvSpPr/>
          <p:nvPr/>
        </p:nvSpPr>
        <p:spPr>
          <a:xfrm>
            <a:off x="6781800" y="1854200"/>
            <a:ext cx="1397000" cy="5842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19" name="par-b0t"/>
          <p:cNvSpPr txBox="1"/>
          <p:nvPr/>
        </p:nvSpPr>
        <p:spPr>
          <a:xfrm>
            <a:off x="6781800" y="1854200"/>
            <a:ext cx="1397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Primary 拆分</a:t>
            </a:r>
            <a:endParaRPr lang="en-US" sz="1150" noProof="1"/>
          </a:p>
        </p:txBody>
      </p:sp>
      <p:sp>
        <p:nvSpPr>
          <p:cNvPr id="20" name="par-b1"/>
          <p:cNvSpPr/>
          <p:nvPr/>
        </p:nvSpPr>
        <p:spPr>
          <a:xfrm>
            <a:off x="8737600" y="1549400"/>
            <a:ext cx="1270000" cy="457200"/>
          </a:xfrm>
          <a:prstGeom prst="rect">
            <a:avLst/>
          </a:prstGeom>
          <a:solidFill>
            <a:srgbClr val="F1E3D9"/>
          </a:solidFill>
          <a:ln w="12700">
            <a:solidFill>
              <a:srgbClr val="B4532A"/>
            </a:solidFill>
          </a:ln>
        </p:spPr>
      </p:sp>
      <p:sp>
        <p:nvSpPr>
          <p:cNvPr id="21" name="par-b1t"/>
          <p:cNvSpPr txBox="1"/>
          <p:nvPr/>
        </p:nvSpPr>
        <p:spPr>
          <a:xfrm>
            <a:off x="8737600" y="1549400"/>
            <a:ext cx="127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B4532A"/>
                </a:solidFill>
                <a:latin typeface="MiSans"/>
                <a:ea typeface="MiSans"/>
              </a:rPr>
              <a:t>功能检查</a:t>
            </a:r>
            <a:endParaRPr lang="en-US" sz="1100" noProof="1"/>
          </a:p>
        </p:txBody>
      </p:sp>
      <p:sp>
        <p:nvSpPr>
          <p:cNvPr id="22" name="par-b2"/>
          <p:cNvSpPr/>
          <p:nvPr/>
        </p:nvSpPr>
        <p:spPr>
          <a:xfrm>
            <a:off x="8737600" y="2108200"/>
            <a:ext cx="1270000" cy="457200"/>
          </a:xfrm>
          <a:prstGeom prst="rect">
            <a:avLst/>
          </a:prstGeom>
          <a:solidFill>
            <a:srgbClr val="F1E3D9"/>
          </a:solidFill>
          <a:ln w="12700">
            <a:solidFill>
              <a:srgbClr val="B4532A"/>
            </a:solidFill>
          </a:ln>
        </p:spPr>
      </p:sp>
      <p:sp>
        <p:nvSpPr>
          <p:cNvPr id="23" name="par-b2t"/>
          <p:cNvSpPr txBox="1"/>
          <p:nvPr/>
        </p:nvSpPr>
        <p:spPr>
          <a:xfrm>
            <a:off x="8737600" y="2108200"/>
            <a:ext cx="127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B4532A"/>
                </a:solidFill>
                <a:latin typeface="MiSans"/>
                <a:ea typeface="MiSans"/>
              </a:rPr>
              <a:t>安全检查</a:t>
            </a:r>
            <a:endParaRPr lang="en-US" sz="1100" noProof="1"/>
          </a:p>
        </p:txBody>
      </p:sp>
      <p:sp>
        <p:nvSpPr>
          <p:cNvPr id="24" name="par-b3"/>
          <p:cNvSpPr/>
          <p:nvPr/>
        </p:nvSpPr>
        <p:spPr>
          <a:xfrm>
            <a:off x="8737600" y="2667000"/>
            <a:ext cx="1270000" cy="457200"/>
          </a:xfrm>
          <a:prstGeom prst="rect">
            <a:avLst/>
          </a:prstGeom>
          <a:solidFill>
            <a:srgbClr val="F1E3D9"/>
          </a:solidFill>
          <a:ln w="12700">
            <a:solidFill>
              <a:srgbClr val="B4532A"/>
            </a:solidFill>
          </a:ln>
        </p:spPr>
      </p:sp>
      <p:sp>
        <p:nvSpPr>
          <p:cNvPr id="25" name="par-b3t"/>
          <p:cNvSpPr txBox="1"/>
          <p:nvPr/>
        </p:nvSpPr>
        <p:spPr>
          <a:xfrm>
            <a:off x="8737600" y="2667000"/>
            <a:ext cx="127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B4532A"/>
                </a:solidFill>
                <a:latin typeface="MiSans"/>
                <a:ea typeface="MiSans"/>
              </a:rPr>
              <a:t>性能检查</a:t>
            </a:r>
            <a:endParaRPr lang="en-US" sz="1100" noProof="1"/>
          </a:p>
        </p:txBody>
      </p:sp>
      <p:sp>
        <p:nvSpPr>
          <p:cNvPr id="26" name="par-m"/>
          <p:cNvSpPr/>
          <p:nvPr/>
        </p:nvSpPr>
        <p:spPr>
          <a:xfrm>
            <a:off x="10414000" y="1981200"/>
            <a:ext cx="1016000" cy="711200"/>
          </a:xfrm>
          <a:prstGeom prst="rect">
            <a:avLst/>
          </a:prstGeom>
          <a:solidFill>
            <a:srgbClr val="DFEAE6"/>
          </a:solidFill>
          <a:ln w="12700">
            <a:solidFill>
              <a:srgbClr val="166E63"/>
            </a:solidFill>
          </a:ln>
        </p:spPr>
      </p:sp>
      <p:sp>
        <p:nvSpPr>
          <p:cNvPr id="27" name="par-mt"/>
          <p:cNvSpPr txBox="1"/>
          <p:nvPr/>
        </p:nvSpPr>
        <p:spPr>
          <a:xfrm>
            <a:off x="10414000" y="19812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66E63"/>
                </a:solidFill>
                <a:latin typeface="MiSans"/>
                <a:ea typeface="MiSans"/>
              </a:rPr>
              <a:t>结构化汇总</a:t>
            </a:r>
            <a:endParaRPr lang="en-US" sz="1100" noProof="1"/>
          </a:p>
        </p:txBody>
      </p:sp>
      <p:sp>
        <p:nvSpPr>
          <p:cNvPr id="28" name="par-l1"/>
          <p:cNvSpPr/>
          <p:nvPr>
            <p:extLst>
              <p:ext uri="{F5677B7D-0D2A-4D9B-9A5C-6D8D7D0E5A5D}">
                <pptd:line encoding="base64url">eyJ2aWV3Qm94IjpbMzYsMzBdLCJwb2ludHMiOiIwLDMwIDM2LDAiLCJjdXJ2ZSI6InNoYXJwIn0</pptd:line>
              </p:ext>
            </p:extLst>
          </p:nvPr>
        </p:nvSpPr>
        <p:spPr>
          <a:xfrm>
            <a:off x="8229600" y="17780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36" h="30">
                <a:moveTo>
                  <a:pt x="0" y="30"/>
                </a:moveTo>
                <a:lnTo>
                  <a:pt x="36" y="0"/>
                </a:lnTo>
              </a:path>
            </a:pathLst>
          </a:custGeom>
          <a:noFill/>
          <a:ln w="15240">
            <a:solidFill>
              <a:srgbClr val="6E675E"/>
            </a:solidFill>
            <a:tailEnd type="arrow"/>
          </a:ln>
        </p:spPr>
      </p:sp>
      <p:sp>
        <p:nvSpPr>
          <p:cNvPr id="29" name="par-l2"/>
          <p:cNvSpPr/>
          <p:nvPr>
            <p:extLst>
              <p:ext uri="{F5677B7D-0D2A-4D9B-9A5C-6D8D7D0E5A5D}">
                <pptd:line encoding="base64url">eyJ2aWV3Qm94IjpbMzYsMV0sInBvaW50cyI6IjAsMCAzNiwwIiwiY3VydmUiOiJzaGFycCJ9</pptd:line>
              </p:ext>
            </p:extLst>
          </p:nvPr>
        </p:nvSpPr>
        <p:spPr>
          <a:xfrm>
            <a:off x="8229600" y="2336800"/>
            <a:ext cx="457200" cy="12700"/>
          </a:xfrm>
          <a:custGeom>
            <a:avLst/>
            <a:gdLst/>
            <a:ahLst/>
            <a:cxnLst/>
            <a:rect l="l" t="t" r="r" b="b"/>
            <a:pathLst>
              <a:path w="36" h="1">
                <a:moveTo>
                  <a:pt x="0" y="0"/>
                </a:moveTo>
                <a:lnTo>
                  <a:pt x="36" y="0"/>
                </a:lnTo>
              </a:path>
            </a:pathLst>
          </a:custGeom>
          <a:noFill/>
          <a:ln w="15240">
            <a:solidFill>
              <a:srgbClr val="6E675E"/>
            </a:solidFill>
            <a:tailEnd type="arrow"/>
          </a:ln>
        </p:spPr>
      </p:sp>
      <p:sp>
        <p:nvSpPr>
          <p:cNvPr id="30" name="par-l3"/>
          <p:cNvSpPr/>
          <p:nvPr>
            <p:extLst>
              <p:ext uri="{F5677B7D-0D2A-4D9B-9A5C-6D8D7D0E5A5D}">
                <pptd:line encoding="base64url">eyJ2aWV3Qm94IjpbMzYsNDRdLCJwb2ludHMiOiIwLDAgMzYsNDQiLCJjdXJ2ZSI6InNoYXJwIn0</pptd:line>
              </p:ext>
            </p:extLst>
          </p:nvPr>
        </p:nvSpPr>
        <p:spPr>
          <a:xfrm>
            <a:off x="8229600" y="2336800"/>
            <a:ext cx="457200" cy="558800"/>
          </a:xfrm>
          <a:custGeom>
            <a:avLst/>
            <a:gdLst/>
            <a:ahLst/>
            <a:cxnLst/>
            <a:rect l="l" t="t" r="r" b="b"/>
            <a:pathLst>
              <a:path w="36" h="44">
                <a:moveTo>
                  <a:pt x="0" y="0"/>
                </a:moveTo>
                <a:lnTo>
                  <a:pt x="36" y="44"/>
                </a:lnTo>
              </a:path>
            </a:pathLst>
          </a:custGeom>
          <a:noFill/>
          <a:ln w="15240">
            <a:solidFill>
              <a:srgbClr val="6E675E"/>
            </a:solidFill>
            <a:tailEnd type="arrow"/>
          </a:ln>
        </p:spPr>
      </p:sp>
      <p:sp>
        <p:nvSpPr>
          <p:cNvPr id="31" name="par-m1"/>
          <p:cNvSpPr/>
          <p:nvPr>
            <p:extLst>
              <p:ext uri="{F5677B7D-0D2A-4D9B-9A5C-6D8D7D0E5A5D}">
                <pptd:line encoding="base64url">eyJ2aWV3Qm94IjpbMjQsMzBdLCJwb2ludHMiOiIwLDAgMjQsMzAiLCJjdXJ2ZSI6InNoYXJwIn0</pptd:line>
              </p:ext>
            </p:extLst>
          </p:nvPr>
        </p:nvSpPr>
        <p:spPr>
          <a:xfrm>
            <a:off x="10058400" y="17780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24" h="30">
                <a:moveTo>
                  <a:pt x="0" y="0"/>
                </a:moveTo>
                <a:lnTo>
                  <a:pt x="24" y="30"/>
                </a:lnTo>
              </a:path>
            </a:pathLst>
          </a:custGeom>
          <a:noFill/>
          <a:ln w="15240">
            <a:solidFill>
              <a:srgbClr val="6E675E"/>
            </a:solidFill>
            <a:tailEnd type="arrow"/>
          </a:ln>
        </p:spPr>
      </p:sp>
      <p:sp>
        <p:nvSpPr>
          <p:cNvPr id="32" name="par-m2"/>
          <p:cNvSpPr/>
          <p:nvPr>
            <p:extLst>
              <p:ext uri="{F5677B7D-0D2A-4D9B-9A5C-6D8D7D0E5A5D}">
                <pptd:line encoding="base64url">eyJ2aWV3Qm94IjpbMjQsMV0sInBvaW50cyI6IjAsMCAyNCwwIiwiY3VydmUiOiJzaGFycCJ9</pptd:line>
              </p:ext>
            </p:extLst>
          </p:nvPr>
        </p:nvSpPr>
        <p:spPr>
          <a:xfrm>
            <a:off x="10058400" y="2336800"/>
            <a:ext cx="304800" cy="12700"/>
          </a:xfrm>
          <a:custGeom>
            <a:avLst/>
            <a:gdLst/>
            <a:ahLst/>
            <a:cxnLst/>
            <a:rect l="l" t="t" r="r" b="b"/>
            <a:pathLst>
              <a:path w="24" h="1">
                <a:moveTo>
                  <a:pt x="0" y="0"/>
                </a:moveTo>
                <a:lnTo>
                  <a:pt x="24" y="0"/>
                </a:lnTo>
              </a:path>
            </a:pathLst>
          </a:custGeom>
          <a:noFill/>
          <a:ln w="15240">
            <a:solidFill>
              <a:srgbClr val="6E675E"/>
            </a:solidFill>
            <a:tailEnd type="arrow"/>
          </a:ln>
        </p:spPr>
      </p:sp>
      <p:sp>
        <p:nvSpPr>
          <p:cNvPr id="33" name="par-m3"/>
          <p:cNvSpPr/>
          <p:nvPr>
            <p:extLst>
              <p:ext uri="{F5677B7D-0D2A-4D9B-9A5C-6D8D7D0E5A5D}">
                <pptd:line encoding="base64url">eyJ2aWV3Qm94IjpbMjQsMzBdLCJwb2ludHMiOiIwLDMwIDI0LDAiLCJjdXJ2ZSI6InNoYXJwIn0</pptd:line>
              </p:ext>
            </p:extLst>
          </p:nvPr>
        </p:nvSpPr>
        <p:spPr>
          <a:xfrm>
            <a:off x="10058400" y="25146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24" h="30">
                <a:moveTo>
                  <a:pt x="0" y="30"/>
                </a:moveTo>
                <a:lnTo>
                  <a:pt x="24" y="0"/>
                </a:lnTo>
              </a:path>
            </a:pathLst>
          </a:custGeom>
          <a:noFill/>
          <a:ln w="15240">
            <a:solidFill>
              <a:srgbClr val="6E675E"/>
            </a:solidFill>
            <a:tailEnd type="arrow"/>
          </a:ln>
        </p:spPr>
      </p:sp>
      <p:sp>
        <p:nvSpPr>
          <p:cNvPr id="34" name="par-cases"/>
          <p:cNvSpPr txBox="1"/>
          <p:nvPr/>
        </p:nvSpPr>
        <p:spPr>
          <a:xfrm>
            <a:off x="6781800" y="3327400"/>
            <a:ext cx="4648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适合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：子任务互不依赖；启动时输入已完整；结果可按统一结构合并；希望缩短总耗时或获得独立证据</a:t>
            </a:r>
            <a:endParaRPr lang="en-US" sz="1250" noProof="1"/>
          </a:p>
        </p:txBody>
      </p:sp>
      <p:sp>
        <p:nvSpPr>
          <p:cNvPr id="35" name="par-code"/>
          <p:cNvSpPr txBox="1"/>
          <p:nvPr/>
        </p:nvSpPr>
        <p:spPr>
          <a:xfrm>
            <a:off x="6781800" y="4267200"/>
            <a:ext cx="4648200" cy="1143000"/>
          </a:xfrm>
          <a:prstGeom prst="rect">
            <a:avLst/>
          </a:prstGeom>
          <a:solidFill>
            <a:srgbClr val="F2EFE7"/>
          </a:solidFill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results = await asyncio.gather(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functional(task), security(task),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  performance(task), return_exceptions=True)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37322B"/>
                </a:solidFill>
                <a:latin typeface="JetBrains Mono"/>
                <a:ea typeface="JetBrains Mono"/>
              </a:rPr>
              <a:t>return aggregate(results)  # 难点在这里</a:t>
            </a:r>
            <a:endParaRPr lang="en-US" sz="1000" noProof="1"/>
          </a:p>
        </p:txBody>
      </p:sp>
      <p:sp>
        <p:nvSpPr>
          <p:cNvPr id="36" name="bottom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5740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37" name="bottom-quote"/>
          <p:cNvSpPr txBox="1"/>
          <p:nvPr/>
        </p:nvSpPr>
        <p:spPr>
          <a:xfrm>
            <a:off x="762000" y="58928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55000"/>
              </a:lnSpc>
            </a:pP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这里最难的不是 gather，而是 aggregate。</a:t>
            </a:r>
            <a:endParaRPr lang="en-US" sz="1450" noProof="1"/>
          </a:p>
        </p:txBody>
      </p:sp>
      <p:sp>
        <p:nvSpPr>
          <p:cNvPr id="38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39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24</a:t>
            </a:r>
            <a:endParaRPr lang="en-US" sz="10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第六章 · 汇总与选择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并行结果不能只靠多数投票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vote-label"/>
          <p:cNvSpPr txBox="1"/>
          <p:nvPr/>
        </p:nvSpPr>
        <p:spPr>
          <a:xfrm>
            <a:off x="762000" y="14986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为什么投票不够</a:t>
            </a:r>
            <a:endParaRPr lang="en-US" sz="1100" noProof="1"/>
          </a:p>
        </p:txBody>
      </p:sp>
      <p:sp>
        <p:nvSpPr>
          <p:cNvPr id="6" name="vote-text"/>
          <p:cNvSpPr txBox="1"/>
          <p:nvPr/>
        </p:nvSpPr>
        <p:spPr>
          <a:xfrm>
            <a:off x="762000" y="1778000"/>
            <a:ext cx="5334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三个 Agent 中两个返回 PASS，不代表任务应当通过。安全 Agent 若发现了有证据支持的高危漏洞，不应被另外两个 PASS 投票覆盖。</a:t>
            </a:r>
            <a:endParaRPr lang="en-US" sz="1300" noProof="1"/>
          </a:p>
        </p:txBody>
      </p:sp>
      <p:sp>
        <p:nvSpPr>
          <p:cNvPr id="7" name="rule-label"/>
          <p:cNvSpPr txBox="1"/>
          <p:nvPr/>
        </p:nvSpPr>
        <p:spPr>
          <a:xfrm>
            <a:off x="762000" y="2844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一组简单的汇总规则</a:t>
            </a:r>
            <a:endParaRPr lang="en-US" sz="1100" noProof="1"/>
          </a:p>
        </p:txBody>
      </p:sp>
      <p:sp>
        <p:nvSpPr>
          <p:cNvPr id="8" name="rule-list"/>
          <p:cNvSpPr txBox="1"/>
          <p:nvPr/>
        </p:nvSpPr>
        <p:spPr>
          <a:xfrm>
            <a:off x="762000" y="31242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1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先检查是否有 Agent 执行失败；缺少关键检查返回 BLOCKED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2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按“验收条目 + 证据位置”合并重复 finding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3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任一有明确证据的关键 finding 都触发 FAIL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4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普通 finding 由 Primary 汇总，不用多数票消除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5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冲突且无法通过证据解决时，返回 BLOCKED 或升级</a:t>
            </a:r>
            <a:endParaRPr lang="en-US" sz="1250" noProof="1"/>
          </a:p>
        </p:txBody>
      </p:sp>
      <p:sp>
        <p:nvSpPr>
          <p:cNvPr id="9" name="vote-rule"/>
          <p:cNvSpPr/>
          <p:nvPr>
            <p:extLst>
              <p:ext uri="{F5677B7D-0D2A-4D9B-9A5C-6D8D7D0E5A5D}">
                <pptd:line encoding="base64url">eyJ2aWV3Qm94IjpbNDIwLDFdLCJwb2ludHMiOiIwLDAgNDIwLDAiLCJjdXJ2ZSI6InNoYXJwIn0</pptd:line>
              </p:ext>
            </p:extLst>
          </p:nvPr>
        </p:nvSpPr>
        <p:spPr>
          <a:xfrm>
            <a:off x="762000" y="5638800"/>
            <a:ext cx="5334000" cy="12700"/>
          </a:xfrm>
          <a:custGeom>
            <a:avLst/>
            <a:gdLst/>
            <a:ahLst/>
            <a:cxnLst/>
            <a:rect l="l" t="t" r="r" b="b"/>
            <a:pathLst>
              <a:path w="420" h="1">
                <a:moveTo>
                  <a:pt x="0" y="0"/>
                </a:moveTo>
                <a:lnTo>
                  <a:pt x="42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10" name="vote-quote"/>
          <p:cNvSpPr txBox="1"/>
          <p:nvPr/>
        </p:nvSpPr>
        <p:spPr>
          <a:xfrm>
            <a:off x="762000" y="57912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投票处理意见分歧，证据处理事实判断——验收属于后者。</a:t>
            </a:r>
            <a:endParaRPr lang="en-US" sz="1300" noProof="1"/>
          </a:p>
        </p:txBody>
      </p:sp>
      <p:sp>
        <p:nvSpPr>
          <p:cNvPr id="11" name="mid-divider"/>
          <p:cNvSpPr/>
          <p:nvPr>
            <p:extLst>
              <p:ext uri="{F5677B7D-0D2A-4D9B-9A5C-6D8D7D0E5A5D}">
                <pptd:line encoding="base64url">eyJ2aWV3Qm94IjpbMSwzNjBdLCJwb2ludHMiOiIwLDAgMCwzNjAiLCJjdXJ2ZSI6InNoYXJwIn0</pptd:line>
              </p:ext>
            </p:extLst>
          </p:nvPr>
        </p:nvSpPr>
        <p:spPr>
          <a:xfrm>
            <a:off x="6477000" y="1549400"/>
            <a:ext cx="12700" cy="4572000"/>
          </a:xfrm>
          <a:custGeom>
            <a:avLst/>
            <a:gdLst/>
            <a:ahLst/>
            <a:cxnLst/>
            <a:rect l="l" t="t" r="r" b="b"/>
            <a:pathLst>
              <a:path w="1" h="360">
                <a:moveTo>
                  <a:pt x="0" y="0"/>
                </a:moveTo>
                <a:lnTo>
                  <a:pt x="0" y="36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2" name="sel-label"/>
          <p:cNvSpPr txBox="1"/>
          <p:nvPr/>
        </p:nvSpPr>
        <p:spPr>
          <a:xfrm>
            <a:off x="6781800" y="1498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串行与并行的选择表</a:t>
            </a:r>
            <a:endParaRPr lang="en-US" sz="1100" noProof="1"/>
          </a:p>
        </p:txBody>
      </p:sp>
      <p:graphicFrame>
        <p:nvGraphicFramePr>
          <p:cNvPr id="13" name="sel-table"/>
          <p:cNvGraphicFramePr>
            <a:graphicFrameLocks noGrp="1"/>
          </p:cNvGraphicFramePr>
          <p:nvPr/>
        </p:nvGraphicFramePr>
        <p:xfrm>
          <a:off x="6781800" y="1778000"/>
          <a:ext cx="4648200" cy="2794000"/>
        </p:xfrm>
        <a:graphic>
          <a:graphicData uri="http://schemas.openxmlformats.org/drawingml/2006/table">
            <a:tbl>
              <a:tblPr/>
              <a:tblGrid>
                <a:gridCol w="2417064"/>
                <a:gridCol w="1115568"/>
                <a:gridCol w="1115568"/>
              </a:tblGrid>
              <a:tr h="5029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判断问题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B 依赖 A 的输出？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继续判断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启动时输入已完整？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继续判断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有统一结构与汇总规则？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可并行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先改任务契约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节省时间大于协调成本？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并行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单 Agent /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sel-note"/>
          <p:cNvSpPr txBox="1"/>
          <p:nvPr/>
        </p:nvSpPr>
        <p:spPr>
          <a:xfrm>
            <a:off x="6781800" y="4800600"/>
            <a:ext cx="4648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从上往下依次判断；任何一步回答不上来，先改善任务定义或契约，而不是直接上并行拓扑。</a:t>
            </a:r>
            <a:endParaRPr lang="en-US" sz="1200" noProof="1"/>
          </a:p>
        </p:txBody>
      </p:sp>
      <p:sp>
        <p:nvSpPr>
          <p:cNvPr id="15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6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25</a:t>
            </a:r>
            <a:endParaRPr lang="en-US" sz="10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num"/>
          <p:cNvSpPr txBox="1"/>
          <p:nvPr/>
        </p:nvSpPr>
        <p:spPr>
          <a:xfrm>
            <a:off x="1016000" y="1524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600" noProof="1" b="1">
                <a:solidFill>
                  <a:srgbClr val="F1E3D9"/>
                </a:solidFill>
                <a:latin typeface="思源宋体"/>
                <a:ea typeface="思源宋体"/>
              </a:rPr>
              <a:t>07</a:t>
            </a:r>
            <a:endParaRPr lang="en-US" sz="9600" noProof="1"/>
          </a:p>
        </p:txBody>
      </p:sp>
      <p:sp>
        <p:nvSpPr>
          <p:cNvPr id="3" name="ch-label"/>
          <p:cNvSpPr txBox="1"/>
          <p:nvPr/>
        </p:nvSpPr>
        <p:spPr>
          <a:xfrm>
            <a:off x="1066800" y="2997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第七章</a:t>
            </a:r>
            <a:endParaRPr lang="en-US" sz="1200" noProof="1"/>
          </a:p>
        </p:txBody>
      </p:sp>
      <p:sp>
        <p:nvSpPr>
          <p:cNvPr id="4" name="ch-title"/>
          <p:cNvSpPr txBox="1"/>
          <p:nvPr/>
        </p:nvSpPr>
        <p:spPr>
          <a:xfrm>
            <a:off x="1066800" y="3276600"/>
            <a:ext cx="965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211D19"/>
                </a:solidFill>
                <a:latin typeface="思源宋体"/>
                <a:ea typeface="思源宋体"/>
              </a:rPr>
              <a:t>如何设计一个好用的多智能体系统</a:t>
            </a:r>
            <a:endParaRPr lang="en-US" sz="3400" noProof="1"/>
          </a:p>
        </p:txBody>
      </p:sp>
      <p:sp>
        <p:nvSpPr>
          <p:cNvPr id="5" name="ch-rule"/>
          <p:cNvSpPr/>
          <p:nvPr>
            <p:extLst>
              <p:ext uri="{F5677B7D-0D2A-4D9B-9A5C-6D8D7D0E5A5D}">
                <pptd:line encoding="base64url">eyJ2aWV3Qm94IjpbMTIwLDJdLCJwb2ludHMiOiIwLDEgMTIwLDEiLCJjdXJ2ZSI6InNoYXJwIn0</pptd:line>
              </p:ext>
            </p:extLst>
          </p:nvPr>
        </p:nvSpPr>
        <p:spPr>
          <a:xfrm>
            <a:off x="1066800" y="4089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25400">
            <a:solidFill>
              <a:srgbClr val="B4532A"/>
            </a:solidFill>
          </a:ln>
        </p:spPr>
      </p:sp>
      <p:sp>
        <p:nvSpPr>
          <p:cNvPr id="6" name="ch-points"/>
          <p:cNvSpPr txBox="1"/>
          <p:nvPr/>
        </p:nvSpPr>
        <p:spPr>
          <a:xfrm>
            <a:off x="1066800" y="4368800"/>
            <a:ext cx="914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先拆边界，再起角色名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上下文不是越多越好；权限边界要硬</a:t>
            </a:r>
            <a:endParaRPr lang="en-US" sz="1500" noProof="1"/>
          </a:p>
          <a:p>
            <a:pPr>
              <a:lnSpc>
                <a:spcPct val="170000"/>
              </a:lnSpc>
            </a:pPr>
            <a:r>
              <a:rPr lang="en-US" sz="1500" noProof="1">
                <a:solidFill>
                  <a:srgbClr val="211D19"/>
                </a:solidFill>
                <a:latin typeface="MiSans"/>
                <a:ea typeface="MiSans"/>
              </a:rPr>
              <a:t>让 Artifact 承担交接；必须设计停止条件</a:t>
            </a:r>
            <a:endParaRPr lang="en-US" sz="1500" noProof="1"/>
          </a:p>
        </p:txBody>
      </p:sp>
      <p:sp>
        <p:nvSpPr>
          <p:cNvPr id="7" name="ft-left"/>
          <p:cNvSpPr txBox="1"/>
          <p:nvPr/>
        </p:nvSpPr>
        <p:spPr>
          <a:xfrm>
            <a:off x="1016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26</a:t>
            </a:r>
            <a:endParaRPr lang="en-US" sz="10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第七章 · 设计原则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上下文、权限、Artifact 与停止条件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ctx-label"/>
          <p:cNvSpPr txBox="1"/>
          <p:nvPr/>
        </p:nvSpPr>
        <p:spPr>
          <a:xfrm>
            <a:off x="762000" y="14732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上下文不是越多越好</a:t>
            </a:r>
            <a:endParaRPr lang="en-US" sz="1100" noProof="1"/>
          </a:p>
        </p:txBody>
      </p:sp>
      <p:graphicFrame>
        <p:nvGraphicFramePr>
          <p:cNvPr id="6" name="ctx-table"/>
          <p:cNvGraphicFramePr>
            <a:graphicFrameLocks noGrp="1"/>
          </p:cNvGraphicFramePr>
          <p:nvPr/>
        </p:nvGraphicFramePr>
        <p:xfrm>
          <a:off x="762000" y="1752600"/>
          <a:ext cx="5461000" cy="2667000"/>
        </p:xfrm>
        <a:graphic>
          <a:graphicData uri="http://schemas.openxmlformats.org/drawingml/2006/table">
            <a:tbl>
              <a:tblPr/>
              <a:tblGrid>
                <a:gridCol w="2512060"/>
                <a:gridCol w="873760"/>
                <a:gridCol w="2075180"/>
              </a:tblGrid>
              <a:tr h="3733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上下文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传递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原因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211D19"/>
                      </a:solidFill>
                    </a:lnB>
                    <a:noFill/>
                  </a:tcPr>
                </a:tc>
              </a:tr>
              <a:tr h="38138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原始目标与验收标准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66E63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判断任务的基础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38138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必要输入与 Artifact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66E63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提供可验证事实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38138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工具权限与禁止项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66E63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明确执行边界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38138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期望输出格式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66E63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便于稳定汇总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38138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Primary 完整思考过程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B3261E"/>
                          </a:solidFill>
                          <a:latin typeface="Times New Roman"/>
                          <a:ea typeface="Times New Roman"/>
                        </a:rPr>
                        <a:t>通常否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容易锚定与污染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38138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无关聊天历史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B3261E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增加噪声与成本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  <a:tr h="37871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尚未证实的结论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B4532A"/>
                          </a:solidFill>
                          <a:latin typeface="Times New Roman"/>
                          <a:ea typeface="Times New Roman"/>
                        </a:rPr>
                        <a:t>谨慎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11D19"/>
                          </a:solidFill>
                          <a:latin typeface="Times New Roman"/>
                          <a:ea typeface="Times New Roman"/>
                        </a:rPr>
                        <a:t>标注为假设而非事实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ED8C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ctx-note"/>
          <p:cNvSpPr txBox="1"/>
          <p:nvPr/>
        </p:nvSpPr>
        <p:spPr>
          <a:xfrm>
            <a:off x="762000" y="45720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最好的交接不是“把所有内容都给你”，而是</a:t>
            </a: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最小充分上下文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8" name="mid-divider"/>
          <p:cNvSpPr/>
          <p:nvPr>
            <p:extLst>
              <p:ext uri="{F5677B7D-0D2A-4D9B-9A5C-6D8D7D0E5A5D}">
                <pptd:line encoding="base64url">eyJ2aWV3Qm94IjpbMSwzNjBdLCJwb2ludHMiOiIwLDAgMCwzNjAiLCJjdXJ2ZSI6InNoYXJwIn0</pptd:line>
              </p:ext>
            </p:extLst>
          </p:nvPr>
        </p:nvSpPr>
        <p:spPr>
          <a:xfrm>
            <a:off x="6553200" y="1549400"/>
            <a:ext cx="12700" cy="4572000"/>
          </a:xfrm>
          <a:custGeom>
            <a:avLst/>
            <a:gdLst/>
            <a:ahLst/>
            <a:cxnLst/>
            <a:rect l="l" t="t" r="r" b="b"/>
            <a:pathLst>
              <a:path w="1" h="360">
                <a:moveTo>
                  <a:pt x="0" y="0"/>
                </a:moveTo>
                <a:lnTo>
                  <a:pt x="0" y="36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9" name="perm-label"/>
          <p:cNvSpPr txBox="1"/>
          <p:nvPr/>
        </p:nvSpPr>
        <p:spPr>
          <a:xfrm>
            <a:off x="6858000" y="14732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权限边界（硬约束示例）</a:t>
            </a:r>
            <a:endParaRPr lang="en-US" sz="1100" noProof="1"/>
          </a:p>
        </p:txBody>
      </p:sp>
      <p:sp>
        <p:nvSpPr>
          <p:cNvPr id="10" name="perm-list"/>
          <p:cNvSpPr txBox="1"/>
          <p:nvPr/>
        </p:nvSpPr>
        <p:spPr>
          <a:xfrm>
            <a:off x="6858000" y="1752600"/>
            <a:ext cx="457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Reviewer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：可读、可跑白名单测试、禁止编辑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Database Analyst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：只读 API，不暴露密码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Research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：允许搜索，禁止改项目文件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Builder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：允许编辑，但不能跳过验收门</a:t>
            </a:r>
            <a:endParaRPr lang="en-US" sz="1250" noProof="1"/>
          </a:p>
        </p:txBody>
      </p:sp>
      <p:sp>
        <p:nvSpPr>
          <p:cNvPr id="11" name="art-label"/>
          <p:cNvSpPr txBox="1"/>
          <p:nvPr/>
        </p:nvSpPr>
        <p:spPr>
          <a:xfrm>
            <a:off x="6858000" y="3200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让 Artifact 承担跨 Agent 交接</a:t>
            </a:r>
            <a:endParaRPr lang="en-US" sz="1100" noProof="1"/>
          </a:p>
        </p:txBody>
      </p:sp>
      <p:sp>
        <p:nvSpPr>
          <p:cNvPr id="12" name="art-list"/>
          <p:cNvSpPr txBox="1"/>
          <p:nvPr/>
        </p:nvSpPr>
        <p:spPr>
          <a:xfrm>
            <a:off x="6858000" y="3479800"/>
            <a:ext cx="457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task.md · change.diff · test-results.txt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visual-report.json · review.json · run-summary.yaml</a:t>
            </a:r>
            <a:endParaRPr lang="en-US" sz="1050" noProof="1"/>
          </a:p>
        </p:txBody>
      </p:sp>
      <p:sp>
        <p:nvSpPr>
          <p:cNvPr id="13" name="art-note"/>
          <p:cNvSpPr txBox="1"/>
          <p:nvPr/>
        </p:nvSpPr>
        <p:spPr>
          <a:xfrm>
            <a:off x="6858000" y="43688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Artifact 可保存、复用、重放、审计；出问题时也是唯一可靠的“现场还原材料”。</a:t>
            </a:r>
            <a:endParaRPr lang="en-US" sz="1200" noProof="1"/>
          </a:p>
        </p:txBody>
      </p:sp>
      <p:sp>
        <p:nvSpPr>
          <p:cNvPr id="14" name="stop-label"/>
          <p:cNvSpPr txBox="1"/>
          <p:nvPr/>
        </p:nvSpPr>
        <p:spPr>
          <a:xfrm>
            <a:off x="6858000" y="50546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必须设计停止条件</a:t>
            </a:r>
            <a:endParaRPr lang="en-US" sz="1100" noProof="1"/>
          </a:p>
        </p:txBody>
      </p:sp>
      <p:sp>
        <p:nvSpPr>
          <p:cNvPr id="15" name="stop-list"/>
          <p:cNvSpPr txBox="1"/>
          <p:nvPr/>
        </p:nvSpPr>
        <p:spPr>
          <a:xfrm>
            <a:off x="6858000" y="5334000"/>
            <a:ext cx="457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PASS · FAIL · BLOCKED · BUDGET_EXCEEDED · OUT_OF_SCOPE · 用户中止——不只设计“如何继续”，还要设计“什么时候必须停止”。</a:t>
            </a:r>
            <a:endParaRPr lang="en-US" sz="1200" noProof="1"/>
          </a:p>
        </p:txBody>
      </p:sp>
      <p:sp>
        <p:nvSpPr>
          <p:cNvPr id="16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7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27</a:t>
            </a:r>
            <a:endParaRPr lang="en-US" sz="10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第七章 · 常见误区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七个常见误区，按出现频率排序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p1"/>
          <p:cNvSpPr txBox="1"/>
          <p:nvPr/>
        </p:nvSpPr>
        <p:spPr>
          <a:xfrm>
            <a:off x="762000" y="1549400"/>
            <a:ext cx="5207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误区一｜Agent 越多，能力越强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数量同时增加成本、延迟、失败节点与汇总难度。从最小可用结构开始：一个 Primary 加一个 Subagent 已覆盖大部分真实收益。</a:t>
            </a:r>
            <a:endParaRPr lang="en-US" sz="1250" noProof="1"/>
          </a:p>
        </p:txBody>
      </p:sp>
      <p:sp>
        <p:nvSpPr>
          <p:cNvPr id="6" name="p1-rule"/>
          <p:cNvSpPr/>
          <p:nvPr>
            <p:extLst>
              <p:ext uri="{F5677B7D-0D2A-4D9B-9A5C-6D8D7D0E5A5D}">
                <pptd:line encoding="base64url">eyJ2aWV3Qm94IjpbNDEwLDFdLCJwb2ludHMiOiIwLDAgNDEwLDAiLCJjdXJ2ZSI6InNoYXJwIn0</pptd:line>
              </p:ext>
            </p:extLst>
          </p:nvPr>
        </p:nvSpPr>
        <p:spPr>
          <a:xfrm>
            <a:off x="762000" y="2590800"/>
            <a:ext cx="5207000" cy="12700"/>
          </a:xfrm>
          <a:custGeom>
            <a:avLst/>
            <a:gdLst/>
            <a:ahLst/>
            <a:cxnLst/>
            <a:rect l="l" t="t" r="r" b="b"/>
            <a:pathLst>
              <a:path w="410" h="1">
                <a:moveTo>
                  <a:pt x="0" y="0"/>
                </a:moveTo>
                <a:lnTo>
                  <a:pt x="41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7" name="p2"/>
          <p:cNvSpPr txBox="1"/>
          <p:nvPr/>
        </p:nvSpPr>
        <p:spPr>
          <a:xfrm>
            <a:off x="762000" y="2717800"/>
            <a:ext cx="5207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误区二｜不同角色名等于不同视角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相同模型、上下文、工具与提示结构下，输出高度相关——相关性高的“多份意见”在统计上接近一份意见。</a:t>
            </a:r>
            <a:endParaRPr lang="en-US" sz="1250" noProof="1"/>
          </a:p>
        </p:txBody>
      </p:sp>
      <p:sp>
        <p:nvSpPr>
          <p:cNvPr id="8" name="p2-rule"/>
          <p:cNvSpPr/>
          <p:nvPr>
            <p:extLst>
              <p:ext uri="{F5677B7D-0D2A-4D9B-9A5C-6D8D7D0E5A5D}">
                <pptd:line encoding="base64url">eyJ2aWV3Qm94IjpbNDEwLDFdLCJwb2ludHMiOiIwLDAgNDEwLDAiLCJjdXJ2ZSI6InNoYXJwIn0</pptd:line>
              </p:ext>
            </p:extLst>
          </p:nvPr>
        </p:nvSpPr>
        <p:spPr>
          <a:xfrm>
            <a:off x="762000" y="3759200"/>
            <a:ext cx="5207000" cy="12700"/>
          </a:xfrm>
          <a:custGeom>
            <a:avLst/>
            <a:gdLst/>
            <a:ahLst/>
            <a:cxnLst/>
            <a:rect l="l" t="t" r="r" b="b"/>
            <a:pathLst>
              <a:path w="410" h="1">
                <a:moveTo>
                  <a:pt x="0" y="0"/>
                </a:moveTo>
                <a:lnTo>
                  <a:pt x="41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9" name="p3"/>
          <p:cNvSpPr txBox="1"/>
          <p:nvPr/>
        </p:nvSpPr>
        <p:spPr>
          <a:xfrm>
            <a:off x="762000" y="3886200"/>
            <a:ext cx="5207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误区三｜把完整 Primary 上下文交给 Reviewer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新 session 仍继承生成阶段的锚定。Reviewer 应读事实、规则、diff 与证据，而不是实现者的自我解释。</a:t>
            </a:r>
            <a:endParaRPr lang="en-US" sz="1250" noProof="1"/>
          </a:p>
        </p:txBody>
      </p:sp>
      <p:sp>
        <p:nvSpPr>
          <p:cNvPr id="10" name="p3-rule"/>
          <p:cNvSpPr/>
          <p:nvPr>
            <p:extLst>
              <p:ext uri="{F5677B7D-0D2A-4D9B-9A5C-6D8D7D0E5A5D}">
                <pptd:line encoding="base64url">eyJ2aWV3Qm94IjpbNDEwLDFdLCJwb2ludHMiOiIwLDAgNDEwLDAiLCJjdXJ2ZSI6InNoYXJwIn0</pptd:line>
              </p:ext>
            </p:extLst>
          </p:nvPr>
        </p:nvSpPr>
        <p:spPr>
          <a:xfrm>
            <a:off x="762000" y="4927600"/>
            <a:ext cx="5207000" cy="12700"/>
          </a:xfrm>
          <a:custGeom>
            <a:avLst/>
            <a:gdLst/>
            <a:ahLst/>
            <a:cxnLst/>
            <a:rect l="l" t="t" r="r" b="b"/>
            <a:pathLst>
              <a:path w="410" h="1">
                <a:moveTo>
                  <a:pt x="0" y="0"/>
                </a:moveTo>
                <a:lnTo>
                  <a:pt x="41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1" name="p4"/>
          <p:cNvSpPr txBox="1"/>
          <p:nvPr/>
        </p:nvSpPr>
        <p:spPr>
          <a:xfrm>
            <a:off x="762000" y="5054600"/>
            <a:ext cx="5207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误区四｜Reviewer 发现问题后顺手修改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重新混合“生成者”与“裁判”职责。Reviewer 只输出 finding，修改由 Builder 完成后再独立复验。</a:t>
            </a:r>
            <a:endParaRPr lang="en-US" sz="1250" noProof="1"/>
          </a:p>
        </p:txBody>
      </p:sp>
      <p:sp>
        <p:nvSpPr>
          <p:cNvPr id="12" name="p5"/>
          <p:cNvSpPr txBox="1"/>
          <p:nvPr/>
        </p:nvSpPr>
        <p:spPr>
          <a:xfrm>
            <a:off x="6477000" y="154940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误区五｜并行就是同时启动很多 Agent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没有独立输入、统一输出与汇总规则的并行，只是同时制造多份难以合并的文本。</a:t>
            </a:r>
            <a:endParaRPr lang="en-US" sz="1250" noProof="1"/>
          </a:p>
        </p:txBody>
      </p:sp>
      <p:sp>
        <p:nvSpPr>
          <p:cNvPr id="13" name="p5-rule"/>
          <p:cNvSpPr/>
          <p:nvPr>
            <p:extLst>
              <p:ext uri="{F5677B7D-0D2A-4D9B-9A5C-6D8D7D0E5A5D}">
                <pptd:line encoding="base64url">eyJ2aWV3Qm94IjpbMzkwLDFdLCJwb2ludHMiOiIwLDAgMzkwLDAiLCJjdXJ2ZSI6InNoYXJwIn0</pptd:line>
              </p:ext>
            </p:extLst>
          </p:nvPr>
        </p:nvSpPr>
        <p:spPr>
          <a:xfrm>
            <a:off x="6477000" y="2590800"/>
            <a:ext cx="4953000" cy="12700"/>
          </a:xfrm>
          <a:custGeom>
            <a:avLst/>
            <a:gdLst/>
            <a:ahLst/>
            <a:cxnLst/>
            <a:rect l="l" t="t" r="r" b="b"/>
            <a:pathLst>
              <a:path w="390" h="1">
                <a:moveTo>
                  <a:pt x="0" y="0"/>
                </a:moveTo>
                <a:lnTo>
                  <a:pt x="39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4" name="p6"/>
          <p:cNvSpPr txBox="1"/>
          <p:nvPr/>
        </p:nvSpPr>
        <p:spPr>
          <a:xfrm>
            <a:off x="6477000" y="271780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误区六｜用多数投票替代证据判断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Agent 结论不是独立同分布的选票。比较证据、覆盖范围与风险级别，而不是数 PASS 数量。</a:t>
            </a:r>
            <a:endParaRPr lang="en-US" sz="1250" noProof="1"/>
          </a:p>
        </p:txBody>
      </p:sp>
      <p:sp>
        <p:nvSpPr>
          <p:cNvPr id="15" name="p6-rule"/>
          <p:cNvSpPr/>
          <p:nvPr>
            <p:extLst>
              <p:ext uri="{F5677B7D-0D2A-4D9B-9A5C-6D8D7D0E5A5D}">
                <pptd:line encoding="base64url">eyJ2aWV3Qm94IjpbMzkwLDFdLCJwb2ludHMiOiIwLDAgMzkwLDAiLCJjdXJ2ZSI6InNoYXJwIn0</pptd:line>
              </p:ext>
            </p:extLst>
          </p:nvPr>
        </p:nvSpPr>
        <p:spPr>
          <a:xfrm>
            <a:off x="6477000" y="3759200"/>
            <a:ext cx="4953000" cy="12700"/>
          </a:xfrm>
          <a:custGeom>
            <a:avLst/>
            <a:gdLst/>
            <a:ahLst/>
            <a:cxnLst/>
            <a:rect l="l" t="t" r="r" b="b"/>
            <a:pathLst>
              <a:path w="390" h="1">
                <a:moveTo>
                  <a:pt x="0" y="0"/>
                </a:moveTo>
                <a:lnTo>
                  <a:pt x="39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6" name="p7"/>
          <p:cNvSpPr txBox="1"/>
          <p:nvPr/>
        </p:nvSpPr>
        <p:spPr>
          <a:xfrm>
            <a:off x="6477000" y="388620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误区七｜只写提示词，不设置权限</a:t>
            </a:r>
            <a:endParaRPr lang="en-US" sz="12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软提示无法替代工具级权限。验收、数据访问与外部操作场景，应使用真实权限边界。</a:t>
            </a:r>
            <a:endParaRPr lang="en-US" sz="1250" noProof="1"/>
          </a:p>
        </p:txBody>
      </p:sp>
      <p:sp>
        <p:nvSpPr>
          <p:cNvPr id="17" name="p7-rule"/>
          <p:cNvSpPr/>
          <p:nvPr>
            <p:extLst>
              <p:ext uri="{F5677B7D-0D2A-4D9B-9A5C-6D8D7D0E5A5D}">
                <pptd:line encoding="base64url">eyJ2aWV3Qm94IjpbMzkwLDFdLCJwb2ludHMiOiIwLDAgMzkwLDAiLCJjdXJ2ZSI6InNoYXJwIn0</pptd:line>
              </p:ext>
            </p:extLst>
          </p:nvPr>
        </p:nvSpPr>
        <p:spPr>
          <a:xfrm>
            <a:off x="6477000" y="4927600"/>
            <a:ext cx="4953000" cy="12700"/>
          </a:xfrm>
          <a:custGeom>
            <a:avLst/>
            <a:gdLst/>
            <a:ahLst/>
            <a:cxnLst/>
            <a:rect l="l" t="t" r="r" b="b"/>
            <a:pathLst>
              <a:path w="390" h="1">
                <a:moveTo>
                  <a:pt x="0" y="0"/>
                </a:moveTo>
                <a:lnTo>
                  <a:pt x="39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8" name="p-summary"/>
          <p:cNvSpPr txBox="1"/>
          <p:nvPr/>
        </p:nvSpPr>
        <p:spPr>
          <a:xfrm>
            <a:off x="6477000" y="505460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 b="1">
                <a:solidFill>
                  <a:srgbClr val="211D19"/>
                </a:solidFill>
                <a:latin typeface="MiSans"/>
                <a:ea typeface="MiSans"/>
              </a:rPr>
              <a:t>共同根源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：把“看起来像团队”当成了“真的有边界”。所有误区的修复都指向同一件事——回到能力、上下文、权限与证据的真实差异。</a:t>
            </a:r>
            <a:endParaRPr lang="en-US" sz="1300" noProof="1"/>
          </a:p>
        </p:txBody>
      </p:sp>
      <p:sp>
        <p:nvSpPr>
          <p:cNvPr id="19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20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28</a:t>
            </a:r>
            <a:endParaRPr lang="en-US" sz="10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第七章 · 决策流程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面对新任务，按这条路径做决定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d1-q"/>
          <p:cNvSpPr/>
          <p:nvPr/>
        </p:nvSpPr>
        <p:spPr>
          <a:xfrm>
            <a:off x="762000" y="1651000"/>
            <a:ext cx="3175000" cy="6604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6" name="d1-qt"/>
          <p:cNvSpPr txBox="1"/>
          <p:nvPr/>
        </p:nvSpPr>
        <p:spPr>
          <a:xfrm>
            <a:off x="762000" y="1651000"/>
            <a:ext cx="317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单 Agent 缺少必要能力？</a:t>
            </a:r>
            <a:endParaRPr lang="en-US" sz="1250" noProof="1"/>
          </a:p>
        </p:txBody>
      </p:sp>
      <p:sp>
        <p:nvSpPr>
          <p:cNvPr id="7" name="d1-yes"/>
          <p:cNvSpPr txBox="1"/>
          <p:nvPr/>
        </p:nvSpPr>
        <p:spPr>
          <a:xfrm>
            <a:off x="4394200" y="17780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66E63"/>
                </a:solidFill>
                <a:latin typeface="MiSans"/>
                <a:ea typeface="MiSans"/>
              </a:rPr>
              <a:t>是 → 增加专用 Agent</a:t>
            </a:r>
            <a:endParaRPr lang="en-US" sz="1200" noProof="1"/>
          </a:p>
        </p:txBody>
      </p:sp>
      <p:sp>
        <p:nvSpPr>
          <p:cNvPr id="8" name="d1-line"/>
          <p:cNvSpPr/>
          <p:nvPr>
            <p:extLst>
              <p:ext uri="{F5677B7D-0D2A-4D9B-9A5C-6D8D7D0E5A5D}">
                <pptd:line encoding="base64url">eyJ2aWV3Qm94IjpbNDAsMV0sInBvaW50cyI6IjAsMCA0MCwwIiwiY3VydmUiOiJzaGFycCJ9</pptd:line>
              </p:ext>
            </p:extLst>
          </p:nvPr>
        </p:nvSpPr>
        <p:spPr>
          <a:xfrm>
            <a:off x="3987800" y="1981200"/>
            <a:ext cx="3048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9050">
            <a:solidFill>
              <a:srgbClr val="166E63"/>
            </a:solidFill>
            <a:tailEnd type="arrow"/>
          </a:ln>
        </p:spPr>
      </p:sp>
      <p:sp>
        <p:nvSpPr>
          <p:cNvPr id="9" name="d1-no"/>
          <p:cNvSpPr/>
          <p:nvPr>
            <p:extLst>
              <p:ext uri="{F5677B7D-0D2A-4D9B-9A5C-6D8D7D0E5A5D}">
                <pptd:line encoding="base64url">eyJ2aWV3Qm94IjpbMSwyMl0sInBvaW50cyI6IjAsMCAwLDIyIiwiY3VydmUiOiJzaGFycCJ9</pptd:line>
              </p:ext>
            </p:extLst>
          </p:nvPr>
        </p:nvSpPr>
        <p:spPr>
          <a:xfrm>
            <a:off x="2349500" y="23622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0" y="0"/>
                </a:moveTo>
                <a:lnTo>
                  <a:pt x="0" y="22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0" name="d2-q"/>
          <p:cNvSpPr/>
          <p:nvPr/>
        </p:nvSpPr>
        <p:spPr>
          <a:xfrm>
            <a:off x="762000" y="2692400"/>
            <a:ext cx="3175000" cy="6604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11" name="d2-qt"/>
          <p:cNvSpPr txBox="1"/>
          <p:nvPr/>
        </p:nvSpPr>
        <p:spPr>
          <a:xfrm>
            <a:off x="762000" y="2692400"/>
            <a:ext cx="317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需要独立判断或权限隔离？</a:t>
            </a:r>
            <a:endParaRPr lang="en-US" sz="1250" noProof="1"/>
          </a:p>
        </p:txBody>
      </p:sp>
      <p:sp>
        <p:nvSpPr>
          <p:cNvPr id="12" name="d2-yes"/>
          <p:cNvSpPr txBox="1"/>
          <p:nvPr/>
        </p:nvSpPr>
        <p:spPr>
          <a:xfrm>
            <a:off x="4394200" y="2819400"/>
            <a:ext cx="215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66E63"/>
                </a:solidFill>
                <a:latin typeface="MiSans"/>
                <a:ea typeface="MiSans"/>
              </a:rPr>
              <a:t>是 → 隔离 Subagent</a:t>
            </a:r>
            <a:endParaRPr lang="en-US" sz="1200" noProof="1"/>
          </a:p>
        </p:txBody>
      </p:sp>
      <p:sp>
        <p:nvSpPr>
          <p:cNvPr id="13" name="d2-line"/>
          <p:cNvSpPr/>
          <p:nvPr>
            <p:extLst>
              <p:ext uri="{F5677B7D-0D2A-4D9B-9A5C-6D8D7D0E5A5D}">
                <pptd:line encoding="base64url">eyJ2aWV3Qm94IjpbNDAsMV0sInBvaW50cyI6IjAsMCA0MCwwIiwiY3VydmUiOiJzaGFycCJ9</pptd:line>
              </p:ext>
            </p:extLst>
          </p:nvPr>
        </p:nvSpPr>
        <p:spPr>
          <a:xfrm>
            <a:off x="3987800" y="3022600"/>
            <a:ext cx="3048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9050">
            <a:solidFill>
              <a:srgbClr val="166E63"/>
            </a:solidFill>
            <a:tailEnd type="arrow"/>
          </a:ln>
        </p:spPr>
      </p:sp>
      <p:sp>
        <p:nvSpPr>
          <p:cNvPr id="14" name="d2-no"/>
          <p:cNvSpPr/>
          <p:nvPr>
            <p:extLst>
              <p:ext uri="{F5677B7D-0D2A-4D9B-9A5C-6D8D7D0E5A5D}">
                <pptd:line encoding="base64url">eyJ2aWV3Qm94IjpbMSwyMl0sInBvaW50cyI6IjAsMCAwLDIyIiwiY3VydmUiOiJzaGFycCJ9</pptd:line>
              </p:ext>
            </p:extLst>
          </p:nvPr>
        </p:nvSpPr>
        <p:spPr>
          <a:xfrm>
            <a:off x="2349500" y="34036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0" y="0"/>
                </a:moveTo>
                <a:lnTo>
                  <a:pt x="0" y="22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15" name="d3-q"/>
          <p:cNvSpPr/>
          <p:nvPr/>
        </p:nvSpPr>
        <p:spPr>
          <a:xfrm>
            <a:off x="762000" y="3733800"/>
            <a:ext cx="3175000" cy="660400"/>
          </a:xfrm>
          <a:prstGeom prst="rect">
            <a:avLst/>
          </a:prstGeom>
          <a:solidFill>
            <a:srgbClr val="FAF8F4"/>
          </a:solidFill>
          <a:ln w="19050">
            <a:solidFill>
              <a:srgbClr val="211D19"/>
            </a:solidFill>
          </a:ln>
        </p:spPr>
      </p:sp>
      <p:sp>
        <p:nvSpPr>
          <p:cNvPr id="16" name="d3-qt"/>
          <p:cNvSpPr txBox="1"/>
          <p:nvPr/>
        </p:nvSpPr>
        <p:spPr>
          <a:xfrm>
            <a:off x="762000" y="3733800"/>
            <a:ext cx="317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子任务可独立并行？</a:t>
            </a:r>
            <a:endParaRPr lang="en-US" sz="1250" noProof="1"/>
          </a:p>
        </p:txBody>
      </p:sp>
      <p:sp>
        <p:nvSpPr>
          <p:cNvPr id="17" name="d3-yes"/>
          <p:cNvSpPr txBox="1"/>
          <p:nvPr/>
        </p:nvSpPr>
        <p:spPr>
          <a:xfrm>
            <a:off x="4394200" y="38608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66E63"/>
                </a:solidFill>
                <a:latin typeface="MiSans"/>
                <a:ea typeface="MiSans"/>
              </a:rPr>
              <a:t>是 → 并行 Subagents</a:t>
            </a:r>
            <a:endParaRPr lang="en-US" sz="1200" noProof="1"/>
          </a:p>
        </p:txBody>
      </p:sp>
      <p:sp>
        <p:nvSpPr>
          <p:cNvPr id="18" name="d3-line"/>
          <p:cNvSpPr/>
          <p:nvPr>
            <p:extLst>
              <p:ext uri="{F5677B7D-0D2A-4D9B-9A5C-6D8D7D0E5A5D}">
                <pptd:line encoding="base64url">eyJ2aWV3Qm94IjpbNDAsMV0sInBvaW50cyI6IjAsMCA0MCwwIiwiY3VydmUiOiJzaGFycCJ9</pptd:line>
              </p:ext>
            </p:extLst>
          </p:nvPr>
        </p:nvSpPr>
        <p:spPr>
          <a:xfrm>
            <a:off x="3987800" y="4064000"/>
            <a:ext cx="3048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9050">
            <a:solidFill>
              <a:srgbClr val="166E63"/>
            </a:solidFill>
            <a:tailEnd type="arrow"/>
          </a:ln>
        </p:spPr>
      </p:sp>
      <p:sp>
        <p:nvSpPr>
          <p:cNvPr id="19" name="d3-no"/>
          <p:cNvSpPr/>
          <p:nvPr>
            <p:extLst>
              <p:ext uri="{F5677B7D-0D2A-4D9B-9A5C-6D8D7D0E5A5D}">
                <pptd:line encoding="base64url">eyJ2aWV3Qm94IjpbMSwyMl0sInBvaW50cyI6IjAsMCAwLDIyIiwiY3VydmUiOiJzaGFycCJ9</pptd:line>
              </p:ext>
            </p:extLst>
          </p:nvPr>
        </p:nvSpPr>
        <p:spPr>
          <a:xfrm>
            <a:off x="2349500" y="44450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0" y="0"/>
                </a:moveTo>
                <a:lnTo>
                  <a:pt x="0" y="22"/>
                </a:lnTo>
              </a:path>
            </a:pathLst>
          </a:custGeom>
          <a:noFill/>
          <a:ln w="19050">
            <a:solidFill>
              <a:srgbClr val="6E675E"/>
            </a:solidFill>
            <a:tailEnd type="arrow"/>
          </a:ln>
        </p:spPr>
      </p:sp>
      <p:sp>
        <p:nvSpPr>
          <p:cNvPr id="20" name="d4-a"/>
          <p:cNvSpPr/>
          <p:nvPr/>
        </p:nvSpPr>
        <p:spPr>
          <a:xfrm>
            <a:off x="762000" y="4775200"/>
            <a:ext cx="3175000" cy="660400"/>
          </a:xfrm>
          <a:prstGeom prst="rect">
            <a:avLst/>
          </a:prstGeom>
          <a:solidFill>
            <a:srgbClr val="F1E3D9"/>
          </a:solidFill>
          <a:ln w="19050">
            <a:solidFill>
              <a:srgbClr val="B4532A"/>
            </a:solidFill>
          </a:ln>
        </p:spPr>
      </p:sp>
      <p:sp>
        <p:nvSpPr>
          <p:cNvPr id="21" name="d4-at"/>
          <p:cNvSpPr txBox="1"/>
          <p:nvPr/>
        </p:nvSpPr>
        <p:spPr>
          <a:xfrm>
            <a:off x="762000" y="4775200"/>
            <a:ext cx="317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单 Agent + Skills 即可</a:t>
            </a:r>
            <a:endParaRPr lang="en-US" sz="1250" noProof="1"/>
          </a:p>
        </p:txBody>
      </p:sp>
      <p:sp>
        <p:nvSpPr>
          <p:cNvPr id="22" name="d-note"/>
          <p:cNvSpPr txBox="1"/>
          <p:nvPr/>
        </p:nvSpPr>
        <p:spPr>
          <a:xfrm>
            <a:off x="762000" y="56642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三个问题都回答“否”时，不是设计失败，而是这个任务本来就不需要多智能体。</a:t>
            </a:r>
            <a:endParaRPr lang="en-US" sz="1200" noProof="1"/>
          </a:p>
        </p:txBody>
      </p:sp>
      <p:sp>
        <p:nvSpPr>
          <p:cNvPr id="23" name="mid-divider"/>
          <p:cNvSpPr/>
          <p:nvPr>
            <p:extLst>
              <p:ext uri="{F5677B7D-0D2A-4D9B-9A5C-6D8D7D0E5A5D}">
                <pptd:line encoding="base64url">eyJ2aWV3Qm94IjpbMSwzNjBdLCJwb2ludHMiOiIwLDAgMCwzNjAiLCJjdXJ2ZSI6InNoYXJwIn0</pptd:line>
              </p:ext>
            </p:extLst>
          </p:nvPr>
        </p:nvSpPr>
        <p:spPr>
          <a:xfrm>
            <a:off x="6477000" y="1549400"/>
            <a:ext cx="12700" cy="4572000"/>
          </a:xfrm>
          <a:custGeom>
            <a:avLst/>
            <a:gdLst/>
            <a:ahLst/>
            <a:cxnLst/>
            <a:rect l="l" t="t" r="r" b="b"/>
            <a:pathLst>
              <a:path w="1" h="360">
                <a:moveTo>
                  <a:pt x="0" y="0"/>
                </a:moveTo>
                <a:lnTo>
                  <a:pt x="0" y="36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24" name="chk-label"/>
          <p:cNvSpPr txBox="1"/>
          <p:nvPr/>
        </p:nvSpPr>
        <p:spPr>
          <a:xfrm>
            <a:off x="6781800" y="15494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创建 Subagent 前的五个检查</a:t>
            </a:r>
            <a:endParaRPr lang="en-US" sz="1100" noProof="1"/>
          </a:p>
        </p:txBody>
      </p:sp>
      <p:sp>
        <p:nvSpPr>
          <p:cNvPr id="25" name="chk-list"/>
          <p:cNvSpPr txBox="1"/>
          <p:nvPr/>
        </p:nvSpPr>
        <p:spPr>
          <a:xfrm>
            <a:off x="6781800" y="1854200"/>
            <a:ext cx="46482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1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与 Primary 的能力、权限或上下文边界有什么真实差异？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2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输入能否写成最小任务包？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3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输出能否结构化并携带证据？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4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Primary 知道如何处理 PASS / FAIL / BLOCKED 与冲突吗？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5</a:t>
            </a: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　拆分收益是否大于额外成本？</a:t>
            </a:r>
            <a:endParaRPr lang="en-US" sz="1300" noProof="1"/>
          </a:p>
        </p:txBody>
      </p:sp>
      <p:sp>
        <p:nvSpPr>
          <p:cNvPr id="26" name="chk-rule"/>
          <p:cNvSpPr/>
          <p:nvPr>
            <p:extLst>
              <p:ext uri="{F5677B7D-0D2A-4D9B-9A5C-6D8D7D0E5A5D}">
                <pptd:line encoding="base64url">eyJ2aWV3Qm94IjpbMzY2LDFdLCJwb2ludHMiOiIwLDAgMzY2LDAiLCJjdXJ2ZSI6InNoYXJwIn0</pptd:line>
              </p:ext>
            </p:extLst>
          </p:nvPr>
        </p:nvSpPr>
        <p:spPr>
          <a:xfrm>
            <a:off x="6781800" y="5080000"/>
            <a:ext cx="4648200" cy="12700"/>
          </a:xfrm>
          <a:custGeom>
            <a:avLst/>
            <a:gdLst/>
            <a:ahLst/>
            <a:cxnLst/>
            <a:rect l="l" t="t" r="r" b="b"/>
            <a:pathLst>
              <a:path w="366" h="1">
                <a:moveTo>
                  <a:pt x="0" y="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27" name="chk-note"/>
          <p:cNvSpPr txBox="1"/>
          <p:nvPr/>
        </p:nvSpPr>
        <p:spPr>
          <a:xfrm>
            <a:off x="6781800" y="5257800"/>
            <a:ext cx="4648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回答不清楚，就先继续用单 Agent 和 Skill——不要先扩展拓扑。</a:t>
            </a:r>
            <a:endParaRPr lang="en-US" sz="1350" noProof="1"/>
          </a:p>
        </p:txBody>
      </p:sp>
      <p:sp>
        <p:nvSpPr>
          <p:cNvPr id="28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29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29</a:t>
            </a:r>
            <a:endParaRPr lang="en-US" sz="10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课堂演示 · 演示一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让纯文本 Agent 处理截图问题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goal-label"/>
          <p:cNvSpPr txBox="1"/>
          <p:nvPr/>
        </p:nvSpPr>
        <p:spPr>
          <a:xfrm>
            <a:off x="762000" y="147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目标</a:t>
            </a:r>
            <a:endParaRPr lang="en-US" sz="1100" noProof="1"/>
          </a:p>
        </p:txBody>
      </p:sp>
      <p:sp>
        <p:nvSpPr>
          <p:cNvPr id="6" name="goal-text"/>
          <p:cNvSpPr txBox="1"/>
          <p:nvPr/>
        </p:nvSpPr>
        <p:spPr>
          <a:xfrm>
            <a:off x="762000" y="1727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让文本 Primary 回答“截图里发生了什么，下一步应该检查什么”。</a:t>
            </a:r>
            <a:endParaRPr lang="en-US" sz="1300" noProof="1"/>
          </a:p>
        </p:txBody>
      </p:sp>
      <p:sp>
        <p:nvSpPr>
          <p:cNvPr id="7" name="step-label"/>
          <p:cNvSpPr txBox="1"/>
          <p:nvPr/>
        </p:nvSpPr>
        <p:spPr>
          <a:xfrm>
            <a:off x="762000" y="2336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操作步骤</a:t>
            </a:r>
            <a:endParaRPr lang="en-US" sz="1100" noProof="1"/>
          </a:p>
        </p:txBody>
      </p:sp>
      <p:sp>
        <p:nvSpPr>
          <p:cNvPr id="8" name="step-list"/>
          <p:cNvSpPr txBox="1"/>
          <p:nvPr/>
        </p:nvSpPr>
        <p:spPr>
          <a:xfrm>
            <a:off x="762000" y="2616200"/>
            <a:ext cx="5080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1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纯文本 Primary 直接处理图片，观察能力边界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2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接入视觉 Subagent，只报告可观察事实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3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视觉结果以 JSON 返回 Primary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4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Primary 区分“图片事实”与“排查建议”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5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　换成模糊截图，观察 uncertainties / limitations 是否生效</a:t>
            </a:r>
            <a:endParaRPr lang="en-US" sz="1250" noProof="1"/>
          </a:p>
        </p:txBody>
      </p:sp>
      <p:sp>
        <p:nvSpPr>
          <p:cNvPr id="9" name="focus-rule"/>
          <p:cNvSpPr/>
          <p:nvPr>
            <p:extLst>
              <p:ext uri="{F5677B7D-0D2A-4D9B-9A5C-6D8D7D0E5A5D}">
                <pptd:line encoding="base64url">eyJ2aWV3Qm94IjpbNDAwLDFdLCJwb2ludHMiOiIwLDAgNDAwLDAiLCJjdXJ2ZSI6InNoYXJwIn0</pptd:line>
              </p:ext>
            </p:extLst>
          </p:nvPr>
        </p:nvSpPr>
        <p:spPr>
          <a:xfrm>
            <a:off x="762000" y="5435600"/>
            <a:ext cx="5080000" cy="12700"/>
          </a:xfrm>
          <a:custGeom>
            <a:avLst/>
            <a:gdLst/>
            <a:ahLst/>
            <a:cxnLst/>
            <a:rect l="l" t="t" r="r" b="b"/>
            <a:pathLst>
              <a:path w="400" h="1">
                <a:moveTo>
                  <a:pt x="0" y="0"/>
                </a:moveTo>
                <a:lnTo>
                  <a:pt x="40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0" name="focus-text"/>
          <p:cNvSpPr txBox="1"/>
          <p:nvPr/>
        </p:nvSpPr>
        <p:spPr>
          <a:xfrm>
            <a:off x="762000" y="55880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讲解重点：拆分解决的是异构能力问题——视觉 Agent 只负责感知环节，不接管整项任务。</a:t>
            </a:r>
            <a:endParaRPr lang="en-US" sz="1200" noProof="1"/>
          </a:p>
        </p:txBody>
      </p:sp>
      <p:sp>
        <p:nvSpPr>
          <p:cNvPr id="11" name="ph-box"/>
          <p:cNvSpPr/>
          <p:nvPr/>
        </p:nvSpPr>
        <p:spPr>
          <a:xfrm>
            <a:off x="6350000" y="1473200"/>
            <a:ext cx="5080000" cy="4318000"/>
          </a:xfrm>
          <a:prstGeom prst="rect">
            <a:avLst/>
          </a:prstGeom>
          <a:solidFill>
            <a:srgbClr val="F2EFE7"/>
          </a:solidFill>
          <a:ln w="19050">
            <a:solidFill>
              <a:srgbClr val="6E675E"/>
            </a:solidFill>
            <a:prstDash val="dash"/>
          </a:ln>
        </p:spPr>
      </p:sp>
      <p:sp>
        <p:nvSpPr>
          <p:cNvPr id="12" name="ph-icon"/>
          <p:cNvSpPr/>
          <p:nvPr>
            <p:extLst>
              <p:ext uri="{F5677B7D-0D2A-4D9B-9A5C-6D8D7D0E5A5D}">
                <pptd:icon encoding="base64url">eyJpY29uTmFtZSI6ImZhczppbWFnZSJ9</pptd:icon>
              </p:ext>
            </p:extLst>
          </p:nvPr>
        </p:nvSpPr>
        <p:spPr>
          <a:xfrm>
            <a:off x="8610600" y="2667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6E675E"/>
          </a:solidFill>
          <a:ln>
            <a:noFill/>
          </a:ln>
        </p:spPr>
      </p:sp>
      <p:sp>
        <p:nvSpPr>
          <p:cNvPr id="13" name="ph-text"/>
          <p:cNvSpPr txBox="1"/>
          <p:nvPr/>
        </p:nvSpPr>
        <p:spPr>
          <a:xfrm>
            <a:off x="6858000" y="3378200"/>
            <a:ext cx="406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6E675E"/>
                </a:solidFill>
                <a:latin typeface="MiSans"/>
                <a:ea typeface="MiSans"/>
              </a:rPr>
              <a:t>演示截图占位</a:t>
            </a: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（可编辑区域）</a:t>
            </a:r>
            <a:endParaRPr lang="en-US" sz="1200" noProof="1"/>
          </a:p>
          <a:p>
            <a:pPr algn="ctr">
              <a:lnSpc>
                <a:spcPct val="145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建议：纯文本 Primary 面对图片的表现 ／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接入视觉 Subagent 后的 JSON 输出 ／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模糊截图下 uncertainties 生效的对照</a:t>
            </a:r>
            <a:endParaRPr lang="en-US" sz="1200" noProof="1"/>
          </a:p>
        </p:txBody>
      </p:sp>
      <p:sp>
        <p:nvSpPr>
          <p:cNvPr id="14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5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30</a:t>
            </a:r>
            <a:endParaRPr lang="en-US" sz="10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课堂演示 · 演示二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代码生成与验收隔离：预埋缺陷实验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goal-label"/>
          <p:cNvSpPr txBox="1"/>
          <p:nvPr/>
        </p:nvSpPr>
        <p:spPr>
          <a:xfrm>
            <a:off x="762000" y="147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目标</a:t>
            </a:r>
            <a:endParaRPr lang="en-US" sz="1100" noProof="1"/>
          </a:p>
        </p:txBody>
      </p:sp>
      <p:sp>
        <p:nvSpPr>
          <p:cNvPr id="6" name="goal-text"/>
          <p:cNvSpPr txBox="1"/>
          <p:nvPr/>
        </p:nvSpPr>
        <p:spPr>
          <a:xfrm>
            <a:off x="762000" y="1727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Builder 修复一个带边界条件的缺陷，Reviewer 在独立 child session 中验收。</a:t>
            </a:r>
            <a:endParaRPr lang="en-US" sz="1300" noProof="1"/>
          </a:p>
        </p:txBody>
      </p:sp>
      <p:sp>
        <p:nvSpPr>
          <p:cNvPr id="7" name="step-label"/>
          <p:cNvSpPr txBox="1"/>
          <p:nvPr/>
        </p:nvSpPr>
        <p:spPr>
          <a:xfrm>
            <a:off x="762000" y="2336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操作步骤</a:t>
            </a:r>
            <a:endParaRPr lang="en-US" sz="1100" noProof="1"/>
          </a:p>
        </p:txBody>
      </p:sp>
      <p:sp>
        <p:nvSpPr>
          <p:cNvPr id="8" name="step-list"/>
          <p:cNvSpPr txBox="1"/>
          <p:nvPr/>
        </p:nvSpPr>
        <p:spPr>
          <a:xfrm>
            <a:off x="762000" y="2616200"/>
            <a:ext cx="5080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B4532A"/>
                </a:solidFill>
                <a:latin typeface="MiSans"/>
                <a:ea typeface="MiSans"/>
              </a:rPr>
              <a:t>1</a:t>
            </a: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　给 Builder 任务、代码与验收标准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 b="1">
                <a:solidFill>
                  <a:srgbClr val="B4532A"/>
                </a:solidFill>
                <a:latin typeface="MiSans"/>
                <a:ea typeface="MiSans"/>
              </a:rPr>
              <a:t>2</a:t>
            </a: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　Builder 修改代码并运行测试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 b="1">
                <a:solidFill>
                  <a:srgbClr val="B4532A"/>
                </a:solidFill>
                <a:latin typeface="MiSans"/>
                <a:ea typeface="MiSans"/>
              </a:rPr>
              <a:t>3</a:t>
            </a: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　生成 Review Handoff，在 child session 调用 Reviewer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 b="1">
                <a:solidFill>
                  <a:srgbClr val="B4532A"/>
                </a:solidFill>
                <a:latin typeface="MiSans"/>
                <a:ea typeface="MiSans"/>
              </a:rPr>
              <a:t>4</a:t>
            </a: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　对比 Reviewer 与 Builder 自评发现的问题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 b="1">
                <a:solidFill>
                  <a:srgbClr val="B4532A"/>
                </a:solidFill>
                <a:latin typeface="MiSans"/>
                <a:ea typeface="MiSans"/>
              </a:rPr>
              <a:t>5</a:t>
            </a:r>
            <a:r>
              <a:rPr lang="en-US" sz="1200" noProof="1">
                <a:solidFill>
                  <a:srgbClr val="211D19"/>
                </a:solidFill>
                <a:latin typeface="MiSans"/>
                <a:ea typeface="MiSans"/>
              </a:rPr>
              <a:t>　FAIL 时只把 finding 交给 Builder 修复；达到最大轮次仍不通过则停止</a:t>
            </a:r>
            <a:endParaRPr lang="en-US" sz="1200" noProof="1"/>
          </a:p>
        </p:txBody>
      </p:sp>
      <p:sp>
        <p:nvSpPr>
          <p:cNvPr id="9" name="trap-label"/>
          <p:cNvSpPr txBox="1"/>
          <p:nvPr/>
        </p:nvSpPr>
        <p:spPr>
          <a:xfrm>
            <a:off x="762000" y="5105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可预埋的缺陷</a:t>
            </a:r>
            <a:endParaRPr lang="en-US" sz="1100" noProof="1"/>
          </a:p>
        </p:txBody>
      </p:sp>
      <p:sp>
        <p:nvSpPr>
          <p:cNvPr id="10" name="trap-list"/>
          <p:cNvSpPr txBox="1"/>
          <p:nvPr/>
        </p:nvSpPr>
        <p:spPr>
          <a:xfrm>
            <a:off x="762000" y="53594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mock 让测试通过但真实路径未调用 · 对固定输入 hard-code · 异常路径吞掉错误 · fallback 导致表面成功 · 测试只断言 HTTP 200</a:t>
            </a:r>
            <a:endParaRPr lang="en-US" sz="1150" noProof="1"/>
          </a:p>
        </p:txBody>
      </p:sp>
      <p:sp>
        <p:nvSpPr>
          <p:cNvPr id="11" name="ph-box"/>
          <p:cNvSpPr/>
          <p:nvPr/>
        </p:nvSpPr>
        <p:spPr>
          <a:xfrm>
            <a:off x="6350000" y="1473200"/>
            <a:ext cx="5080000" cy="4318000"/>
          </a:xfrm>
          <a:prstGeom prst="rect">
            <a:avLst/>
          </a:prstGeom>
          <a:solidFill>
            <a:srgbClr val="F2EFE7"/>
          </a:solidFill>
          <a:ln w="19050">
            <a:solidFill>
              <a:srgbClr val="6E675E"/>
            </a:solidFill>
            <a:prstDash val="dash"/>
          </a:ln>
        </p:spPr>
      </p:sp>
      <p:sp>
        <p:nvSpPr>
          <p:cNvPr id="12" name="ph-icon"/>
          <p:cNvSpPr/>
          <p:nvPr>
            <p:extLst>
              <p:ext uri="{F5677B7D-0D2A-4D9B-9A5C-6D8D7D0E5A5D}">
                <pptd:icon encoding="base64url">eyJpY29uTmFtZSI6ImZhczp0ZXJtaW5hbCJ9</pptd:icon>
              </p:ext>
            </p:extLst>
          </p:nvPr>
        </p:nvSpPr>
        <p:spPr>
          <a:xfrm>
            <a:off x="8610600" y="2667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" y="119"/>
                </a:moveTo>
                <a:cubicBezTo>
                  <a:pt x="-3" y="106"/>
                  <a:pt x="-3" y="86"/>
                  <a:pt x="9" y="73"/>
                </a:cubicBezTo>
                <a:cubicBezTo>
                  <a:pt x="22" y="61"/>
                  <a:pt x="42" y="61"/>
                  <a:pt x="55" y="73"/>
                </a:cubicBezTo>
                <a:lnTo>
                  <a:pt x="215" y="233"/>
                </a:lnTo>
                <a:cubicBezTo>
                  <a:pt x="227" y="246"/>
                  <a:pt x="227" y="266"/>
                  <a:pt x="215" y="279"/>
                </a:cubicBezTo>
                <a:lnTo>
                  <a:pt x="55" y="439"/>
                </a:lnTo>
                <a:cubicBezTo>
                  <a:pt x="42" y="451"/>
                  <a:pt x="22" y="451"/>
                  <a:pt x="9" y="439"/>
                </a:cubicBezTo>
                <a:cubicBezTo>
                  <a:pt x="-3" y="426"/>
                  <a:pt x="-3" y="406"/>
                  <a:pt x="9" y="393"/>
                </a:cubicBezTo>
                <a:lnTo>
                  <a:pt x="147" y="256"/>
                </a:lnTo>
                <a:lnTo>
                  <a:pt x="9" y="119"/>
                </a:lnTo>
                <a:close/>
                <a:moveTo>
                  <a:pt x="224" y="384"/>
                </a:move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224" y="448"/>
                </a:lnTo>
                <a:cubicBezTo>
                  <a:pt x="206" y="448"/>
                  <a:pt x="192" y="434"/>
                  <a:pt x="192" y="416"/>
                </a:cubicBezTo>
                <a:cubicBezTo>
                  <a:pt x="192" y="398"/>
                  <a:pt x="206" y="384"/>
                  <a:pt x="224" y="384"/>
                </a:cubicBezTo>
                <a:close/>
              </a:path>
            </a:pathLst>
          </a:custGeom>
          <a:solidFill>
            <a:srgbClr val="6E675E"/>
          </a:solidFill>
          <a:ln>
            <a:noFill/>
          </a:ln>
        </p:spPr>
      </p:sp>
      <p:sp>
        <p:nvSpPr>
          <p:cNvPr id="13" name="ph-text"/>
          <p:cNvSpPr txBox="1"/>
          <p:nvPr/>
        </p:nvSpPr>
        <p:spPr>
          <a:xfrm>
            <a:off x="6858000" y="3378200"/>
            <a:ext cx="4064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6E675E"/>
                </a:solidFill>
                <a:latin typeface="MiSans"/>
                <a:ea typeface="MiSans"/>
              </a:rPr>
              <a:t>演示截图占位</a:t>
            </a: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（可编辑区域）</a:t>
            </a:r>
            <a:endParaRPr lang="en-US" sz="1200" noProof="1"/>
          </a:p>
          <a:p>
            <a:pPr algn="ctr">
              <a:lnSpc>
                <a:spcPct val="145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建议：Builder 自评结论 ／ Review Handoff 内容 ／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Reviewer 在 child session 中抓到预埋缺陷的 FAIL 输出</a:t>
            </a:r>
            <a:endParaRPr lang="en-US" sz="1200" noProof="1"/>
          </a:p>
        </p:txBody>
      </p:sp>
      <p:sp>
        <p:nvSpPr>
          <p:cNvPr id="14" name="focus-text"/>
          <p:cNvSpPr txBox="1"/>
          <p:nvPr/>
        </p:nvSpPr>
        <p:spPr>
          <a:xfrm>
            <a:off x="6350000" y="58928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讲解重点：新上下文 + 无编辑权限 + 只按标准与证据判断 + 可以直接 FAIL + 受限修复闭环。</a:t>
            </a:r>
            <a:endParaRPr lang="en-US" sz="1200" noProof="1"/>
          </a:p>
        </p:txBody>
      </p:sp>
      <p:sp>
        <p:nvSpPr>
          <p:cNvPr id="15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6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31</a:t>
            </a:r>
            <a:endParaRPr lang="en-US" sz="10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收尾 · 最小可观测性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记录每次委托，审计每条边界的增量收益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log-label"/>
          <p:cNvSpPr txBox="1"/>
          <p:nvPr/>
        </p:nvSpPr>
        <p:spPr>
          <a:xfrm>
            <a:off x="762000" y="14986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每次委托至少记录</a:t>
            </a:r>
            <a:endParaRPr lang="en-US" sz="1100" noProof="1"/>
          </a:p>
        </p:txBody>
      </p:sp>
      <p:sp>
        <p:nvSpPr>
          <p:cNvPr id="6" name="log-bg"/>
          <p:cNvSpPr/>
          <p:nvPr/>
        </p:nvSpPr>
        <p:spPr>
          <a:xfrm>
            <a:off x="762000" y="1778000"/>
            <a:ext cx="5334000" cy="3048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ED8CD"/>
            </a:solidFill>
          </a:ln>
        </p:spPr>
      </p:sp>
      <p:sp>
        <p:nvSpPr>
          <p:cNvPr id="7" name="log-code"/>
          <p:cNvSpPr txBox="1"/>
          <p:nvPr/>
        </p:nvSpPr>
        <p:spPr>
          <a:xfrm>
            <a:off x="965200" y="1930400"/>
            <a:ext cx="49276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run_id: run-2026-08-27-001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parent_session_id: session-primary-12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child_session_id: session-review-08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agent_id: reviewer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mode: serial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input_artifacts: [task.md, change.diff]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output_status: FAIL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duration_ms: 18320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tool_calls: 4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37322B"/>
                </a:solidFill>
                <a:latin typeface="JetBrains Mono"/>
                <a:ea typeface="JetBrains Mono"/>
              </a:rPr>
              <a:t>retry_count: 0</a:t>
            </a:r>
            <a:endParaRPr lang="en-US" sz="1050" noProof="1"/>
          </a:p>
        </p:txBody>
      </p:sp>
      <p:sp>
        <p:nvSpPr>
          <p:cNvPr id="8" name="ask-label"/>
          <p:cNvSpPr txBox="1"/>
          <p:nvPr/>
        </p:nvSpPr>
        <p:spPr>
          <a:xfrm>
            <a:off x="6553200" y="14986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第一阶段只需回答五个问题</a:t>
            </a:r>
            <a:endParaRPr lang="en-US" sz="1100" noProof="1"/>
          </a:p>
        </p:txBody>
      </p:sp>
      <p:sp>
        <p:nvSpPr>
          <p:cNvPr id="9" name="ask-list"/>
          <p:cNvSpPr txBox="1"/>
          <p:nvPr/>
        </p:nvSpPr>
        <p:spPr>
          <a:xfrm>
            <a:off x="6553200" y="1803400"/>
            <a:ext cx="48768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· Subagent 是否发现了 Primary 没发现的问题？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· 新上下文是否降低了误判或锚定？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· 并行是否真的缩短了总耗时？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· 额外 token、延迟和失败率是多少？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· 哪类任务经常 BLOCKED，任务包缺少什么？</a:t>
            </a:r>
            <a:endParaRPr lang="en-US" sz="1300" noProof="1"/>
          </a:p>
        </p:txBody>
      </p:sp>
      <p:sp>
        <p:nvSpPr>
          <p:cNvPr id="10" name="ask-rule"/>
          <p:cNvSpPr/>
          <p:nvPr>
            <p:extLst>
              <p:ext uri="{F5677B7D-0D2A-4D9B-9A5C-6D8D7D0E5A5D}">
                <pptd:line encoding="base64url">eyJ2aWV3Qm94IjpbMzg0LDFdLCJwb2ludHMiOiIwLDAgMzg0LDAiLCJjdXJ2ZSI6InNoYXJwIn0</pptd:line>
              </p:ext>
            </p:extLst>
          </p:nvPr>
        </p:nvSpPr>
        <p:spPr>
          <a:xfrm>
            <a:off x="6553200" y="4470400"/>
            <a:ext cx="4876800" cy="12700"/>
          </a:xfrm>
          <a:custGeom>
            <a:avLst/>
            <a:gdLst/>
            <a:ahLst/>
            <a:cxnLst/>
            <a:rect l="l" t="t" r="r" b="b"/>
            <a:pathLst>
              <a:path w="384" h="1">
                <a:moveTo>
                  <a:pt x="0" y="0"/>
                </a:moveTo>
                <a:lnTo>
                  <a:pt x="384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11" name="ask-note"/>
          <p:cNvSpPr txBox="1"/>
          <p:nvPr/>
        </p:nvSpPr>
        <p:spPr>
          <a:xfrm>
            <a:off x="6553200" y="4648200"/>
            <a:ext cx="4876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如果一个 Subagent 长期只是重复 Primary 的结论，就应考虑合并它，或重新设计它的能力、上下文与权限边界。</a:t>
            </a: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没有观测就没有优化。</a:t>
            </a:r>
            <a:endParaRPr lang="en-US" sz="1350" noProof="1"/>
          </a:p>
        </p:txBody>
      </p:sp>
      <p:sp>
        <p:nvSpPr>
          <p:cNvPr id="12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3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32</a:t>
            </a:r>
            <a:endParaRPr lang="en-US" sz="10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课程总结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把能力、上下文、权限和证据放到正确的边界里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c1-label"/>
          <p:cNvSpPr txBox="1"/>
          <p:nvPr/>
        </p:nvSpPr>
        <p:spPr>
          <a:xfrm>
            <a:off x="762000" y="15240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三类真实问题</a:t>
            </a:r>
            <a:endParaRPr lang="en-US" sz="1100" noProof="1"/>
          </a:p>
        </p:txBody>
      </p:sp>
      <p:sp>
        <p:nvSpPr>
          <p:cNvPr id="6" name="c1-list"/>
          <p:cNvSpPr txBox="1"/>
          <p:nvPr/>
        </p:nvSpPr>
        <p:spPr>
          <a:xfrm>
            <a:off x="762000" y="1803400"/>
            <a:ext cx="3429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能力互补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不同模型或工具负责不同能力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上下文与权限隔离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生成与验收、执行与监督相互独立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独立任务并行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并发处理子任务，按证据汇总</a:t>
            </a:r>
            <a:endParaRPr lang="en-US" sz="1250" noProof="1"/>
          </a:p>
        </p:txBody>
      </p:sp>
      <p:sp>
        <p:nvSpPr>
          <p:cNvPr id="7" name="c1-divider"/>
          <p:cNvSpPr/>
          <p:nvPr>
            <p:extLst>
              <p:ext uri="{F5677B7D-0D2A-4D9B-9A5C-6D8D7D0E5A5D}">
                <pptd:line encoding="base64url">eyJ2aWV3Qm94IjpbMSwyMDBdLCJwb2ludHMiOiIwLDAgMCwyMDAiLCJjdXJ2ZSI6InNoYXJwIn0</pptd:line>
              </p:ext>
            </p:extLst>
          </p:nvPr>
        </p:nvSpPr>
        <p:spPr>
          <a:xfrm>
            <a:off x="4419600" y="1600200"/>
            <a:ext cx="12700" cy="2540000"/>
          </a:xfrm>
          <a:custGeom>
            <a:avLst/>
            <a:gdLst/>
            <a:ahLst/>
            <a:cxnLst/>
            <a:rect l="l" t="t" r="r" b="b"/>
            <a:pathLst>
              <a:path w="1" h="200">
                <a:moveTo>
                  <a:pt x="0" y="0"/>
                </a:moveTo>
                <a:lnTo>
                  <a:pt x="0" y="20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8" name="c2-label"/>
          <p:cNvSpPr txBox="1"/>
          <p:nvPr/>
        </p:nvSpPr>
        <p:spPr>
          <a:xfrm>
            <a:off x="4673600" y="15240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三层关系</a:t>
            </a:r>
            <a:endParaRPr lang="en-US" sz="1100" noProof="1"/>
          </a:p>
        </p:txBody>
      </p:sp>
      <p:sp>
        <p:nvSpPr>
          <p:cNvPr id="9" name="c2-list"/>
          <p:cNvSpPr txBox="1"/>
          <p:nvPr/>
        </p:nvSpPr>
        <p:spPr>
          <a:xfrm>
            <a:off x="4673600" y="1803400"/>
            <a:ext cx="3175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Skill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告诉 Agent 在场景中如何工作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Agent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定义模型、工具、权限与上下文组成的执行边界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B4532A"/>
                </a:solidFill>
                <a:latin typeface="MiSans"/>
                <a:ea typeface="MiSans"/>
              </a:rPr>
              <a:t>Multi-Agent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75E"/>
                </a:solidFill>
                <a:latin typeface="MiSans"/>
                <a:ea typeface="MiSans"/>
              </a:rPr>
              <a:t>设计边界之间如何委托、隔离、并行、汇总与停止</a:t>
            </a:r>
            <a:endParaRPr lang="en-US" sz="1250" noProof="1"/>
          </a:p>
        </p:txBody>
      </p:sp>
      <p:sp>
        <p:nvSpPr>
          <p:cNvPr id="10" name="c2-divider"/>
          <p:cNvSpPr/>
          <p:nvPr>
            <p:extLst>
              <p:ext uri="{F5677B7D-0D2A-4D9B-9A5C-6D8D7D0E5A5D}">
                <pptd:line encoding="base64url">eyJ2aWV3Qm94IjpbMSwyMDBdLCJwb2ludHMiOiIwLDAgMCwyMDAiLCJjdXJ2ZSI6InNoYXJwIn0</pptd:line>
              </p:ext>
            </p:extLst>
          </p:nvPr>
        </p:nvSpPr>
        <p:spPr>
          <a:xfrm>
            <a:off x="8077200" y="1600200"/>
            <a:ext cx="12700" cy="2540000"/>
          </a:xfrm>
          <a:custGeom>
            <a:avLst/>
            <a:gdLst/>
            <a:ahLst/>
            <a:cxnLst/>
            <a:rect l="l" t="t" r="r" b="b"/>
            <a:pathLst>
              <a:path w="1" h="200">
                <a:moveTo>
                  <a:pt x="0" y="0"/>
                </a:moveTo>
                <a:lnTo>
                  <a:pt x="0" y="20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1" name="c3-label"/>
          <p:cNvSpPr txBox="1"/>
          <p:nvPr/>
        </p:nvSpPr>
        <p:spPr>
          <a:xfrm>
            <a:off x="8331200" y="15240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可靠调用的五要素</a:t>
            </a:r>
            <a:endParaRPr lang="en-US" sz="1100" noProof="1"/>
          </a:p>
        </p:txBody>
      </p:sp>
      <p:sp>
        <p:nvSpPr>
          <p:cNvPr id="12" name="c3-list"/>
          <p:cNvSpPr txBox="1"/>
          <p:nvPr/>
        </p:nvSpPr>
        <p:spPr>
          <a:xfrm>
            <a:off x="8331200" y="1803400"/>
            <a:ext cx="30988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最小充分上下文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明确的输入输出契约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工具和权限边界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可检查的 Artifact 与证据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· PASS / FAIL / BLOCKED 与预算停止条件</a:t>
            </a:r>
            <a:endParaRPr lang="en-US" sz="1250" noProof="1"/>
          </a:p>
        </p:txBody>
      </p:sp>
      <p:sp>
        <p:nvSpPr>
          <p:cNvPr id="13" name="sum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4521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211D19"/>
            </a:solidFill>
          </a:ln>
        </p:spPr>
      </p:sp>
      <p:sp>
        <p:nvSpPr>
          <p:cNvPr id="14" name="sum-quote"/>
          <p:cNvSpPr txBox="1"/>
          <p:nvPr/>
        </p:nvSpPr>
        <p:spPr>
          <a:xfrm>
            <a:off x="762000" y="48006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60000"/>
              </a:lnSpc>
            </a:pPr>
            <a:r>
              <a:rPr lang="en-US" sz="2000" noProof="1" b="1">
                <a:solidFill>
                  <a:srgbClr val="211D19"/>
                </a:solidFill>
                <a:latin typeface="思源宋体"/>
                <a:ea typeface="思源宋体"/>
              </a:rPr>
              <a:t>好的多智能体设计，不是把任务分给更多角色，</a:t>
            </a:r>
            <a:endParaRPr lang="en-US" sz="2000" noProof="1"/>
          </a:p>
          <a:p>
            <a:pPr algn="ctr">
              <a:lnSpc>
                <a:spcPct val="160000"/>
              </a:lnSpc>
            </a:pPr>
            <a:r>
              <a:rPr lang="en-US" sz="2000" noProof="1" b="1">
                <a:solidFill>
                  <a:srgbClr val="211D19"/>
                </a:solidFill>
                <a:latin typeface="思源宋体"/>
                <a:ea typeface="思源宋体"/>
              </a:rPr>
              <a:t>而是把能力、上下文、权限和证据放到正确的边界里。</a:t>
            </a:r>
            <a:endParaRPr lang="en-US" sz="2000" noProof="1"/>
          </a:p>
        </p:txBody>
      </p:sp>
      <p:sp>
        <p:nvSpPr>
          <p:cNvPr id="15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6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33</a:t>
            </a:r>
            <a:endParaRPr lang="en-US" sz="10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label"/>
          <p:cNvSpPr txBox="1"/>
          <p:nvPr/>
        </p:nvSpPr>
        <p:spPr>
          <a:xfrm>
            <a:off x="762000" y="381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4532A"/>
                </a:solidFill>
                <a:latin typeface="MiSans"/>
                <a:ea typeface="MiSans"/>
              </a:rPr>
              <a:t>课后练习与参考资料</a:t>
            </a:r>
            <a:endParaRPr lang="en-US" sz="1200" noProof="1"/>
          </a:p>
        </p:txBody>
      </p:sp>
      <p:sp>
        <p:nvSpPr>
          <p:cNvPr id="3" name="hd-title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211D19"/>
                </a:solidFill>
                <a:latin typeface="思源宋体"/>
                <a:ea typeface="思源宋体"/>
              </a:rPr>
              <a:t>把方法带回你自己的任务里</a:t>
            </a:r>
            <a:endParaRPr lang="en-US" sz="2700" noProof="1"/>
          </a:p>
        </p:txBody>
      </p:sp>
      <p:sp>
        <p:nvSpPr>
          <p:cNvPr id="4" name="hd-rul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5" name="ex-label"/>
          <p:cNvSpPr txBox="1"/>
          <p:nvPr/>
        </p:nvSpPr>
        <p:spPr>
          <a:xfrm>
            <a:off x="762000" y="1549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课后练习</a:t>
            </a:r>
            <a:endParaRPr lang="en-US" sz="1100" noProof="1"/>
          </a:p>
        </p:txBody>
      </p:sp>
      <p:sp>
        <p:nvSpPr>
          <p:cNvPr id="6" name="ex1"/>
          <p:cNvSpPr txBox="1"/>
          <p:nvPr/>
        </p:nvSpPr>
        <p:spPr>
          <a:xfrm>
            <a:off x="762000" y="18796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练习一｜边界判别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找一个正在使用（或计划使用）多 Agent 的场景，写出每个 Agent 在模型、工具、权限、上下文四个维度上的差异。写不出差异的 Agent，就是合并候选。</a:t>
            </a:r>
            <a:endParaRPr lang="en-US" sz="1300" noProof="1"/>
          </a:p>
        </p:txBody>
      </p:sp>
      <p:sp>
        <p:nvSpPr>
          <p:cNvPr id="7" name="ex1-rule"/>
          <p:cNvSpPr/>
          <p:nvPr>
            <p:extLst>
              <p:ext uri="{F5677B7D-0D2A-4D9B-9A5C-6D8D7D0E5A5D}">
                <pptd:line encoding="base64url">eyJ2aWV3Qm94IjpbNDgwLDFdLCJwb2ludHMiOiIwLDAgNDgwLDAiLCJjdXJ2ZSI6InNoYXJwIn0</pptd:line>
              </p:ext>
            </p:extLst>
          </p:nvPr>
        </p:nvSpPr>
        <p:spPr>
          <a:xfrm>
            <a:off x="762000" y="3098800"/>
            <a:ext cx="6096000" cy="1270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8" name="ex2"/>
          <p:cNvSpPr txBox="1"/>
          <p:nvPr/>
        </p:nvSpPr>
        <p:spPr>
          <a:xfrm>
            <a:off x="762000" y="32512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练习二｜任务包写作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为一个真实验收任务写完整任务包（objective / scope / inputs / constraints / output_contract / stop_conditions），试跑并观察它返回 BLOCKED 还是给出结论。</a:t>
            </a:r>
            <a:endParaRPr lang="en-US" sz="1300" noProof="1"/>
          </a:p>
        </p:txBody>
      </p:sp>
      <p:sp>
        <p:nvSpPr>
          <p:cNvPr id="9" name="ex2-rule"/>
          <p:cNvSpPr/>
          <p:nvPr>
            <p:extLst>
              <p:ext uri="{F5677B7D-0D2A-4D9B-9A5C-6D8D7D0E5A5D}">
                <pptd:line encoding="base64url">eyJ2aWV3Qm94IjpbNDgwLDFdLCJwb2ludHMiOiIwLDAgNDgwLDAiLCJjdXJ2ZSI6InNoYXJwIn0</pptd:line>
              </p:ext>
            </p:extLst>
          </p:nvPr>
        </p:nvSpPr>
        <p:spPr>
          <a:xfrm>
            <a:off x="762000" y="4470400"/>
            <a:ext cx="6096000" cy="1270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0" name="ex3"/>
          <p:cNvSpPr txBox="1"/>
          <p:nvPr/>
        </p:nvSpPr>
        <p:spPr>
          <a:xfrm>
            <a:off x="762000" y="46228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B4532A"/>
                </a:solidFill>
                <a:latin typeface="MiSans"/>
                <a:ea typeface="MiSans"/>
              </a:rPr>
              <a:t>练习三｜预埋缺陷实验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11D19"/>
                </a:solidFill>
                <a:latin typeface="MiSans"/>
                <a:ea typeface="MiSans"/>
              </a:rPr>
              <a:t>参考演示二的预埋缺陷清单，在项目里埋入 1–2 个，观察 Reviewer 能否在不看实现过程的情况下抓到。</a:t>
            </a:r>
            <a:endParaRPr lang="en-US" sz="1300" noProof="1"/>
          </a:p>
        </p:txBody>
      </p:sp>
      <p:sp>
        <p:nvSpPr>
          <p:cNvPr id="11" name="mid-divider"/>
          <p:cNvSpPr/>
          <p:nvPr>
            <p:extLst>
              <p:ext uri="{F5677B7D-0D2A-4D9B-9A5C-6D8D7D0E5A5D}">
                <pptd:line encoding="base64url">eyJ2aWV3Qm94IjpbMSwzMzBdLCJwb2ludHMiOiIwLDAgMCwzMzAiLCJjdXJ2ZSI6InNoYXJwIn0</pptd:line>
              </p:ext>
            </p:extLst>
          </p:nvPr>
        </p:nvSpPr>
        <p:spPr>
          <a:xfrm>
            <a:off x="7366000" y="1600200"/>
            <a:ext cx="12700" cy="4191000"/>
          </a:xfrm>
          <a:custGeom>
            <a:avLst/>
            <a:gdLst/>
            <a:ahLst/>
            <a:cxnLst/>
            <a:rect l="l" t="t" r="r" b="b"/>
            <a:pathLst>
              <a:path w="1" h="330">
                <a:moveTo>
                  <a:pt x="0" y="0"/>
                </a:moveTo>
                <a:lnTo>
                  <a:pt x="0" y="33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2" name="ref-label"/>
          <p:cNvSpPr txBox="1"/>
          <p:nvPr/>
        </p:nvSpPr>
        <p:spPr>
          <a:xfrm>
            <a:off x="7670800" y="1549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B4532A"/>
                </a:solidFill>
                <a:latin typeface="MiSans"/>
                <a:ea typeface="MiSans"/>
              </a:rPr>
              <a:t>参考资料</a:t>
            </a:r>
            <a:endParaRPr lang="en-US" sz="1100" noProof="1"/>
          </a:p>
        </p:txBody>
      </p:sp>
      <p:sp>
        <p:nvSpPr>
          <p:cNvPr id="13" name="ref-list"/>
          <p:cNvSpPr txBox="1"/>
          <p:nvPr/>
        </p:nvSpPr>
        <p:spPr>
          <a:xfrm>
            <a:off x="7670800" y="1879600"/>
            <a:ext cx="37592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 V2：Agents</a:t>
            </a:r>
            <a:endParaRPr lang="en-US" sz="1300" noProof="1"/>
          </a:p>
          <a:p>
            <a:pPr>
              <a:lnSpc>
                <a:spcPct val="170000"/>
              </a:lnSpc>
            </a:pPr>
            <a:r>
              <a:rPr lang="en-US" sz="13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OpenCode V2：从 V1 迁移</a:t>
            </a:r>
            <a:endParaRPr lang="en-US" sz="1300" noProof="1"/>
          </a:p>
        </p:txBody>
      </p:sp>
      <p:sp>
        <p:nvSpPr>
          <p:cNvPr id="14" name="ref-note"/>
          <p:cNvSpPr txBox="1"/>
          <p:nvPr/>
        </p:nvSpPr>
        <p:spPr>
          <a:xfrm>
            <a:off x="7670800" y="3175000"/>
            <a:ext cx="3759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E"/>
                </a:solidFill>
                <a:latin typeface="MiSans"/>
                <a:ea typeface="MiSans"/>
              </a:rPr>
              <a:t>课件中的模型接口、OpenCode Agent 文件与权限配置用于教学。接入实际项目时，请根据模型服务的多模态消息支持方式、当前 OpenCode 版本与项目命令白名单调整。</a:t>
            </a:r>
            <a:endParaRPr lang="en-US" sz="1200" noProof="1"/>
          </a:p>
        </p:txBody>
      </p:sp>
      <p:sp>
        <p:nvSpPr>
          <p:cNvPr id="15" name="ref-rule"/>
          <p:cNvSpPr/>
          <p:nvPr>
            <p:extLst>
              <p:ext uri="{F5677B7D-0D2A-4D9B-9A5C-6D8D7D0E5A5D}">
                <pptd:line encoding="base64url">eyJ2aWV3Qm94IjpbMjk2LDFdLCJwb2ludHMiOiIwLDAgMjk2LDAiLCJjdXJ2ZSI6InNoYXJwIn0</pptd:line>
              </p:ext>
            </p:extLst>
          </p:nvPr>
        </p:nvSpPr>
        <p:spPr>
          <a:xfrm>
            <a:off x="7670800" y="4775200"/>
            <a:ext cx="3759200" cy="12700"/>
          </a:xfrm>
          <a:custGeom>
            <a:avLst/>
            <a:gdLst/>
            <a:ahLst/>
            <a:cxnLst/>
            <a:rect l="l" t="t" r="r" b="b"/>
            <a:pathLst>
              <a:path w="296" h="1">
                <a:moveTo>
                  <a:pt x="0" y="0"/>
                </a:moveTo>
                <a:lnTo>
                  <a:pt x="296" y="0"/>
                </a:lnTo>
              </a:path>
            </a:pathLst>
          </a:custGeom>
          <a:noFill/>
          <a:ln w="12700">
            <a:solidFill>
              <a:srgbClr val="DED8CD"/>
            </a:solidFill>
          </a:ln>
        </p:spPr>
      </p:sp>
      <p:sp>
        <p:nvSpPr>
          <p:cNvPr id="16" name="qa"/>
          <p:cNvSpPr txBox="1"/>
          <p:nvPr/>
        </p:nvSpPr>
        <p:spPr>
          <a:xfrm>
            <a:off x="7670800" y="5029200"/>
            <a:ext cx="3759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B4532A"/>
                </a:solidFill>
                <a:latin typeface="思源宋体"/>
                <a:ea typeface="思源宋体"/>
              </a:rPr>
              <a:t>提问与讨论</a:t>
            </a:r>
            <a:endParaRPr lang="en-US" sz="2200" noProof="1"/>
          </a:p>
        </p:txBody>
      </p:sp>
      <p:sp>
        <p:nvSpPr>
          <p:cNvPr id="17" name="ft-left"/>
          <p:cNvSpPr txBox="1"/>
          <p:nvPr/>
        </p:nvSpPr>
        <p:spPr>
          <a:xfrm>
            <a:off x="7620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多智能体教学 · 从问题出发</a:t>
            </a:r>
            <a:endParaRPr lang="en-US" sz="1000" noProof="1"/>
          </a:p>
        </p:txBody>
      </p:sp>
      <p:sp>
        <p:nvSpPr>
          <p:cNvPr id="18" name="ft-page"/>
          <p:cNvSpPr txBox="1"/>
          <p:nvPr/>
        </p:nvSpPr>
        <p:spPr>
          <a:xfrm>
            <a:off x="10922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34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33</Slides>
</Properties>
</file>

<file path=docProps/core.xml><?xml version="1.0" encoding="utf-8"?>
<cp:coreProperties xmlns:dc="http://purl.org/dc/elements/1.1/" xmlns:cp="http://schemas.openxmlformats.org/package/2006/metadata/core-properties">
  <dc:title>多智能体：设计正确的能力与上下文边界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