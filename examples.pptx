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Default Extension="jpg" ContentType="image/jpeg"/>
  <Default Extension="jpeg" ContentType="image/jpeg"/>
  <Default Extension="gif" ContentType="image/gif"/>
  <Default Extension="svg" ContentType="image/svg+xml"/>
  <Default Extension="fntdata" ContentType="application/x-fontdata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 standalone="yes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 embedTrueTypeFonts="1" saveSubsetFonts="1">
  <p:sldMasterIdLst>
    <p:sldMasterId id="2147483648" r:id="rId1"/>
  </p:sldMasterIdLst>
  <p:sldIdLst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</p:sldIdLst>
  <p:sldSz cx="12192000" cy="6858000" type="custom"/>
  <p:notesSz cx="12192000" cy="6858000"/>
  <p:embeddedFontLst>
    <p:embeddedFont>
      <p:font typeface="MiSans" charset="-122" pitchFamily="34"/>
      <p:regular r:id="rId11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theme" Target="theme/theme1.xml"/><Relationship Id="rId3" Type="http://schemas.openxmlformats.org/officeDocument/2006/relationships/slide" Target="slides/slide1.xml"/><Relationship Id="rId4" Type="http://schemas.openxmlformats.org/officeDocument/2006/relationships/slide" Target="slides/slide2.xml"/><Relationship Id="rId5" Type="http://schemas.openxmlformats.org/officeDocument/2006/relationships/slide" Target="slides/slide3.xml"/><Relationship Id="rId6" Type="http://schemas.openxmlformats.org/officeDocument/2006/relationships/slide" Target="slides/slide4.xml"/><Relationship Id="rId7" Type="http://schemas.openxmlformats.org/officeDocument/2006/relationships/slide" Target="slides/slide5.xml"/><Relationship Id="rId8" Type="http://schemas.openxmlformats.org/officeDocument/2006/relationships/slide" Target="slides/slide6.xml"/><Relationship Id="rId9" Type="http://schemas.openxmlformats.org/officeDocument/2006/relationships/slide" Target="slides/slide7.xml"/><Relationship Id="rId10" Type="http://schemas.openxmlformats.org/officeDocument/2006/relationships/slide" Target="slides/slide8.xml"/><Relationship Id="rId11" Type="http://schemas.openxmlformats.org/officeDocument/2006/relationships/font" Target="fonts/font1.fntdata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/>
    <p:bodyStyle/>
    <p:otherStyle/>
  </p:txStyles>
</p:sldMaster>
</file>

<file path=ppt/slides/_rels/slide1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812800" y="1473200"/>
            <a:ext cx="558800" cy="381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3" name="kicker"/>
          <p:cNvSpPr txBox="1"/>
          <p:nvPr/>
        </p:nvSpPr>
        <p:spPr>
          <a:xfrm>
            <a:off x="812800" y="1676400"/>
            <a:ext cx="762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D6E5F"/>
                </a:solidFill>
                <a:latin typeface="MiSans"/>
                <a:ea typeface="MiSans"/>
              </a:rPr>
              <a:t>内部方案汇报 · 落地样例篇</a:t>
            </a:r>
            <a:endParaRPr lang="en-US" sz="1100" noProof="1"/>
          </a:p>
        </p:txBody>
      </p:sp>
      <p:sp>
        <p:nvSpPr>
          <p:cNvPr id="4" name="title"/>
          <p:cNvSpPr txBox="1"/>
          <p:nvPr/>
        </p:nvSpPr>
        <p:spPr>
          <a:xfrm>
            <a:off x="812800" y="2032000"/>
            <a:ext cx="10566400" cy="1371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35000"/>
              </a:lnSpc>
            </a:pPr>
            <a:r>
              <a:rPr lang="en-US" sz="3600" noProof="1" b="1">
                <a:solidFill>
                  <a:srgbClr val="1F2A24"/>
                </a:solidFill>
                <a:latin typeface="MiSans"/>
                <a:ea typeface="MiSans"/>
              </a:rPr>
              <a:t>三个落地样例：把方案跑起来</a:t>
            </a:r>
            <a:endParaRPr lang="en-US" sz="3600" noProof="1"/>
          </a:p>
          <a:p>
            <a:pPr algn="l">
              <a:lnSpc>
                <a:spcPct val="135000"/>
              </a:lnSpc>
            </a:pPr>
            <a:r>
              <a:rPr lang="en-US" sz="3600" noProof="1" b="1">
                <a:solidFill>
                  <a:srgbClr val="1F2A24"/>
                </a:solidFill>
                <a:latin typeface="MiSans"/>
                <a:ea typeface="MiSans"/>
              </a:rPr>
              <a:t>AI 协作共创 · 沉淀复用 · 做好问题定义</a:t>
            </a:r>
            <a:endParaRPr lang="en-US" sz="3600" noProof="1"/>
          </a:p>
        </p:txBody>
      </p:sp>
      <p:sp>
        <p:nvSpPr>
          <p:cNvPr id="5" name="subtitle"/>
          <p:cNvSpPr txBox="1"/>
          <p:nvPr/>
        </p:nvSpPr>
        <p:spPr>
          <a:xfrm>
            <a:off x="812800" y="3581400"/>
            <a:ext cx="9652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>
                <a:solidFill>
                  <a:srgbClr val="6B7280"/>
                </a:solidFill>
                <a:latin typeface="MiSans"/>
                <a:ea typeface="MiSans"/>
              </a:rPr>
              <a:t>—— 承接《业务对接六大痛点与 Agent 化解决方案》的样例初稿（细节待补充）</a:t>
            </a:r>
            <a:endParaRPr lang="en-US" sz="1400" noProof="1"/>
          </a:p>
        </p:txBody>
      </p:sp>
      <p:sp>
        <p:nvSpPr>
          <p:cNvPr id="6" name="divider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45720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E3E0D8"/>
            </a:solidFill>
          </a:ln>
        </p:spPr>
      </p:sp>
      <p:sp>
        <p:nvSpPr>
          <p:cNvPr id="7" name="n1"/>
          <p:cNvSpPr txBox="1"/>
          <p:nvPr/>
        </p:nvSpPr>
        <p:spPr>
          <a:xfrm>
            <a:off x="812800" y="4876800"/>
            <a:ext cx="3251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00000"/>
                </a:solidFill>
                <a:latin typeface="MiSans"/>
                <a:ea typeface="MiSans"/>
              </a:rPr>
              <a:t>样例 01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200" noProof="1" b="1">
                <a:solidFill>
                  <a:srgbClr val="000000"/>
                </a:solidFill>
                <a:latin typeface="MiSans"/>
                <a:ea typeface="MiSans"/>
              </a:rPr>
              <a:t>一起压榨 AI 能力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noProof="1">
                <a:solidFill>
                  <a:srgbClr val="000000"/>
                </a:solidFill>
                <a:latin typeface="MiSans"/>
                <a:ea typeface="MiSans"/>
              </a:rPr>
              <a:t>人机共创小作文 · 双向迭代</a:t>
            </a:r>
            <a:endParaRPr lang="en-US" sz="1600" noProof="1"/>
          </a:p>
        </p:txBody>
      </p:sp>
      <p:sp>
        <p:nvSpPr>
          <p:cNvPr id="8" name="s1"/>
          <p:cNvSpPr/>
          <p:nvPr>
            <p:extLst>
              <p:ext uri="{F5677B7D-0D2A-4D9B-9A5C-6D8D7D0E5A5D}">
                <pptd:line encoding="base64url">eyJ2aWV3Qm94IjpbMSw1Ml0sInBvaW50cyI6IjAsMCAwLDUyIiwiY3VydmUiOiJzaGFycCJ9</pptd:line>
              </p:ext>
            </p:extLst>
          </p:nvPr>
        </p:nvSpPr>
        <p:spPr>
          <a:xfrm>
            <a:off x="4216400" y="4953000"/>
            <a:ext cx="12700" cy="660400"/>
          </a:xfrm>
          <a:custGeom>
            <a:avLst/>
            <a:gdLst/>
            <a:ahLst/>
            <a:cxnLst/>
            <a:rect l="l" t="t" r="r" b="b"/>
            <a:pathLst>
              <a:path w="1" h="52">
                <a:moveTo>
                  <a:pt x="0" y="0"/>
                </a:moveTo>
                <a:lnTo>
                  <a:pt x="0" y="52"/>
                </a:lnTo>
              </a:path>
            </a:pathLst>
          </a:custGeom>
          <a:noFill/>
          <a:ln w="12700">
            <a:solidFill>
              <a:srgbClr val="E3E0D8"/>
            </a:solidFill>
          </a:ln>
        </p:spPr>
      </p:sp>
      <p:sp>
        <p:nvSpPr>
          <p:cNvPr id="9" name="n2"/>
          <p:cNvSpPr txBox="1"/>
          <p:nvPr/>
        </p:nvSpPr>
        <p:spPr>
          <a:xfrm>
            <a:off x="4368800" y="4876800"/>
            <a:ext cx="32512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00000"/>
                </a:solidFill>
                <a:latin typeface="MiSans"/>
                <a:ea typeface="MiSans"/>
              </a:rPr>
              <a:t>样例 02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200" noProof="1" b="1">
                <a:solidFill>
                  <a:srgbClr val="000000"/>
                </a:solidFill>
                <a:latin typeface="MiSans"/>
                <a:ea typeface="MiSans"/>
              </a:rPr>
              <a:t>沉淀复用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noProof="1">
                <a:solidFill>
                  <a:srgbClr val="000000"/>
                </a:solidFill>
                <a:latin typeface="MiSans"/>
                <a:ea typeface="MiSans"/>
              </a:rPr>
              <a:t>知识问答助手 + 对话式应用</a:t>
            </a:r>
            <a:endParaRPr lang="en-US" sz="1600" noProof="1"/>
          </a:p>
        </p:txBody>
      </p:sp>
      <p:sp>
        <p:nvSpPr>
          <p:cNvPr id="10" name="s2"/>
          <p:cNvSpPr/>
          <p:nvPr>
            <p:extLst>
              <p:ext uri="{F5677B7D-0D2A-4D9B-9A5C-6D8D7D0E5A5D}">
                <pptd:line encoding="base64url">eyJ2aWV3Qm94IjpbMSw1Ml0sInBvaW50cyI6IjAsMCAwLDUyIiwiY3VydmUiOiJzaGFycCJ9</pptd:line>
              </p:ext>
            </p:extLst>
          </p:nvPr>
        </p:nvSpPr>
        <p:spPr>
          <a:xfrm>
            <a:off x="7772400" y="4953000"/>
            <a:ext cx="12700" cy="660400"/>
          </a:xfrm>
          <a:custGeom>
            <a:avLst/>
            <a:gdLst/>
            <a:ahLst/>
            <a:cxnLst/>
            <a:rect l="l" t="t" r="r" b="b"/>
            <a:pathLst>
              <a:path w="1" h="52">
                <a:moveTo>
                  <a:pt x="0" y="0"/>
                </a:moveTo>
                <a:lnTo>
                  <a:pt x="0" y="52"/>
                </a:lnTo>
              </a:path>
            </a:pathLst>
          </a:custGeom>
          <a:noFill/>
          <a:ln w="12700">
            <a:solidFill>
              <a:srgbClr val="E3E0D8"/>
            </a:solidFill>
          </a:ln>
        </p:spPr>
      </p:sp>
      <p:sp>
        <p:nvSpPr>
          <p:cNvPr id="11" name="n3"/>
          <p:cNvSpPr txBox="1"/>
          <p:nvPr/>
        </p:nvSpPr>
        <p:spPr>
          <a:xfrm>
            <a:off x="7924800" y="4876800"/>
            <a:ext cx="3454400" cy="762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l">
              <a:lnSpc>
                <a:spcPct val="120000"/>
              </a:lnSpc>
            </a:pPr>
            <a:r>
              <a:rPr lang="en-US" sz="1800" noProof="1" b="1">
                <a:solidFill>
                  <a:srgbClr val="000000"/>
                </a:solidFill>
                <a:latin typeface="MiSans"/>
                <a:ea typeface="MiSans"/>
              </a:rPr>
              <a:t>样例 03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600"/>
              </a:spcBef>
            </a:pPr>
            <a:r>
              <a:rPr lang="en-US" sz="1200" noProof="1" b="1">
                <a:solidFill>
                  <a:srgbClr val="000000"/>
                </a:solidFill>
                <a:latin typeface="MiSans"/>
                <a:ea typeface="MiSans"/>
              </a:rPr>
              <a:t>做好问题的定义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noProof="1">
                <a:solidFill>
                  <a:srgbClr val="000000"/>
                </a:solidFill>
                <a:latin typeface="MiSans"/>
                <a:ea typeface="MiSans"/>
              </a:rPr>
              <a:t>需求评估智能体 × ihub</a:t>
            </a:r>
            <a:endParaRPr lang="en-US" sz="1600" noProof="1"/>
          </a:p>
        </p:txBody>
      </p:sp>
      <p:sp>
        <p:nvSpPr>
          <p:cNvPr id="12" name="meta"/>
          <p:cNvSpPr txBox="1"/>
          <p:nvPr/>
        </p:nvSpPr>
        <p:spPr>
          <a:xfrm>
            <a:off x="812800" y="6299200"/>
            <a:ext cx="889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280"/>
                </a:solidFill>
                <a:latin typeface="MiSans"/>
                <a:ea typeface="MiSans"/>
              </a:rPr>
              <a:t>汇报人：算法开发工程师 · 2026-08 · 初稿：样例细节、数据与截图待补充</a:t>
            </a:r>
            <a:endParaRPr lang="en-US" sz="1000" noProof="1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57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D6E5F"/>
                </a:solidFill>
                <a:latin typeface="MiSans"/>
                <a:ea typeface="MiSans"/>
              </a:rPr>
              <a:t>总览 · OVERVIEW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112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F2A24"/>
                </a:solidFill>
                <a:latin typeface="MiSans"/>
                <a:ea typeface="MiSans"/>
              </a:rPr>
              <a:t>三个样例对应前篇的痛点与根因，一页看清对应关系</a:t>
            </a:r>
            <a:endParaRPr lang="en-US" sz="2400" noProof="1"/>
          </a:p>
        </p:txBody>
      </p:sp>
      <p:sp>
        <p:nvSpPr>
          <p:cNvPr id="4" name="title-line"/>
          <p:cNvSpPr/>
          <p:nvPr/>
        </p:nvSpPr>
        <p:spPr>
          <a:xfrm>
            <a:off x="812800" y="1219200"/>
            <a:ext cx="558800" cy="381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graphicFrame>
        <p:nvGraphicFramePr>
          <p:cNvPr id="5" name="overview-table"/>
          <p:cNvGraphicFramePr>
            <a:graphicFrameLocks noGrp="1"/>
          </p:cNvGraphicFramePr>
          <p:nvPr/>
        </p:nvGraphicFramePr>
        <p:xfrm>
          <a:off x="812800" y="1574800"/>
          <a:ext cx="10566400" cy="3403600"/>
        </p:xfrm>
        <a:graphic>
          <a:graphicData uri="http://schemas.openxmlformats.org/drawingml/2006/table">
            <a:tbl>
              <a:tblPr/>
              <a:tblGrid>
                <a:gridCol w="1690624"/>
                <a:gridCol w="3592576"/>
                <a:gridCol w="2747264"/>
                <a:gridCol w="2535936"/>
              </a:tblGrid>
              <a:tr h="54457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F2A24"/>
                          </a:solidFill>
                          <a:latin typeface="Times New Roman"/>
                          <a:ea typeface="Times New Roman"/>
                        </a:rPr>
                        <a:t>样例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0D6E5F"/>
                      </a:solidFill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F2A24"/>
                          </a:solidFill>
                          <a:latin typeface="Times New Roman"/>
                          <a:ea typeface="Times New Roman"/>
                        </a:rPr>
                        <a:t>核心做法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0D6E5F"/>
                      </a:solidFill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F2A24"/>
                          </a:solidFill>
                          <a:latin typeface="Times New Roman"/>
                          <a:ea typeface="Times New Roman"/>
                        </a:rPr>
                        <a:t>对应痛点（前篇）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0D6E5F"/>
                      </a:solidFill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F2A24"/>
                          </a:solidFill>
                          <a:latin typeface="Times New Roman"/>
                          <a:ea typeface="Times New Roman"/>
                        </a:rPr>
                        <a:t>对应根因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0D6E5F"/>
                      </a:solidFill>
                    </a:lnB>
                    <a:solidFill>
                      <a:srgbClr val="F4F2EC"/>
                    </a:solidFill>
                  </a:tcPr>
                </a:tc>
              </a:tr>
              <a:tr h="95300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3A423C"/>
                          </a:solidFill>
                          <a:latin typeface="Times New Roman"/>
                          <a:ea typeface="Times New Roman"/>
                        </a:rPr>
                        <a:t>01 一起压榨 AI 能力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0D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3A423C"/>
                          </a:solidFill>
                          <a:latin typeface="Times New Roman"/>
                          <a:ea typeface="Times New Roman"/>
                        </a:rPr>
                        <a:t>双方基于各自数字化资源执行、测试、验证，互传「AI 小作文」快速迭代需求与开发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0D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3A423C"/>
                          </a:solidFill>
                          <a:latin typeface="Times New Roman"/>
                          <a:ea typeface="Times New Roman"/>
                        </a:rPr>
                        <a:t>01 认知差距 · 03 需求模糊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0D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3A423C"/>
                          </a:solidFill>
                          <a:latin typeface="Times New Roman"/>
                          <a:ea typeface="Times New Roman"/>
                        </a:rPr>
                        <a:t>知识断层 / 流程缺失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0D8"/>
                      </a:solidFill>
                    </a:lnB>
                    <a:noFill/>
                  </a:tcPr>
                </a:tc>
              </a:tr>
              <a:tr h="95300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3A423C"/>
                          </a:solidFill>
                          <a:latin typeface="Times New Roman"/>
                          <a:ea typeface="Times New Roman"/>
                        </a:rPr>
                        <a:t>02 沉淀复用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0D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3A423C"/>
                          </a:solidFill>
                          <a:latin typeface="Times New Roman"/>
                          <a:ea typeface="Times New Roman"/>
                        </a:rPr>
                        <a:t>应用交付后沉淀 SOP 与文档，构建知识问答助手；接口化后构造对话式应用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0D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3A423C"/>
                          </a:solidFill>
                          <a:latin typeface="Times New Roman"/>
                          <a:ea typeface="Times New Roman"/>
                        </a:rPr>
                        <a:t>02 排期长 · 04 频繁变更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0D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3A423C"/>
                          </a:solidFill>
                          <a:latin typeface="Times New Roman"/>
                          <a:ea typeface="Times New Roman"/>
                        </a:rPr>
                        <a:t>流程缺失 / 工程结构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0D8"/>
                      </a:solidFill>
                    </a:lnB>
                    <a:noFill/>
                  </a:tcPr>
                </a:tc>
              </a:tr>
              <a:tr h="953008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3A423C"/>
                          </a:solidFill>
                          <a:latin typeface="Times New Roman"/>
                          <a:ea typeface="Times New Roman"/>
                        </a:rPr>
                        <a:t>03 做好问题的定义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0D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3A423C"/>
                          </a:solidFill>
                          <a:latin typeface="Times New Roman"/>
                          <a:ea typeface="Times New Roman"/>
                        </a:rPr>
                        <a:t>需求评估智能体暴露隐含假设、补齐技术语境，结合 ihub 管理任务组织状态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0D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3A423C"/>
                          </a:solidFill>
                          <a:latin typeface="Times New Roman"/>
                          <a:ea typeface="Times New Roman"/>
                        </a:rPr>
                        <a:t>03 需求模糊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0D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3A423C"/>
                          </a:solidFill>
                          <a:latin typeface="Times New Roman"/>
                          <a:ea typeface="Times New Roman"/>
                        </a:rPr>
                        <a:t>流程缺失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0D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note-label"/>
          <p:cNvSpPr txBox="1"/>
          <p:nvPr/>
        </p:nvSpPr>
        <p:spPr>
          <a:xfrm>
            <a:off x="812800" y="5232400"/>
            <a:ext cx="15240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F2A24"/>
                </a:solidFill>
                <a:latin typeface="MiSans"/>
                <a:ea typeface="MiSans"/>
              </a:rPr>
              <a:t>阅读方式：</a:t>
            </a:r>
            <a:endParaRPr lang="en-US" sz="1200" noProof="1"/>
          </a:p>
        </p:txBody>
      </p:sp>
      <p:sp>
        <p:nvSpPr>
          <p:cNvPr id="7" name="note"/>
          <p:cNvSpPr txBox="1"/>
          <p:nvPr/>
        </p:nvSpPr>
        <p:spPr>
          <a:xfrm>
            <a:off x="1905000" y="5232400"/>
            <a:ext cx="94742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3A423C"/>
                </a:solidFill>
                <a:latin typeface="MiSans"/>
                <a:ea typeface="MiSans"/>
              </a:rPr>
              <a:t>每个样例两页：第一页讲</a:t>
            </a:r>
            <a:r>
              <a:rPr lang="en-US" sz="1200" noProof="1" b="1">
                <a:solidFill>
                  <a:srgbClr val="000000"/>
                </a:solidFill>
                <a:latin typeface="MiSans"/>
                <a:ea typeface="MiSans"/>
              </a:rPr>
              <a:t>怎么做</a:t>
            </a:r>
            <a:r>
              <a:rPr lang="en-US" sz="1200" noProof="1">
                <a:solidFill>
                  <a:srgbClr val="3A423C"/>
                </a:solidFill>
                <a:latin typeface="MiSans"/>
                <a:ea typeface="MiSans"/>
              </a:rPr>
              <a:t>（机制与协作逻辑），第二页讲</a:t>
            </a:r>
            <a:r>
              <a:rPr lang="en-US" sz="1200" noProof="1" b="1">
                <a:solidFill>
                  <a:srgbClr val="000000"/>
                </a:solidFill>
                <a:latin typeface="MiSans"/>
                <a:ea typeface="MiSans"/>
              </a:rPr>
              <a:t>解决什么</a:t>
            </a:r>
            <a:r>
              <a:rPr lang="en-US" sz="1200" noProof="1">
                <a:solidFill>
                  <a:srgbClr val="3A423C"/>
                </a:solidFill>
                <a:latin typeface="MiSans"/>
                <a:ea typeface="MiSans"/>
              </a:rPr>
              <a:t>（对应的痛点）。本稿为初稿，实际案例、数据与截图留待补充。</a:t>
            </a:r>
            <a:endParaRPr lang="en-US" sz="1200" noProof="1"/>
          </a:p>
        </p:txBody>
      </p:sp>
      <p:sp>
        <p:nvSpPr>
          <p:cNvPr id="8" name="footer-line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64516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E3E0D8"/>
            </a:solidFill>
          </a:ln>
        </p:spPr>
      </p:sp>
      <p:sp>
        <p:nvSpPr>
          <p:cNvPr id="9" name="footer-left"/>
          <p:cNvSpPr txBox="1"/>
          <p:nvPr/>
        </p:nvSpPr>
        <p:spPr>
          <a:xfrm>
            <a:off x="812800" y="65278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B7280"/>
                </a:solidFill>
                <a:latin typeface="MiSans"/>
                <a:ea typeface="MiSans"/>
              </a:rPr>
              <a:t>三个落地样例 · 2026-08</a:t>
            </a:r>
            <a:endParaRPr lang="en-US" sz="900" noProof="1"/>
          </a:p>
        </p:txBody>
      </p:sp>
      <p:sp>
        <p:nvSpPr>
          <p:cNvPr id="10" name="footer-right"/>
          <p:cNvSpPr txBox="1"/>
          <p:nvPr/>
        </p:nvSpPr>
        <p:spPr>
          <a:xfrm>
            <a:off x="10109200" y="65278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B7280"/>
                </a:solidFill>
                <a:latin typeface="MiSans"/>
                <a:ea typeface="MiSans"/>
              </a:rPr>
              <a:t>02 / 08</a:t>
            </a:r>
            <a:endParaRPr lang="en-US" sz="900" noProof="1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57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D6E5F"/>
                </a:solidFill>
                <a:latin typeface="MiSans"/>
                <a:ea typeface="MiSans"/>
              </a:rPr>
              <a:t>样例 01 · SAMPLE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112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F2A24"/>
                </a:solidFill>
                <a:latin typeface="MiSans"/>
                <a:ea typeface="MiSans"/>
              </a:rPr>
              <a:t>一起压榨 AI 能力：互传「AI 小作文」，双向快速迭代</a:t>
            </a:r>
            <a:endParaRPr lang="en-US" sz="2400" noProof="1"/>
          </a:p>
        </p:txBody>
      </p:sp>
      <p:sp>
        <p:nvSpPr>
          <p:cNvPr id="4" name="title-line"/>
          <p:cNvSpPr/>
          <p:nvPr/>
        </p:nvSpPr>
        <p:spPr>
          <a:xfrm>
            <a:off x="812800" y="1219200"/>
            <a:ext cx="558800" cy="381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5" name="box-left"/>
          <p:cNvSpPr/>
          <p:nvPr/>
        </p:nvSpPr>
        <p:spPr>
          <a:xfrm>
            <a:off x="812800" y="1574800"/>
            <a:ext cx="3454400" cy="2692400"/>
          </a:xfrm>
          <a:prstGeom prst="roundRect">
            <a:avLst>
              <a:gd name="adj" fmla="val 8000"/>
            </a:avLst>
          </a:prstGeom>
          <a:solidFill>
            <a:srgbClr val="F4F2EC"/>
          </a:solidFill>
          <a:ln>
            <a:noFill/>
          </a:ln>
        </p:spPr>
      </p:sp>
      <p:sp>
        <p:nvSpPr>
          <p:cNvPr id="6" name="box-left-title"/>
          <p:cNvSpPr txBox="1"/>
          <p:nvPr/>
        </p:nvSpPr>
        <p:spPr>
          <a:xfrm>
            <a:off x="1041400" y="1752600"/>
            <a:ext cx="2997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F2A24"/>
                </a:solidFill>
                <a:latin typeface="MiSans"/>
                <a:ea typeface="MiSans"/>
              </a:rPr>
              <a:t>业务需求方</a:t>
            </a:r>
            <a:endParaRPr lang="en-US" sz="1300" noProof="1"/>
          </a:p>
        </p:txBody>
      </p:sp>
      <p:sp>
        <p:nvSpPr>
          <p:cNvPr id="7" name="box-left-tag"/>
          <p:cNvSpPr txBox="1"/>
          <p:nvPr/>
        </p:nvSpPr>
        <p:spPr>
          <a:xfrm>
            <a:off x="1041400" y="2006600"/>
            <a:ext cx="2997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280"/>
                </a:solidFill>
                <a:latin typeface="MiSans"/>
                <a:ea typeface="MiSans"/>
              </a:rPr>
              <a:t>材料数据库服务使用方</a:t>
            </a:r>
            <a:endParaRPr lang="en-US" sz="1000" noProof="1"/>
          </a:p>
        </p:txBody>
      </p:sp>
      <p:sp>
        <p:nvSpPr>
          <p:cNvPr id="8" name="box-left-list"/>
          <p:cNvSpPr txBox="1"/>
          <p:nvPr/>
        </p:nvSpPr>
        <p:spPr>
          <a:xfrm>
            <a:off x="1041400" y="2286000"/>
            <a:ext cx="2997200" cy="185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 b="1">
                <a:solidFill>
                  <a:srgbClr val="3A423C"/>
                </a:solidFill>
                <a:latin typeface="MiSans"/>
                <a:ea typeface="MiSans"/>
              </a:rPr>
              <a:t>相关性数字化资源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材料数据库平台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待解析 / 待服务的多模态文件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需求描述 · 预想效果与样例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已实现的用户端程序</a:t>
            </a:r>
            <a:endParaRPr lang="en-US" sz="1100" noProof="1"/>
          </a:p>
        </p:txBody>
      </p:sp>
      <p:sp>
        <p:nvSpPr>
          <p:cNvPr id="9" name="box-right"/>
          <p:cNvSpPr/>
          <p:nvPr/>
        </p:nvSpPr>
        <p:spPr>
          <a:xfrm>
            <a:off x="7924800" y="1574800"/>
            <a:ext cx="3454400" cy="2692400"/>
          </a:xfrm>
          <a:prstGeom prst="roundRect">
            <a:avLst>
              <a:gd name="adj" fmla="val 8000"/>
            </a:avLst>
          </a:prstGeom>
          <a:solidFill>
            <a:srgbClr val="F4F2EC"/>
          </a:solidFill>
          <a:ln>
            <a:noFill/>
          </a:ln>
        </p:spPr>
      </p:sp>
      <p:sp>
        <p:nvSpPr>
          <p:cNvPr id="10" name="box-right-title"/>
          <p:cNvSpPr txBox="1"/>
          <p:nvPr/>
        </p:nvSpPr>
        <p:spPr>
          <a:xfrm>
            <a:off x="8153400" y="1752600"/>
            <a:ext cx="29972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300" noProof="1" b="1">
                <a:solidFill>
                  <a:srgbClr val="1F2A24"/>
                </a:solidFill>
                <a:latin typeface="MiSans"/>
                <a:ea typeface="MiSans"/>
              </a:rPr>
              <a:t>算法开发方</a:t>
            </a:r>
            <a:endParaRPr lang="en-US" sz="1300" noProof="1"/>
          </a:p>
        </p:txBody>
      </p:sp>
      <p:sp>
        <p:nvSpPr>
          <p:cNvPr id="11" name="box-right-tag"/>
          <p:cNvSpPr txBox="1"/>
          <p:nvPr/>
        </p:nvSpPr>
        <p:spPr>
          <a:xfrm>
            <a:off x="8153400" y="2006600"/>
            <a:ext cx="2997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1000" noProof="1">
                <a:solidFill>
                  <a:srgbClr val="6B7280"/>
                </a:solidFill>
                <a:latin typeface="MiSans"/>
                <a:ea typeface="MiSans"/>
              </a:rPr>
              <a:t>Agent 服务构建方</a:t>
            </a:r>
            <a:endParaRPr lang="en-US" sz="1000" noProof="1"/>
          </a:p>
        </p:txBody>
      </p:sp>
      <p:sp>
        <p:nvSpPr>
          <p:cNvPr id="12" name="box-right-list"/>
          <p:cNvSpPr txBox="1"/>
          <p:nvPr/>
        </p:nvSpPr>
        <p:spPr>
          <a:xfrm>
            <a:off x="8153400" y="2286000"/>
            <a:ext cx="2997200" cy="185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45000"/>
              </a:lnSpc>
            </a:pPr>
            <a:r>
              <a:rPr lang="en-US" sz="1100" noProof="1" b="1">
                <a:solidFill>
                  <a:srgbClr val="3A423C"/>
                </a:solidFill>
                <a:latin typeface="MiSans"/>
                <a:ea typeface="MiSans"/>
              </a:rPr>
              <a:t>相关性数字化资源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大模型 API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已有 Agent 架构实现（基于 opencode）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程序接口 · 数据库</a:t>
            </a:r>
            <a:endParaRPr lang="en-US" sz="1100" noProof="1"/>
          </a:p>
          <a:p>
            <a:pPr>
              <a:lnSpc>
                <a:spcPct val="145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已实现的开发方程序</a:t>
            </a:r>
            <a:endParaRPr lang="en-US" sz="1100" noProof="1"/>
          </a:p>
        </p:txBody>
      </p:sp>
      <p:sp>
        <p:nvSpPr>
          <p:cNvPr id="13" name="arrow-left"/>
          <p:cNvSpPr/>
          <p:nvPr>
            <p:extLst>
              <p:ext uri="{F5677B7D-0D2A-4D9B-9A5C-6D8D7D0E5A5D}">
                <pptd:line encoding="base64url">eyJ2aWV3Qm94IjpbNzIsMV0sInBvaW50cyI6IjAsMCA3MiwwIiwiY3VydmUiOiJzaGFycCJ9</pptd:line>
              </p:ext>
            </p:extLst>
          </p:nvPr>
        </p:nvSpPr>
        <p:spPr>
          <a:xfrm>
            <a:off x="4368800" y="2032000"/>
            <a:ext cx="914400" cy="12700"/>
          </a:xfrm>
          <a:custGeom>
            <a:avLst/>
            <a:gdLst/>
            <a:ahLst/>
            <a:cxnLst/>
            <a:rect l="l" t="t" r="r" b="b"/>
            <a:pathLst>
              <a:path w="72" h="1">
                <a:moveTo>
                  <a:pt x="0" y="0"/>
                </a:moveTo>
                <a:lnTo>
                  <a:pt x="72" y="0"/>
                </a:lnTo>
              </a:path>
            </a:pathLst>
          </a:custGeom>
          <a:noFill/>
          <a:ln w="25400">
            <a:solidFill>
              <a:srgbClr val="0D6E5F"/>
            </a:solidFill>
            <a:headEnd type="stealth"/>
            <a:tailEnd type="stealth"/>
          </a:ln>
        </p:spPr>
      </p:sp>
      <p:sp>
        <p:nvSpPr>
          <p:cNvPr id="14" name="arrow-right"/>
          <p:cNvSpPr/>
          <p:nvPr>
            <p:extLst>
              <p:ext uri="{F5677B7D-0D2A-4D9B-9A5C-6D8D7D0E5A5D}">
                <pptd:line encoding="base64url">eyJ2aWV3Qm94IjpbNzIsMV0sInBvaW50cyI6IjAsMCA3MiwwIiwiY3VydmUiOiJzaGFycCJ9</pptd:line>
              </p:ext>
            </p:extLst>
          </p:nvPr>
        </p:nvSpPr>
        <p:spPr>
          <a:xfrm>
            <a:off x="6908800" y="2032000"/>
            <a:ext cx="914400" cy="12700"/>
          </a:xfrm>
          <a:custGeom>
            <a:avLst/>
            <a:gdLst/>
            <a:ahLst/>
            <a:cxnLst/>
            <a:rect l="l" t="t" r="r" b="b"/>
            <a:pathLst>
              <a:path w="72" h="1">
                <a:moveTo>
                  <a:pt x="0" y="0"/>
                </a:moveTo>
                <a:lnTo>
                  <a:pt x="72" y="0"/>
                </a:lnTo>
              </a:path>
            </a:pathLst>
          </a:custGeom>
          <a:noFill/>
          <a:ln w="25400">
            <a:solidFill>
              <a:srgbClr val="0D6E5F"/>
            </a:solidFill>
            <a:headEnd type="stealth"/>
            <a:tailEnd type="stealth"/>
          </a:ln>
        </p:spPr>
      </p:sp>
      <p:sp>
        <p:nvSpPr>
          <p:cNvPr id="15" name="chip"/>
          <p:cNvSpPr/>
          <p:nvPr/>
        </p:nvSpPr>
        <p:spPr>
          <a:xfrm>
            <a:off x="5384800" y="1816100"/>
            <a:ext cx="1422400" cy="431800"/>
          </a:xfrm>
          <a:prstGeom prst="roundRect">
            <a:avLst>
              <a:gd name="adj" fmla="val 50000"/>
            </a:avLst>
          </a:prstGeom>
          <a:solidFill>
            <a:srgbClr val="0D6E5F"/>
          </a:solidFill>
          <a:ln>
            <a:noFill/>
          </a:ln>
        </p:spPr>
      </p:sp>
      <p:sp>
        <p:nvSpPr>
          <p:cNvPr id="16" name="chip-text"/>
          <p:cNvSpPr txBox="1"/>
          <p:nvPr/>
        </p:nvSpPr>
        <p:spPr>
          <a:xfrm>
            <a:off x="5384800" y="1816100"/>
            <a:ext cx="1422400" cy="431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ctr"/>
          <a:lstStyle/>
          <a:p>
            <a:pPr algn="ctr">
              <a:lnSpc>
                <a:spcPct val="120000"/>
              </a:lnSpc>
            </a:pPr>
            <a:r>
              <a:rPr lang="en-US" sz="1200" noProof="1" b="1">
                <a:solidFill>
                  <a:srgbClr val="FFFFFF"/>
                </a:solidFill>
                <a:latin typeface="MiSans"/>
                <a:ea typeface="MiSans"/>
              </a:rPr>
              <a:t>AI 小作文</a:t>
            </a:r>
            <a:endParaRPr lang="en-US" sz="1200" noProof="1"/>
          </a:p>
        </p:txBody>
      </p:sp>
      <p:sp>
        <p:nvSpPr>
          <p:cNvPr id="17" name="center-desc"/>
          <p:cNvSpPr txBox="1"/>
          <p:nvPr/>
        </p:nvSpPr>
        <p:spPr>
          <a:xfrm>
            <a:off x="4724400" y="2438400"/>
            <a:ext cx="2743200" cy="1651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t"/>
          <a:lstStyle/>
          <a:p>
            <a:pPr algn="ctr">
              <a:lnSpc>
                <a:spcPct val="150000"/>
              </a:lnSpc>
            </a:pPr>
            <a:r>
              <a:rPr lang="en-US" sz="1000" noProof="1">
                <a:solidFill>
                  <a:srgbClr val="6B7280"/>
                </a:solidFill>
                <a:latin typeface="MiSans"/>
                <a:ea typeface="MiSans"/>
              </a:rPr>
              <a:t>双方各自基于自己的数字化资源环境执行、测试、验证 AI 交付的产物，结合自身需要互传「AI 小作文」，快速迭代需求与开发</a:t>
            </a:r>
            <a:endParaRPr lang="en-US" sz="1000" noProof="1"/>
          </a:p>
        </p:txBody>
      </p:sp>
      <p:sp>
        <p:nvSpPr>
          <p:cNvPr id="18" name="loop-label"/>
          <p:cNvSpPr txBox="1"/>
          <p:nvPr/>
        </p:nvSpPr>
        <p:spPr>
          <a:xfrm>
            <a:off x="812800" y="4521200"/>
            <a:ext cx="5080000" cy="228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200" noProof="1" b="1">
                <a:solidFill>
                  <a:srgbClr val="1F2A24"/>
                </a:solidFill>
                <a:latin typeface="MiSans"/>
                <a:ea typeface="MiSans"/>
              </a:rPr>
              <a:t>协作闭环（占位：可补充实际迭代轮次与耗时）</a:t>
            </a:r>
            <a:endParaRPr lang="en-US" sz="1200" noProof="1"/>
          </a:p>
        </p:txBody>
      </p:sp>
      <p:sp>
        <p:nvSpPr>
          <p:cNvPr id="19" name="step1"/>
          <p:cNvSpPr/>
          <p:nvPr/>
        </p:nvSpPr>
        <p:spPr>
          <a:xfrm>
            <a:off x="812800" y="4876800"/>
            <a:ext cx="2489200" cy="812800"/>
          </a:xfrm>
          <a:prstGeom prst="homePlate">
            <a:avLst>
              <a:gd name="adj" fmla="val 30000"/>
            </a:avLst>
          </a:prstGeom>
          <a:solidFill>
            <a:srgbClr val="F4F2EC"/>
          </a:solidFill>
          <a:ln w="12700">
            <a:solidFill>
              <a:srgbClr val="E3E0D8"/>
            </a:solidFill>
          </a:ln>
        </p:spPr>
      </p:sp>
      <p:sp>
        <p:nvSpPr>
          <p:cNvPr id="20" name="step1-text"/>
          <p:cNvSpPr txBox="1"/>
          <p:nvPr/>
        </p:nvSpPr>
        <p:spPr>
          <a:xfrm>
            <a:off x="965200" y="49530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000000"/>
                </a:solidFill>
                <a:latin typeface="MiSans"/>
                <a:ea typeface="MiSans"/>
              </a:rPr>
              <a:t>① 需求方发起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noProof="1">
                <a:solidFill>
                  <a:srgbClr val="000000"/>
                </a:solidFill>
                <a:latin typeface="MiSans"/>
                <a:ea typeface="MiSans"/>
              </a:rPr>
              <a:t>需求 + 自身环境写成小作文</a:t>
            </a:r>
            <a:endParaRPr lang="en-US" sz="1600" noProof="1"/>
          </a:p>
        </p:txBody>
      </p:sp>
      <p:sp>
        <p:nvSpPr>
          <p:cNvPr id="21" name="step2"/>
          <p:cNvSpPr/>
          <p:nvPr/>
        </p:nvSpPr>
        <p:spPr>
          <a:xfrm>
            <a:off x="3505200" y="4876800"/>
            <a:ext cx="2489200" cy="812800"/>
          </a:xfrm>
          <a:prstGeom prst="homePlate">
            <a:avLst>
              <a:gd name="adj" fmla="val 30000"/>
            </a:avLst>
          </a:prstGeom>
          <a:solidFill>
            <a:srgbClr val="F4F2EC"/>
          </a:solidFill>
          <a:ln w="12700">
            <a:solidFill>
              <a:srgbClr val="E3E0D8"/>
            </a:solidFill>
          </a:ln>
        </p:spPr>
      </p:sp>
      <p:sp>
        <p:nvSpPr>
          <p:cNvPr id="22" name="step2-text"/>
          <p:cNvSpPr txBox="1"/>
          <p:nvPr/>
        </p:nvSpPr>
        <p:spPr>
          <a:xfrm>
            <a:off x="3657600" y="49530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000000"/>
                </a:solidFill>
                <a:latin typeface="MiSans"/>
                <a:ea typeface="MiSans"/>
              </a:rPr>
              <a:t>② 开发方执行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noProof="1">
                <a:solidFill>
                  <a:srgbClr val="000000"/>
                </a:solidFill>
                <a:latin typeface="MiSans"/>
                <a:ea typeface="MiSans"/>
              </a:rPr>
              <a:t>在自身数字环境中测试验证</a:t>
            </a:r>
            <a:endParaRPr lang="en-US" sz="1600" noProof="1"/>
          </a:p>
        </p:txBody>
      </p:sp>
      <p:sp>
        <p:nvSpPr>
          <p:cNvPr id="23" name="step3"/>
          <p:cNvSpPr/>
          <p:nvPr/>
        </p:nvSpPr>
        <p:spPr>
          <a:xfrm>
            <a:off x="6197600" y="4876800"/>
            <a:ext cx="2489200" cy="812800"/>
          </a:xfrm>
          <a:prstGeom prst="homePlate">
            <a:avLst>
              <a:gd name="adj" fmla="val 30000"/>
            </a:avLst>
          </a:prstGeom>
          <a:solidFill>
            <a:srgbClr val="F4F2EC"/>
          </a:solidFill>
          <a:ln w="12700">
            <a:solidFill>
              <a:srgbClr val="E3E0D8"/>
            </a:solidFill>
          </a:ln>
        </p:spPr>
      </p:sp>
      <p:sp>
        <p:nvSpPr>
          <p:cNvPr id="24" name="step3-text"/>
          <p:cNvSpPr txBox="1"/>
          <p:nvPr/>
        </p:nvSpPr>
        <p:spPr>
          <a:xfrm>
            <a:off x="6350000" y="49530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000000"/>
                </a:solidFill>
                <a:latin typeface="MiSans"/>
                <a:ea typeface="MiSans"/>
              </a:rPr>
              <a:t>③ 回传小作文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noProof="1">
                <a:solidFill>
                  <a:srgbClr val="000000"/>
                </a:solidFill>
                <a:latin typeface="MiSans"/>
                <a:ea typeface="MiSans"/>
              </a:rPr>
              <a:t>产物 + 发现的问题一并回传</a:t>
            </a:r>
            <a:endParaRPr lang="en-US" sz="1600" noProof="1"/>
          </a:p>
        </p:txBody>
      </p:sp>
      <p:sp>
        <p:nvSpPr>
          <p:cNvPr id="25" name="step4"/>
          <p:cNvSpPr/>
          <p:nvPr/>
        </p:nvSpPr>
        <p:spPr>
          <a:xfrm>
            <a:off x="8890000" y="4876800"/>
            <a:ext cx="2489200" cy="812800"/>
          </a:xfrm>
          <a:prstGeom prst="homePlate">
            <a:avLst>
              <a:gd name="adj" fmla="val 30000"/>
            </a:avLst>
          </a:prstGeom>
          <a:solidFill>
            <a:srgbClr val="F4F2EC"/>
          </a:solidFill>
          <a:ln w="12700">
            <a:solidFill>
              <a:srgbClr val="E3E0D8"/>
            </a:solidFill>
          </a:ln>
        </p:spPr>
      </p:sp>
      <p:sp>
        <p:nvSpPr>
          <p:cNvPr id="26" name="step4-text"/>
          <p:cNvSpPr txBox="1"/>
          <p:nvPr/>
        </p:nvSpPr>
        <p:spPr>
          <a:xfrm>
            <a:off x="9042400" y="4953000"/>
            <a:ext cx="2032000" cy="66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000000"/>
                </a:solidFill>
                <a:latin typeface="MiSans"/>
                <a:ea typeface="MiSans"/>
              </a:rPr>
              <a:t>④ 需求方验证</a:t>
            </a:r>
            <a:endParaRPr lang="en-US" sz="1600" noProof="1"/>
          </a:p>
          <a:p>
            <a:pPr algn="l">
              <a:lnSpc>
                <a:spcPct val="120000"/>
              </a:lnSpc>
              <a:spcBef>
                <a:spcPts val="200"/>
              </a:spcBef>
            </a:pPr>
            <a:r>
              <a:rPr lang="en-US" sz="1000" noProof="1">
                <a:solidFill>
                  <a:srgbClr val="000000"/>
                </a:solidFill>
                <a:latin typeface="MiSans"/>
                <a:ea typeface="MiSans"/>
              </a:rPr>
              <a:t>确认效果，进入下一轮迭代</a:t>
            </a:r>
            <a:endParaRPr lang="en-US" sz="1600" noProof="1"/>
          </a:p>
        </p:txBody>
      </p:sp>
      <p:sp>
        <p:nvSpPr>
          <p:cNvPr id="27" name="footer-line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64516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E3E0D8"/>
            </a:solidFill>
          </a:ln>
        </p:spPr>
      </p:sp>
      <p:sp>
        <p:nvSpPr>
          <p:cNvPr id="28" name="footer-left"/>
          <p:cNvSpPr txBox="1"/>
          <p:nvPr/>
        </p:nvSpPr>
        <p:spPr>
          <a:xfrm>
            <a:off x="812800" y="65278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B7280"/>
                </a:solidFill>
                <a:latin typeface="MiSans"/>
                <a:ea typeface="MiSans"/>
              </a:rPr>
              <a:t>三个落地样例 · 2026-08</a:t>
            </a:r>
            <a:endParaRPr lang="en-US" sz="900" noProof="1"/>
          </a:p>
        </p:txBody>
      </p:sp>
      <p:sp>
        <p:nvSpPr>
          <p:cNvPr id="29" name="footer-right"/>
          <p:cNvSpPr txBox="1"/>
          <p:nvPr/>
        </p:nvSpPr>
        <p:spPr>
          <a:xfrm>
            <a:off x="10109200" y="65278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B7280"/>
                </a:solidFill>
                <a:latin typeface="MiSans"/>
                <a:ea typeface="MiSans"/>
              </a:rPr>
              <a:t>03 / 08</a:t>
            </a:r>
            <a:endParaRPr lang="en-US" sz="900" noProof="1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57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D6E5F"/>
                </a:solidFill>
                <a:latin typeface="MiSans"/>
                <a:ea typeface="MiSans"/>
              </a:rPr>
              <a:t>样例 01 · 解决痛点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112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F2A24"/>
                </a:solidFill>
                <a:latin typeface="MiSans"/>
                <a:ea typeface="MiSans"/>
              </a:rPr>
              <a:t>对齐三类痛点：认知差距 · 需求传递失真 · 需求模糊</a:t>
            </a:r>
            <a:endParaRPr lang="en-US" sz="2400" noProof="1"/>
          </a:p>
        </p:txBody>
      </p:sp>
      <p:sp>
        <p:nvSpPr>
          <p:cNvPr id="4" name="title-line"/>
          <p:cNvSpPr/>
          <p:nvPr/>
        </p:nvSpPr>
        <p:spPr>
          <a:xfrm>
            <a:off x="812800" y="1219200"/>
            <a:ext cx="558800" cy="381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5" name="card1"/>
          <p:cNvSpPr/>
          <p:nvPr/>
        </p:nvSpPr>
        <p:spPr>
          <a:xfrm>
            <a:off x="812800" y="1574800"/>
            <a:ext cx="3251200" cy="3225800"/>
          </a:xfrm>
          <a:prstGeom prst="roundRect">
            <a:avLst>
              <a:gd name="adj" fmla="val 6000"/>
            </a:avLst>
          </a:prstGeom>
          <a:solidFill>
            <a:srgbClr val="F4F2EC"/>
          </a:solidFill>
          <a:ln>
            <a:noFill/>
          </a:ln>
        </p:spPr>
      </p:sp>
      <p:sp>
        <p:nvSpPr>
          <p:cNvPr id="6" name="card1-tag"/>
          <p:cNvSpPr txBox="1"/>
          <p:nvPr/>
        </p:nvSpPr>
        <p:spPr>
          <a:xfrm>
            <a:off x="1066800" y="1803400"/>
            <a:ext cx="2743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100" kern="0">
                <a:solidFill>
                  <a:srgbClr val="C2410C"/>
                </a:solidFill>
                <a:latin typeface="MiSans"/>
                <a:ea typeface="MiSans"/>
              </a:rPr>
              <a:t>痛点 · 认知差距</a:t>
            </a:r>
            <a:endParaRPr lang="en-US" sz="1000" noProof="1"/>
          </a:p>
        </p:txBody>
      </p:sp>
      <p:sp>
        <p:nvSpPr>
          <p:cNvPr id="7" name="card1-title"/>
          <p:cNvSpPr txBox="1"/>
          <p:nvPr/>
        </p:nvSpPr>
        <p:spPr>
          <a:xfrm>
            <a:off x="1066800" y="2057400"/>
            <a:ext cx="2743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2A24"/>
                </a:solidFill>
                <a:latin typeface="MiSans"/>
                <a:ea typeface="MiSans"/>
              </a:rPr>
              <a:t>知识域差距大</a:t>
            </a:r>
            <a:endParaRPr lang="en-US" sz="1400" noProof="1"/>
          </a:p>
        </p:txBody>
      </p:sp>
      <p:sp>
        <p:nvSpPr>
          <p:cNvPr id="8" name="card1-line"/>
          <p:cNvSpPr/>
          <p:nvPr/>
        </p:nvSpPr>
        <p:spPr>
          <a:xfrm>
            <a:off x="1066800" y="2413000"/>
            <a:ext cx="40640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9" name="card1-body"/>
          <p:cNvSpPr txBox="1"/>
          <p:nvPr/>
        </p:nvSpPr>
        <p:spPr>
          <a:xfrm>
            <a:off x="1066800" y="2590800"/>
            <a:ext cx="2743200" cy="198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算法开发方最熟悉可用算法，业务需求方最了解自己的需求——双方知识域差距大。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通过 </a:t>
            </a:r>
            <a:r>
              <a:rPr lang="en-US" sz="1100" noProof="1" b="1">
                <a:solidFill>
                  <a:srgbClr val="000000"/>
                </a:solidFill>
                <a:latin typeface="MiSans"/>
                <a:ea typeface="MiSans"/>
              </a:rPr>
              <a:t>AI 小作文</a:t>
            </a: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，两边把各自语境写清楚，需求在对齐中达成共识。</a:t>
            </a:r>
            <a:endParaRPr lang="en-US" sz="1100" noProof="1"/>
          </a:p>
        </p:txBody>
      </p:sp>
      <p:sp>
        <p:nvSpPr>
          <p:cNvPr id="10" name="card2"/>
          <p:cNvSpPr/>
          <p:nvPr/>
        </p:nvSpPr>
        <p:spPr>
          <a:xfrm>
            <a:off x="4470400" y="1574800"/>
            <a:ext cx="3251200" cy="3225800"/>
          </a:xfrm>
          <a:prstGeom prst="roundRect">
            <a:avLst>
              <a:gd name="adj" fmla="val 6000"/>
            </a:avLst>
          </a:prstGeom>
          <a:solidFill>
            <a:srgbClr val="F4F2EC"/>
          </a:solidFill>
          <a:ln>
            <a:noFill/>
          </a:ln>
        </p:spPr>
      </p:sp>
      <p:sp>
        <p:nvSpPr>
          <p:cNvPr id="11" name="card2-tag"/>
          <p:cNvSpPr txBox="1"/>
          <p:nvPr/>
        </p:nvSpPr>
        <p:spPr>
          <a:xfrm>
            <a:off x="4724400" y="1803400"/>
            <a:ext cx="2743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100" kern="0">
                <a:solidFill>
                  <a:srgbClr val="C2410C"/>
                </a:solidFill>
                <a:latin typeface="MiSans"/>
                <a:ea typeface="MiSans"/>
              </a:rPr>
              <a:t>痛点 · 需求传递失真</a:t>
            </a:r>
            <a:endParaRPr lang="en-US" sz="1000" noProof="1"/>
          </a:p>
        </p:txBody>
      </p:sp>
      <p:sp>
        <p:nvSpPr>
          <p:cNvPr id="12" name="card2-title"/>
          <p:cNvSpPr txBox="1"/>
          <p:nvPr/>
        </p:nvSpPr>
        <p:spPr>
          <a:xfrm>
            <a:off x="4724400" y="2057400"/>
            <a:ext cx="2743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2A24"/>
                </a:solidFill>
                <a:latin typeface="MiSans"/>
                <a:ea typeface="MiSans"/>
              </a:rPr>
              <a:t>言之有物的传递</a:t>
            </a:r>
            <a:endParaRPr lang="en-US" sz="1400" noProof="1"/>
          </a:p>
        </p:txBody>
      </p:sp>
      <p:sp>
        <p:nvSpPr>
          <p:cNvPr id="13" name="card2-line"/>
          <p:cNvSpPr/>
          <p:nvPr/>
        </p:nvSpPr>
        <p:spPr>
          <a:xfrm>
            <a:off x="4724400" y="2413000"/>
            <a:ext cx="40640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14" name="card2-body"/>
          <p:cNvSpPr txBox="1"/>
          <p:nvPr/>
        </p:nvSpPr>
        <p:spPr>
          <a:xfrm>
            <a:off x="4724400" y="2590800"/>
            <a:ext cx="2743200" cy="198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口头或文档传递容易失真，需求在转述中变形。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AI 借助</a:t>
            </a:r>
            <a:r>
              <a:rPr lang="en-US" sz="1100" noProof="1" b="1">
                <a:solidFill>
                  <a:srgbClr val="000000"/>
                </a:solidFill>
                <a:latin typeface="MiSans"/>
                <a:ea typeface="MiSans"/>
              </a:rPr>
              <a:t>执行与环境</a:t>
            </a: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进行言之有物的需求传递，并快速执行、迭代，直接解决相关问题。</a:t>
            </a:r>
            <a:endParaRPr lang="en-US" sz="1100" noProof="1"/>
          </a:p>
        </p:txBody>
      </p:sp>
      <p:sp>
        <p:nvSpPr>
          <p:cNvPr id="15" name="card3"/>
          <p:cNvSpPr/>
          <p:nvPr/>
        </p:nvSpPr>
        <p:spPr>
          <a:xfrm>
            <a:off x="8128000" y="1574800"/>
            <a:ext cx="3251200" cy="3225800"/>
          </a:xfrm>
          <a:prstGeom prst="roundRect">
            <a:avLst>
              <a:gd name="adj" fmla="val 6000"/>
            </a:avLst>
          </a:prstGeom>
          <a:solidFill>
            <a:srgbClr val="F4F2EC"/>
          </a:solidFill>
          <a:ln>
            <a:noFill/>
          </a:ln>
        </p:spPr>
      </p:sp>
      <p:sp>
        <p:nvSpPr>
          <p:cNvPr id="16" name="card3-tag"/>
          <p:cNvSpPr txBox="1"/>
          <p:nvPr/>
        </p:nvSpPr>
        <p:spPr>
          <a:xfrm>
            <a:off x="8382000" y="1803400"/>
            <a:ext cx="27432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100" kern="0">
                <a:solidFill>
                  <a:srgbClr val="C2410C"/>
                </a:solidFill>
                <a:latin typeface="MiSans"/>
                <a:ea typeface="MiSans"/>
              </a:rPr>
              <a:t>痛点 · 需求模糊</a:t>
            </a:r>
            <a:endParaRPr lang="en-US" sz="1000" noProof="1"/>
          </a:p>
        </p:txBody>
      </p:sp>
      <p:sp>
        <p:nvSpPr>
          <p:cNvPr id="17" name="card3-title"/>
          <p:cNvSpPr txBox="1"/>
          <p:nvPr/>
        </p:nvSpPr>
        <p:spPr>
          <a:xfrm>
            <a:off x="8382000" y="2057400"/>
            <a:ext cx="27432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2A24"/>
                </a:solidFill>
                <a:latin typeface="MiSans"/>
                <a:ea typeface="MiSans"/>
              </a:rPr>
              <a:t>缺乏统一模板</a:t>
            </a:r>
            <a:endParaRPr lang="en-US" sz="1400" noProof="1"/>
          </a:p>
        </p:txBody>
      </p:sp>
      <p:sp>
        <p:nvSpPr>
          <p:cNvPr id="18" name="card3-line"/>
          <p:cNvSpPr/>
          <p:nvPr/>
        </p:nvSpPr>
        <p:spPr>
          <a:xfrm>
            <a:off x="8382000" y="2413000"/>
            <a:ext cx="40640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19" name="card3-body"/>
          <p:cNvSpPr txBox="1"/>
          <p:nvPr/>
        </p:nvSpPr>
        <p:spPr>
          <a:xfrm>
            <a:off x="8382000" y="2590800"/>
            <a:ext cx="2743200" cy="198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需求描述没有统一模板，模糊需求来回拉扯。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通过 </a:t>
            </a:r>
            <a:r>
              <a:rPr lang="en-US" sz="1100" noProof="1" b="1">
                <a:solidFill>
                  <a:srgbClr val="000000"/>
                </a:solidFill>
                <a:latin typeface="MiSans"/>
                <a:ea typeface="MiSans"/>
              </a:rPr>
              <a:t>AI 小作文</a:t>
            </a: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协调两边发现的问题，让模糊需求在迭代中逐步成形。</a:t>
            </a:r>
            <a:endParaRPr lang="en-US" sz="1100" noProof="1"/>
          </a:p>
        </p:txBody>
      </p:sp>
      <p:sp>
        <p:nvSpPr>
          <p:cNvPr id="20" name="bottom-note"/>
          <p:cNvSpPr txBox="1"/>
          <p:nvPr/>
        </p:nvSpPr>
        <p:spPr>
          <a:xfrm>
            <a:off x="812800" y="51054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3A423C"/>
                </a:solidFill>
                <a:latin typeface="MiSans"/>
                <a:ea typeface="MiSans"/>
              </a:rPr>
              <a:t>对应前篇分析：</a:t>
            </a:r>
            <a:r>
              <a:rPr lang="en-US" sz="1200" noProof="1">
                <a:solidFill>
                  <a:srgbClr val="3A423C"/>
                </a:solidFill>
                <a:latin typeface="MiSans"/>
                <a:ea typeface="MiSans"/>
              </a:rPr>
              <a:t>痛点 </a:t>
            </a:r>
            <a:r>
              <a:rPr lang="en-US" sz="1200" noProof="1" b="1">
                <a:solidFill>
                  <a:srgbClr val="000000"/>
                </a:solidFill>
                <a:latin typeface="MiSans"/>
                <a:ea typeface="MiSans"/>
              </a:rPr>
              <a:t>01 认知差距</a:t>
            </a:r>
            <a:r>
              <a:rPr lang="en-US" sz="1200" noProof="1">
                <a:solidFill>
                  <a:srgbClr val="3A423C"/>
                </a:solidFill>
                <a:latin typeface="MiSans"/>
                <a:ea typeface="MiSans"/>
              </a:rPr>
              <a:t>（根因：知识断层） · 痛点 </a:t>
            </a:r>
            <a:r>
              <a:rPr lang="en-US" sz="1200" noProof="1" b="1">
                <a:solidFill>
                  <a:srgbClr val="000000"/>
                </a:solidFill>
                <a:latin typeface="MiSans"/>
                <a:ea typeface="MiSans"/>
              </a:rPr>
              <a:t>03 需求模糊</a:t>
            </a:r>
            <a:r>
              <a:rPr lang="en-US" sz="1200" noProof="1">
                <a:solidFill>
                  <a:srgbClr val="3A423C"/>
                </a:solidFill>
                <a:latin typeface="MiSans"/>
                <a:ea typeface="MiSans"/>
              </a:rPr>
              <a:t>（根因：流程缺失）——本页为初稿，实际案例与量化效果待补充。</a:t>
            </a:r>
            <a:endParaRPr lang="en-US" sz="1200" noProof="1"/>
          </a:p>
        </p:txBody>
      </p:sp>
      <p:sp>
        <p:nvSpPr>
          <p:cNvPr id="21" name="footer-line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64516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E3E0D8"/>
            </a:solidFill>
          </a:ln>
        </p:spPr>
      </p:sp>
      <p:sp>
        <p:nvSpPr>
          <p:cNvPr id="22" name="footer-left"/>
          <p:cNvSpPr txBox="1"/>
          <p:nvPr/>
        </p:nvSpPr>
        <p:spPr>
          <a:xfrm>
            <a:off x="812800" y="65278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B7280"/>
                </a:solidFill>
                <a:latin typeface="MiSans"/>
                <a:ea typeface="MiSans"/>
              </a:rPr>
              <a:t>三个落地样例 · 2026-08</a:t>
            </a:r>
            <a:endParaRPr lang="en-US" sz="900" noProof="1"/>
          </a:p>
        </p:txBody>
      </p:sp>
      <p:sp>
        <p:nvSpPr>
          <p:cNvPr id="23" name="footer-right"/>
          <p:cNvSpPr txBox="1"/>
          <p:nvPr/>
        </p:nvSpPr>
        <p:spPr>
          <a:xfrm>
            <a:off x="10109200" y="65278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B7280"/>
                </a:solidFill>
                <a:latin typeface="MiSans"/>
                <a:ea typeface="MiSans"/>
              </a:rPr>
              <a:t>04 / 08</a:t>
            </a:r>
            <a:endParaRPr lang="en-US" sz="900" noProof="1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57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D6E5F"/>
                </a:solidFill>
                <a:latin typeface="MiSans"/>
                <a:ea typeface="MiSans"/>
              </a:rPr>
              <a:t>样例 02 · SAMPLE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112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F2A24"/>
                </a:solidFill>
                <a:latin typeface="MiSans"/>
                <a:ea typeface="MiSans"/>
              </a:rPr>
              <a:t>沉淀复用：交付之后，把应用变成可复用的知识与接口</a:t>
            </a:r>
            <a:endParaRPr lang="en-US" sz="2400" noProof="1"/>
          </a:p>
        </p:txBody>
      </p:sp>
      <p:sp>
        <p:nvSpPr>
          <p:cNvPr id="4" name="title-line"/>
          <p:cNvSpPr/>
          <p:nvPr/>
        </p:nvSpPr>
        <p:spPr>
          <a:xfrm>
            <a:off x="812800" y="1219200"/>
            <a:ext cx="558800" cy="381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5" name="col1-head"/>
          <p:cNvSpPr txBox="1"/>
          <p:nvPr/>
        </p:nvSpPr>
        <p:spPr>
          <a:xfrm>
            <a:off x="812800" y="15748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00000"/>
                </a:solidFill>
                <a:latin typeface="MiSans"/>
                <a:ea typeface="MiSans"/>
              </a:rPr>
              <a:t>2.1</a:t>
            </a:r>
            <a:r>
              <a:rPr lang="en-US" sz="1400" noProof="1" b="1">
                <a:solidFill>
                  <a:srgbClr val="1F2A24"/>
                </a:solidFill>
                <a:latin typeface="MiSans"/>
                <a:ea typeface="MiSans"/>
              </a:rPr>
              <a:t> 构建知识问答助手</a:t>
            </a:r>
            <a:endParaRPr lang="en-US" sz="1400" noProof="1"/>
          </a:p>
        </p:txBody>
      </p:sp>
      <p:sp>
        <p:nvSpPr>
          <p:cNvPr id="6" name="c1-chip1"/>
          <p:cNvSpPr/>
          <p:nvPr/>
        </p:nvSpPr>
        <p:spPr>
          <a:xfrm>
            <a:off x="812800" y="2006600"/>
            <a:ext cx="5080000" cy="584200"/>
          </a:xfrm>
          <a:prstGeom prst="roundRect">
            <a:avLst>
              <a:gd name="adj" fmla="val 12000"/>
            </a:avLst>
          </a:prstGeom>
          <a:solidFill>
            <a:srgbClr val="F4F2EC"/>
          </a:solidFill>
          <a:ln>
            <a:noFill/>
          </a:ln>
        </p:spPr>
      </p:sp>
      <p:sp>
        <p:nvSpPr>
          <p:cNvPr id="7" name="c1-chip1-text"/>
          <p:cNvSpPr txBox="1"/>
          <p:nvPr/>
        </p:nvSpPr>
        <p:spPr>
          <a:xfrm>
            <a:off x="1016000" y="2006600"/>
            <a:ext cx="46736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1F2A24"/>
                </a:solidFill>
                <a:latin typeface="MiSans"/>
                <a:ea typeface="MiSans"/>
              </a:rPr>
              <a:t>应用 / 工具交付完成</a:t>
            </a:r>
            <a:endParaRPr lang="en-US" sz="1100" noProof="1"/>
          </a:p>
        </p:txBody>
      </p:sp>
      <p:sp>
        <p:nvSpPr>
          <p:cNvPr id="8" name="c1-arrow1"/>
          <p:cNvSpPr/>
          <p:nvPr>
            <p:extLst>
              <p:ext uri="{F5677B7D-0D2A-4D9B-9A5C-6D8D7D0E5A5D}">
                <pptd:line encoding="base64url">eyJ2aWV3Qm94IjpbMSwxNl0sInBvaW50cyI6IjAsMCAwLDE2IiwiY3VydmUiOiJzaGFycCJ9</pptd:line>
              </p:ext>
            </p:extLst>
          </p:nvPr>
        </p:nvSpPr>
        <p:spPr>
          <a:xfrm>
            <a:off x="3352800" y="2590800"/>
            <a:ext cx="12700" cy="203200"/>
          </a:xfrm>
          <a:custGeom>
            <a:avLst/>
            <a:gdLst/>
            <a:ahLst/>
            <a:cxnLst/>
            <a:rect l="l" t="t" r="r" b="b"/>
            <a:pathLst>
              <a:path w="1" h="16">
                <a:moveTo>
                  <a:pt x="0" y="0"/>
                </a:moveTo>
                <a:lnTo>
                  <a:pt x="0" y="16"/>
                </a:lnTo>
              </a:path>
            </a:pathLst>
          </a:custGeom>
          <a:noFill/>
          <a:ln w="25400">
            <a:solidFill>
              <a:srgbClr val="0D6E5F"/>
            </a:solidFill>
            <a:tailEnd type="stealth"/>
          </a:ln>
        </p:spPr>
      </p:sp>
      <p:sp>
        <p:nvSpPr>
          <p:cNvPr id="9" name="c1-chip2"/>
          <p:cNvSpPr/>
          <p:nvPr/>
        </p:nvSpPr>
        <p:spPr>
          <a:xfrm>
            <a:off x="812800" y="2794000"/>
            <a:ext cx="5080000" cy="584200"/>
          </a:xfrm>
          <a:prstGeom prst="roundRect">
            <a:avLst>
              <a:gd name="adj" fmla="val 12000"/>
            </a:avLst>
          </a:prstGeom>
          <a:solidFill>
            <a:srgbClr val="F4F2EC"/>
          </a:solidFill>
          <a:ln>
            <a:noFill/>
          </a:ln>
        </p:spPr>
      </p:sp>
      <p:sp>
        <p:nvSpPr>
          <p:cNvPr id="10" name="c1-chip2-text"/>
          <p:cNvSpPr txBox="1"/>
          <p:nvPr/>
        </p:nvSpPr>
        <p:spPr>
          <a:xfrm>
            <a:off x="1016000" y="2794000"/>
            <a:ext cx="46736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沉淀使用 </a:t>
            </a:r>
            <a:r>
              <a:rPr lang="en-US" sz="1100" noProof="1" b="1">
                <a:solidFill>
                  <a:srgbClr val="3A423C"/>
                </a:solidFill>
                <a:latin typeface="MiSans"/>
                <a:ea typeface="MiSans"/>
              </a:rPr>
              <a:t>SOP</a:t>
            </a: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 与</a:t>
            </a:r>
            <a:r>
              <a:rPr lang="en-US" sz="1100" noProof="1" b="1">
                <a:solidFill>
                  <a:srgbClr val="3A423C"/>
                </a:solidFill>
                <a:latin typeface="MiSans"/>
                <a:ea typeface="MiSans"/>
              </a:rPr>
              <a:t>接口文档</a:t>
            </a: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（文档化）</a:t>
            </a:r>
            <a:endParaRPr lang="en-US" sz="1100" noProof="1"/>
          </a:p>
        </p:txBody>
      </p:sp>
      <p:sp>
        <p:nvSpPr>
          <p:cNvPr id="11" name="c1-arrow2"/>
          <p:cNvSpPr/>
          <p:nvPr>
            <p:extLst>
              <p:ext uri="{F5677B7D-0D2A-4D9B-9A5C-6D8D7D0E5A5D}">
                <pptd:line encoding="base64url">eyJ2aWV3Qm94IjpbMSwxNl0sInBvaW50cyI6IjAsMCAwLDE2IiwiY3VydmUiOiJzaGFycCJ9</pptd:line>
              </p:ext>
            </p:extLst>
          </p:nvPr>
        </p:nvSpPr>
        <p:spPr>
          <a:xfrm>
            <a:off x="3352800" y="3378200"/>
            <a:ext cx="12700" cy="203200"/>
          </a:xfrm>
          <a:custGeom>
            <a:avLst/>
            <a:gdLst/>
            <a:ahLst/>
            <a:cxnLst/>
            <a:rect l="l" t="t" r="r" b="b"/>
            <a:pathLst>
              <a:path w="1" h="16">
                <a:moveTo>
                  <a:pt x="0" y="0"/>
                </a:moveTo>
                <a:lnTo>
                  <a:pt x="0" y="16"/>
                </a:lnTo>
              </a:path>
            </a:pathLst>
          </a:custGeom>
          <a:noFill/>
          <a:ln w="25400">
            <a:solidFill>
              <a:srgbClr val="0D6E5F"/>
            </a:solidFill>
            <a:tailEnd type="stealth"/>
          </a:ln>
        </p:spPr>
      </p:sp>
      <p:sp>
        <p:nvSpPr>
          <p:cNvPr id="12" name="c1-chip3"/>
          <p:cNvSpPr/>
          <p:nvPr/>
        </p:nvSpPr>
        <p:spPr>
          <a:xfrm>
            <a:off x="812800" y="3581400"/>
            <a:ext cx="5080000" cy="584200"/>
          </a:xfrm>
          <a:prstGeom prst="roundRect">
            <a:avLst>
              <a:gd name="adj" fmla="val 12000"/>
            </a:avLst>
          </a:prstGeom>
          <a:solidFill>
            <a:srgbClr val="F4F2EC"/>
          </a:solidFill>
          <a:ln>
            <a:noFill/>
          </a:ln>
        </p:spPr>
      </p:sp>
      <p:sp>
        <p:nvSpPr>
          <p:cNvPr id="13" name="c1-chip3-text"/>
          <p:cNvSpPr txBox="1"/>
          <p:nvPr/>
        </p:nvSpPr>
        <p:spPr>
          <a:xfrm>
            <a:off x="1016000" y="3581400"/>
            <a:ext cx="46736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做成文档、做成 skill，构建</a:t>
            </a:r>
            <a:r>
              <a:rPr lang="en-US" sz="1100" noProof="1" b="1">
                <a:solidFill>
                  <a:srgbClr val="3A423C"/>
                </a:solidFill>
                <a:latin typeface="MiSans"/>
                <a:ea typeface="MiSans"/>
              </a:rPr>
              <a:t>知识问答助手</a:t>
            </a: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（AI 化）</a:t>
            </a:r>
            <a:endParaRPr lang="en-US" sz="1100" noProof="1"/>
          </a:p>
        </p:txBody>
      </p:sp>
      <p:sp>
        <p:nvSpPr>
          <p:cNvPr id="14" name="c1-arrow3"/>
          <p:cNvSpPr/>
          <p:nvPr>
            <p:extLst>
              <p:ext uri="{F5677B7D-0D2A-4D9B-9A5C-6D8D7D0E5A5D}">
                <pptd:line encoding="base64url">eyJ2aWV3Qm94IjpbMSwxNl0sInBvaW50cyI6IjAsMCAwLDE2IiwiY3VydmUiOiJzaGFycCJ9</pptd:line>
              </p:ext>
            </p:extLst>
          </p:nvPr>
        </p:nvSpPr>
        <p:spPr>
          <a:xfrm>
            <a:off x="3352800" y="4165600"/>
            <a:ext cx="12700" cy="203200"/>
          </a:xfrm>
          <a:custGeom>
            <a:avLst/>
            <a:gdLst/>
            <a:ahLst/>
            <a:cxnLst/>
            <a:rect l="l" t="t" r="r" b="b"/>
            <a:pathLst>
              <a:path w="1" h="16">
                <a:moveTo>
                  <a:pt x="0" y="0"/>
                </a:moveTo>
                <a:lnTo>
                  <a:pt x="0" y="16"/>
                </a:lnTo>
              </a:path>
            </a:pathLst>
          </a:custGeom>
          <a:noFill/>
          <a:ln w="25400">
            <a:solidFill>
              <a:srgbClr val="0D6E5F"/>
            </a:solidFill>
            <a:tailEnd type="stealth"/>
          </a:ln>
        </p:spPr>
      </p:sp>
      <p:sp>
        <p:nvSpPr>
          <p:cNvPr id="15" name="c1-chip4"/>
          <p:cNvSpPr/>
          <p:nvPr/>
        </p:nvSpPr>
        <p:spPr>
          <a:xfrm>
            <a:off x="812800" y="4368800"/>
            <a:ext cx="5080000" cy="584200"/>
          </a:xfrm>
          <a:prstGeom prst="roundRect">
            <a:avLst>
              <a:gd name="adj" fmla="val 12000"/>
            </a:avLst>
          </a:prstGeom>
          <a:solidFill>
            <a:srgbClr val="0D6E5F"/>
          </a:solidFill>
          <a:ln>
            <a:noFill/>
          </a:ln>
        </p:spPr>
      </p:sp>
      <p:sp>
        <p:nvSpPr>
          <p:cNvPr id="16" name="c1-chip4-text"/>
          <p:cNvSpPr txBox="1"/>
          <p:nvPr/>
        </p:nvSpPr>
        <p:spPr>
          <a:xfrm>
            <a:off x="1016000" y="4368800"/>
            <a:ext cx="46736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FFFFFF"/>
                </a:solidFill>
                <a:latin typeface="MiSans"/>
                <a:ea typeface="MiSans"/>
              </a:rPr>
              <a:t>服务后续用户：</a:t>
            </a:r>
            <a:r>
              <a:rPr lang="en-US" sz="1100" noProof="1">
                <a:solidFill>
                  <a:srgbClr val="FFFFFF"/>
                </a:solidFill>
                <a:latin typeface="MiSans"/>
                <a:ea typeface="MiSans"/>
              </a:rPr>
              <a:t>遇到问题先问助手，方便复用</a:t>
            </a:r>
            <a:endParaRPr lang="en-US" sz="1100" noProof="1"/>
          </a:p>
        </p:txBody>
      </p:sp>
      <p:sp>
        <p:nvSpPr>
          <p:cNvPr id="17" name="col2-head"/>
          <p:cNvSpPr txBox="1"/>
          <p:nvPr/>
        </p:nvSpPr>
        <p:spPr>
          <a:xfrm>
            <a:off x="6299200" y="1574800"/>
            <a:ext cx="5080000" cy="279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00000"/>
                </a:solidFill>
                <a:latin typeface="MiSans"/>
                <a:ea typeface="MiSans"/>
              </a:rPr>
              <a:t>2.2</a:t>
            </a:r>
            <a:r>
              <a:rPr lang="en-US" sz="1400" noProof="1" b="1">
                <a:solidFill>
                  <a:srgbClr val="1F2A24"/>
                </a:solidFill>
                <a:latin typeface="MiSans"/>
                <a:ea typeface="MiSans"/>
              </a:rPr>
              <a:t> 沉淀接口，构建对话式应用</a:t>
            </a:r>
            <a:endParaRPr lang="en-US" sz="1400" noProof="1"/>
          </a:p>
        </p:txBody>
      </p:sp>
      <p:sp>
        <p:nvSpPr>
          <p:cNvPr id="18" name="c2-chip1"/>
          <p:cNvSpPr/>
          <p:nvPr/>
        </p:nvSpPr>
        <p:spPr>
          <a:xfrm>
            <a:off x="6299200" y="2006600"/>
            <a:ext cx="5080000" cy="584200"/>
          </a:xfrm>
          <a:prstGeom prst="roundRect">
            <a:avLst>
              <a:gd name="adj" fmla="val 12000"/>
            </a:avLst>
          </a:prstGeom>
          <a:solidFill>
            <a:srgbClr val="F4F2EC"/>
          </a:solidFill>
          <a:ln>
            <a:noFill/>
          </a:ln>
        </p:spPr>
      </p:sp>
      <p:sp>
        <p:nvSpPr>
          <p:cNvPr id="19" name="c2-chip1-text"/>
          <p:cNvSpPr txBox="1"/>
          <p:nvPr/>
        </p:nvSpPr>
        <p:spPr>
          <a:xfrm>
            <a:off x="6502400" y="2006600"/>
            <a:ext cx="46736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1F2A24"/>
                </a:solidFill>
                <a:latin typeface="MiSans"/>
                <a:ea typeface="MiSans"/>
              </a:rPr>
              <a:t>应用交付后做代码 review</a:t>
            </a:r>
            <a:endParaRPr lang="en-US" sz="1100" noProof="1"/>
          </a:p>
        </p:txBody>
      </p:sp>
      <p:sp>
        <p:nvSpPr>
          <p:cNvPr id="20" name="c2-arrow1"/>
          <p:cNvSpPr/>
          <p:nvPr>
            <p:extLst>
              <p:ext uri="{F5677B7D-0D2A-4D9B-9A5C-6D8D7D0E5A5D}">
                <pptd:line encoding="base64url">eyJ2aWV3Qm94IjpbMSwxNl0sInBvaW50cyI6IjAsMCAwLDE2IiwiY3VydmUiOiJzaGFycCJ9</pptd:line>
              </p:ext>
            </p:extLst>
          </p:nvPr>
        </p:nvSpPr>
        <p:spPr>
          <a:xfrm>
            <a:off x="8839200" y="2590800"/>
            <a:ext cx="12700" cy="203200"/>
          </a:xfrm>
          <a:custGeom>
            <a:avLst/>
            <a:gdLst/>
            <a:ahLst/>
            <a:cxnLst/>
            <a:rect l="l" t="t" r="r" b="b"/>
            <a:pathLst>
              <a:path w="1" h="16">
                <a:moveTo>
                  <a:pt x="0" y="0"/>
                </a:moveTo>
                <a:lnTo>
                  <a:pt x="0" y="16"/>
                </a:lnTo>
              </a:path>
            </a:pathLst>
          </a:custGeom>
          <a:noFill/>
          <a:ln w="25400">
            <a:solidFill>
              <a:srgbClr val="0D6E5F"/>
            </a:solidFill>
            <a:tailEnd type="stealth"/>
          </a:ln>
        </p:spPr>
      </p:sp>
      <p:sp>
        <p:nvSpPr>
          <p:cNvPr id="21" name="c2-chip2"/>
          <p:cNvSpPr/>
          <p:nvPr/>
        </p:nvSpPr>
        <p:spPr>
          <a:xfrm>
            <a:off x="6299200" y="2794000"/>
            <a:ext cx="5080000" cy="584200"/>
          </a:xfrm>
          <a:prstGeom prst="roundRect">
            <a:avLst>
              <a:gd name="adj" fmla="val 12000"/>
            </a:avLst>
          </a:prstGeom>
          <a:solidFill>
            <a:srgbClr val="F4F2EC"/>
          </a:solidFill>
          <a:ln>
            <a:noFill/>
          </a:ln>
        </p:spPr>
      </p:sp>
      <p:sp>
        <p:nvSpPr>
          <p:cNvPr id="22" name="c2-chip2-text"/>
          <p:cNvSpPr txBox="1"/>
          <p:nvPr/>
        </p:nvSpPr>
        <p:spPr>
          <a:xfrm>
            <a:off x="6502400" y="2794000"/>
            <a:ext cx="46736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评估</a:t>
            </a:r>
            <a:r>
              <a:rPr lang="en-US" sz="1100" noProof="1" b="1">
                <a:solidFill>
                  <a:srgbClr val="3A423C"/>
                </a:solidFill>
                <a:latin typeface="MiSans"/>
                <a:ea typeface="MiSans"/>
              </a:rPr>
              <a:t>可开放给用户的基础能力</a:t>
            </a: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与可二次开发的模块化能力</a:t>
            </a:r>
            <a:endParaRPr lang="en-US" sz="1100" noProof="1"/>
          </a:p>
        </p:txBody>
      </p:sp>
      <p:sp>
        <p:nvSpPr>
          <p:cNvPr id="23" name="c2-arrow2"/>
          <p:cNvSpPr/>
          <p:nvPr>
            <p:extLst>
              <p:ext uri="{F5677B7D-0D2A-4D9B-9A5C-6D8D7D0E5A5D}">
                <pptd:line encoding="base64url">eyJ2aWV3Qm94IjpbMSwxNl0sInBvaW50cyI6IjAsMCAwLDE2IiwiY3VydmUiOiJzaGFycCJ9</pptd:line>
              </p:ext>
            </p:extLst>
          </p:nvPr>
        </p:nvSpPr>
        <p:spPr>
          <a:xfrm>
            <a:off x="8839200" y="3378200"/>
            <a:ext cx="12700" cy="203200"/>
          </a:xfrm>
          <a:custGeom>
            <a:avLst/>
            <a:gdLst/>
            <a:ahLst/>
            <a:cxnLst/>
            <a:rect l="l" t="t" r="r" b="b"/>
            <a:pathLst>
              <a:path w="1" h="16">
                <a:moveTo>
                  <a:pt x="0" y="0"/>
                </a:moveTo>
                <a:lnTo>
                  <a:pt x="0" y="16"/>
                </a:lnTo>
              </a:path>
            </a:pathLst>
          </a:custGeom>
          <a:noFill/>
          <a:ln w="25400">
            <a:solidFill>
              <a:srgbClr val="0D6E5F"/>
            </a:solidFill>
            <a:tailEnd type="stealth"/>
          </a:ln>
        </p:spPr>
      </p:sp>
      <p:sp>
        <p:nvSpPr>
          <p:cNvPr id="24" name="c2-chip3"/>
          <p:cNvSpPr/>
          <p:nvPr/>
        </p:nvSpPr>
        <p:spPr>
          <a:xfrm>
            <a:off x="6299200" y="3581400"/>
            <a:ext cx="5080000" cy="584200"/>
          </a:xfrm>
          <a:prstGeom prst="roundRect">
            <a:avLst>
              <a:gd name="adj" fmla="val 12000"/>
            </a:avLst>
          </a:prstGeom>
          <a:solidFill>
            <a:srgbClr val="F4F2EC"/>
          </a:solidFill>
          <a:ln>
            <a:noFill/>
          </a:ln>
        </p:spPr>
      </p:sp>
      <p:sp>
        <p:nvSpPr>
          <p:cNvPr id="25" name="c2-chip3-text"/>
          <p:cNvSpPr txBox="1"/>
          <p:nvPr/>
        </p:nvSpPr>
        <p:spPr>
          <a:xfrm>
            <a:off x="6502400" y="3581400"/>
            <a:ext cx="46736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沉淀为</a:t>
            </a:r>
            <a:r>
              <a:rPr lang="en-US" sz="1100" noProof="1" b="1">
                <a:solidFill>
                  <a:srgbClr val="3A423C"/>
                </a:solidFill>
                <a:latin typeface="MiSans"/>
                <a:ea typeface="MiSans"/>
              </a:rPr>
              <a:t>基础接口</a:t>
            </a: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（接口化、模块化）</a:t>
            </a:r>
            <a:endParaRPr lang="en-US" sz="1100" noProof="1"/>
          </a:p>
        </p:txBody>
      </p:sp>
      <p:sp>
        <p:nvSpPr>
          <p:cNvPr id="26" name="c2-arrow3"/>
          <p:cNvSpPr/>
          <p:nvPr>
            <p:extLst>
              <p:ext uri="{F5677B7D-0D2A-4D9B-9A5C-6D8D7D0E5A5D}">
                <pptd:line encoding="base64url">eyJ2aWV3Qm94IjpbMSwxNl0sInBvaW50cyI6IjAsMCAwLDE2IiwiY3VydmUiOiJzaGFycCJ9</pptd:line>
              </p:ext>
            </p:extLst>
          </p:nvPr>
        </p:nvSpPr>
        <p:spPr>
          <a:xfrm>
            <a:off x="8839200" y="4165600"/>
            <a:ext cx="12700" cy="203200"/>
          </a:xfrm>
          <a:custGeom>
            <a:avLst/>
            <a:gdLst/>
            <a:ahLst/>
            <a:cxnLst/>
            <a:rect l="l" t="t" r="r" b="b"/>
            <a:pathLst>
              <a:path w="1" h="16">
                <a:moveTo>
                  <a:pt x="0" y="0"/>
                </a:moveTo>
                <a:lnTo>
                  <a:pt x="0" y="16"/>
                </a:lnTo>
              </a:path>
            </a:pathLst>
          </a:custGeom>
          <a:noFill/>
          <a:ln w="25400">
            <a:solidFill>
              <a:srgbClr val="0D6E5F"/>
            </a:solidFill>
            <a:tailEnd type="stealth"/>
          </a:ln>
        </p:spPr>
      </p:sp>
      <p:sp>
        <p:nvSpPr>
          <p:cNvPr id="27" name="c2-chip4"/>
          <p:cNvSpPr/>
          <p:nvPr/>
        </p:nvSpPr>
        <p:spPr>
          <a:xfrm>
            <a:off x="6299200" y="4368800"/>
            <a:ext cx="5080000" cy="584200"/>
          </a:xfrm>
          <a:prstGeom prst="roundRect">
            <a:avLst>
              <a:gd name="adj" fmla="val 12000"/>
            </a:avLst>
          </a:prstGeom>
          <a:solidFill>
            <a:srgbClr val="0D6E5F"/>
          </a:solidFill>
          <a:ln>
            <a:noFill/>
          </a:ln>
        </p:spPr>
      </p:sp>
      <p:sp>
        <p:nvSpPr>
          <p:cNvPr id="28" name="c2-chip4-text"/>
          <p:cNvSpPr txBox="1"/>
          <p:nvPr/>
        </p:nvSpPr>
        <p:spPr>
          <a:xfrm>
            <a:off x="6502400" y="4368800"/>
            <a:ext cx="4673600" cy="584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20000"/>
              </a:lnSpc>
            </a:pPr>
            <a:r>
              <a:rPr lang="en-US" sz="1100" noProof="1" b="1">
                <a:solidFill>
                  <a:srgbClr val="FFFFFF"/>
                </a:solidFill>
                <a:latin typeface="MiSans"/>
                <a:ea typeface="MiSans"/>
              </a:rPr>
              <a:t>WebUI 之外，并行构造对话式应用</a:t>
            </a:r>
            <a:endParaRPr lang="en-US" sz="1100" noProof="1"/>
          </a:p>
        </p:txBody>
      </p:sp>
      <p:sp>
        <p:nvSpPr>
          <p:cNvPr id="29" name="bottom-note"/>
          <p:cNvSpPr txBox="1"/>
          <p:nvPr/>
        </p:nvSpPr>
        <p:spPr>
          <a:xfrm>
            <a:off x="812800" y="52578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>
                <a:solidFill>
                  <a:srgbClr val="6B7280"/>
                </a:solidFill>
                <a:latin typeface="MiSans"/>
                <a:ea typeface="MiSans"/>
              </a:rPr>
              <a:t>两条线同一件事：</a:t>
            </a:r>
            <a:r>
              <a:rPr lang="en-US" sz="1200" noProof="1" b="1">
                <a:solidFill>
                  <a:srgbClr val="000000"/>
                </a:solidFill>
                <a:latin typeface="MiSans"/>
                <a:ea typeface="MiSans"/>
              </a:rPr>
              <a:t>文档化 + AI 化</a:t>
            </a:r>
            <a:r>
              <a:rPr lang="en-US" sz="1200" noProof="1">
                <a:solidFill>
                  <a:srgbClr val="6B7280"/>
                </a:solidFill>
                <a:latin typeface="MiSans"/>
                <a:ea typeface="MiSans"/>
              </a:rPr>
              <a:t>承接咨询，</a:t>
            </a:r>
            <a:r>
              <a:rPr lang="en-US" sz="1200" noProof="1" b="1">
                <a:solidFill>
                  <a:srgbClr val="000000"/>
                </a:solidFill>
                <a:latin typeface="MiSans"/>
                <a:ea typeface="MiSans"/>
              </a:rPr>
              <a:t>接口化 + 对话化</a:t>
            </a:r>
            <a:r>
              <a:rPr lang="en-US" sz="1200" noProof="1">
                <a:solidFill>
                  <a:srgbClr val="6B7280"/>
                </a:solidFill>
                <a:latin typeface="MiSans"/>
                <a:ea typeface="MiSans"/>
              </a:rPr>
              <a:t>承接变更——让交付物的价值不只停留在一次项目里。（占位：可补充已沉淀的 SOP / 接口清单）</a:t>
            </a:r>
            <a:endParaRPr lang="en-US" sz="1200" noProof="1"/>
          </a:p>
        </p:txBody>
      </p:sp>
      <p:sp>
        <p:nvSpPr>
          <p:cNvPr id="30" name="footer-line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64516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E3E0D8"/>
            </a:solidFill>
          </a:ln>
        </p:spPr>
      </p:sp>
      <p:sp>
        <p:nvSpPr>
          <p:cNvPr id="31" name="footer-left"/>
          <p:cNvSpPr txBox="1"/>
          <p:nvPr/>
        </p:nvSpPr>
        <p:spPr>
          <a:xfrm>
            <a:off x="812800" y="65278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B7280"/>
                </a:solidFill>
                <a:latin typeface="MiSans"/>
                <a:ea typeface="MiSans"/>
              </a:rPr>
              <a:t>三个落地样例 · 2026-08</a:t>
            </a:r>
            <a:endParaRPr lang="en-US" sz="900" noProof="1"/>
          </a:p>
        </p:txBody>
      </p:sp>
      <p:sp>
        <p:nvSpPr>
          <p:cNvPr id="32" name="footer-right"/>
          <p:cNvSpPr txBox="1"/>
          <p:nvPr/>
        </p:nvSpPr>
        <p:spPr>
          <a:xfrm>
            <a:off x="10109200" y="65278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B7280"/>
                </a:solidFill>
                <a:latin typeface="MiSans"/>
                <a:ea typeface="MiSans"/>
              </a:rPr>
              <a:t>05 / 08</a:t>
            </a:r>
            <a:endParaRPr lang="en-US" sz="900" noProof="1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57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D6E5F"/>
                </a:solidFill>
                <a:latin typeface="MiSans"/>
                <a:ea typeface="MiSans"/>
              </a:rPr>
              <a:t>样例 02 · 解决痛点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112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F2A24"/>
                </a:solidFill>
                <a:latin typeface="MiSans"/>
                <a:ea typeface="MiSans"/>
              </a:rPr>
              <a:t>对齐两类痛点：需求排期长 · 频繁变更</a:t>
            </a:r>
            <a:endParaRPr lang="en-US" sz="2400" noProof="1"/>
          </a:p>
        </p:txBody>
      </p:sp>
      <p:sp>
        <p:nvSpPr>
          <p:cNvPr id="4" name="title-line"/>
          <p:cNvSpPr/>
          <p:nvPr/>
        </p:nvSpPr>
        <p:spPr>
          <a:xfrm>
            <a:off x="812800" y="1219200"/>
            <a:ext cx="558800" cy="381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5" name="card1"/>
          <p:cNvSpPr/>
          <p:nvPr/>
        </p:nvSpPr>
        <p:spPr>
          <a:xfrm>
            <a:off x="812800" y="1574800"/>
            <a:ext cx="5080000" cy="3225800"/>
          </a:xfrm>
          <a:prstGeom prst="roundRect">
            <a:avLst>
              <a:gd name="adj" fmla="val 6000"/>
            </a:avLst>
          </a:prstGeom>
          <a:solidFill>
            <a:srgbClr val="F4F2EC"/>
          </a:solidFill>
          <a:ln>
            <a:noFill/>
          </a:ln>
        </p:spPr>
      </p:sp>
      <p:sp>
        <p:nvSpPr>
          <p:cNvPr id="6" name="card1-tag"/>
          <p:cNvSpPr txBox="1"/>
          <p:nvPr/>
        </p:nvSpPr>
        <p:spPr>
          <a:xfrm>
            <a:off x="1117600" y="18034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100" kern="0">
                <a:solidFill>
                  <a:srgbClr val="C2410C"/>
                </a:solidFill>
                <a:latin typeface="MiSans"/>
                <a:ea typeface="MiSans"/>
              </a:rPr>
              <a:t>痛点 · 需求排期长</a:t>
            </a:r>
            <a:endParaRPr lang="en-US" sz="1000" noProof="1"/>
          </a:p>
        </p:txBody>
      </p:sp>
      <p:sp>
        <p:nvSpPr>
          <p:cNvPr id="7" name="card1-title"/>
          <p:cNvSpPr txBox="1"/>
          <p:nvPr/>
        </p:nvSpPr>
        <p:spPr>
          <a:xfrm>
            <a:off x="1117600" y="2057400"/>
            <a:ext cx="447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2A24"/>
                </a:solidFill>
                <a:latin typeface="MiSans"/>
                <a:ea typeface="MiSans"/>
              </a:rPr>
              <a:t>基础咨询占用高</a:t>
            </a:r>
            <a:endParaRPr lang="en-US" sz="1400" noProof="1"/>
          </a:p>
        </p:txBody>
      </p:sp>
      <p:sp>
        <p:nvSpPr>
          <p:cNvPr id="8" name="card1-line"/>
          <p:cNvSpPr/>
          <p:nvPr/>
        </p:nvSpPr>
        <p:spPr>
          <a:xfrm>
            <a:off x="1117600" y="2413000"/>
            <a:ext cx="40640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9" name="card1-body"/>
          <p:cNvSpPr txBox="1"/>
          <p:nvPr/>
        </p:nvSpPr>
        <p:spPr>
          <a:xfrm>
            <a:off x="1117600" y="2590800"/>
            <a:ext cx="4470400" cy="200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3A423C"/>
                </a:solidFill>
                <a:latin typeface="MiSans"/>
                <a:ea typeface="MiSans"/>
              </a:rPr>
              <a:t>表面现象：</a:t>
            </a: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大量基础使用咨询挤占开发时间，开发人员频繁当「客服」。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 b="1">
                <a:solidFill>
                  <a:srgbClr val="3A423C"/>
                </a:solidFill>
                <a:latin typeface="MiSans"/>
                <a:ea typeface="MiSans"/>
              </a:rPr>
              <a:t>样例解法：</a:t>
            </a: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应用</a:t>
            </a:r>
            <a:r>
              <a:rPr lang="en-US" sz="1100" noProof="1">
                <a:solidFill>
                  <a:srgbClr val="000000"/>
                </a:solidFill>
                <a:latin typeface="MiSans"/>
                <a:ea typeface="MiSans"/>
              </a:rPr>
              <a:t>文档化 + AI 化</a:t>
            </a: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之后，常见问题由知识问答助手承接，开发人员不用再频繁当「客服」，人力回到核心开发。</a:t>
            </a:r>
            <a:endParaRPr lang="en-US" sz="1100" noProof="1"/>
          </a:p>
        </p:txBody>
      </p:sp>
      <p:sp>
        <p:nvSpPr>
          <p:cNvPr id="10" name="card2"/>
          <p:cNvSpPr/>
          <p:nvPr/>
        </p:nvSpPr>
        <p:spPr>
          <a:xfrm>
            <a:off x="6299200" y="1574800"/>
            <a:ext cx="5080000" cy="3225800"/>
          </a:xfrm>
          <a:prstGeom prst="roundRect">
            <a:avLst>
              <a:gd name="adj" fmla="val 6000"/>
            </a:avLst>
          </a:prstGeom>
          <a:solidFill>
            <a:srgbClr val="F4F2EC"/>
          </a:solidFill>
          <a:ln>
            <a:noFill/>
          </a:ln>
        </p:spPr>
      </p:sp>
      <p:sp>
        <p:nvSpPr>
          <p:cNvPr id="11" name="card2-tag"/>
          <p:cNvSpPr txBox="1"/>
          <p:nvPr/>
        </p:nvSpPr>
        <p:spPr>
          <a:xfrm>
            <a:off x="6604000" y="1803400"/>
            <a:ext cx="4470400" cy="177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000" noProof="1" b="1" spc="100" kern="0">
                <a:solidFill>
                  <a:srgbClr val="C2410C"/>
                </a:solidFill>
                <a:latin typeface="MiSans"/>
                <a:ea typeface="MiSans"/>
              </a:rPr>
              <a:t>痛点 · 频繁变更</a:t>
            </a:r>
            <a:endParaRPr lang="en-US" sz="1000" noProof="1"/>
          </a:p>
        </p:txBody>
      </p:sp>
      <p:sp>
        <p:nvSpPr>
          <p:cNvPr id="12" name="card2-title"/>
          <p:cNvSpPr txBox="1"/>
          <p:nvPr/>
        </p:nvSpPr>
        <p:spPr>
          <a:xfrm>
            <a:off x="6604000" y="2057400"/>
            <a:ext cx="447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2A24"/>
                </a:solidFill>
                <a:latin typeface="MiSans"/>
                <a:ea typeface="MiSans"/>
              </a:rPr>
              <a:t>上游需求不稳定</a:t>
            </a:r>
            <a:endParaRPr lang="en-US" sz="1400" noProof="1"/>
          </a:p>
        </p:txBody>
      </p:sp>
      <p:sp>
        <p:nvSpPr>
          <p:cNvPr id="13" name="card2-line"/>
          <p:cNvSpPr/>
          <p:nvPr/>
        </p:nvSpPr>
        <p:spPr>
          <a:xfrm>
            <a:off x="6604000" y="2413000"/>
            <a:ext cx="406400" cy="254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14" name="card2-body"/>
          <p:cNvSpPr txBox="1"/>
          <p:nvPr/>
        </p:nvSpPr>
        <p:spPr>
          <a:xfrm>
            <a:off x="6604000" y="2590800"/>
            <a:ext cx="4470400" cy="2006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5000"/>
              </a:lnSpc>
            </a:pPr>
            <a:r>
              <a:rPr lang="en-US" sz="1100" noProof="1" b="1">
                <a:solidFill>
                  <a:srgbClr val="3A423C"/>
                </a:solidFill>
                <a:latin typeface="MiSans"/>
                <a:ea typeface="MiSans"/>
              </a:rPr>
              <a:t>表面现象：</a:t>
            </a: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上游需求不稳定，变更频繁，每次都要改代码、重排期。</a:t>
            </a:r>
            <a:endParaRPr lang="en-US" sz="1100" noProof="1"/>
          </a:p>
          <a:p>
            <a:pPr>
              <a:lnSpc>
                <a:spcPct val="155000"/>
              </a:lnSpc>
              <a:spcBef>
                <a:spcPts val="800"/>
              </a:spcBef>
            </a:pPr>
            <a:r>
              <a:rPr lang="en-US" sz="1100" noProof="1" b="1">
                <a:solidFill>
                  <a:srgbClr val="3A423C"/>
                </a:solidFill>
                <a:latin typeface="MiSans"/>
                <a:ea typeface="MiSans"/>
              </a:rPr>
              <a:t>样例解法：</a:t>
            </a: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需求变更时，基于</a:t>
            </a:r>
            <a:r>
              <a:rPr lang="en-US" sz="1100" noProof="1">
                <a:solidFill>
                  <a:srgbClr val="000000"/>
                </a:solidFill>
                <a:latin typeface="MiSans"/>
                <a:ea typeface="MiSans"/>
              </a:rPr>
              <a:t>模块化接口</a:t>
            </a: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快速组装、迭代满足需求，对话式应用成为承接变更的轻量入口。</a:t>
            </a:r>
            <a:endParaRPr lang="en-US" sz="1100" noProof="1"/>
          </a:p>
        </p:txBody>
      </p:sp>
      <p:sp>
        <p:nvSpPr>
          <p:cNvPr id="15" name="bottom-note"/>
          <p:cNvSpPr txBox="1"/>
          <p:nvPr/>
        </p:nvSpPr>
        <p:spPr>
          <a:xfrm>
            <a:off x="812800" y="5105400"/>
            <a:ext cx="10566400" cy="558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3A423C"/>
                </a:solidFill>
                <a:latin typeface="MiSans"/>
                <a:ea typeface="MiSans"/>
              </a:rPr>
              <a:t>对应前篇分析：</a:t>
            </a:r>
            <a:r>
              <a:rPr lang="en-US" sz="1200" noProof="1">
                <a:solidFill>
                  <a:srgbClr val="3A423C"/>
                </a:solidFill>
                <a:latin typeface="MiSans"/>
                <a:ea typeface="MiSans"/>
              </a:rPr>
              <a:t>痛点 </a:t>
            </a:r>
            <a:r>
              <a:rPr lang="en-US" sz="1200" noProof="1" b="1">
                <a:solidFill>
                  <a:srgbClr val="000000"/>
                </a:solidFill>
                <a:latin typeface="MiSans"/>
                <a:ea typeface="MiSans"/>
              </a:rPr>
              <a:t>02 排期长</a:t>
            </a:r>
            <a:r>
              <a:rPr lang="en-US" sz="1200" noProof="1">
                <a:solidFill>
                  <a:srgbClr val="3A423C"/>
                </a:solidFill>
                <a:latin typeface="MiSans"/>
                <a:ea typeface="MiSans"/>
              </a:rPr>
              <a:t>（根因：流程缺失） · 痛点 </a:t>
            </a:r>
            <a:r>
              <a:rPr lang="en-US" sz="1200" noProof="1" b="1">
                <a:solidFill>
                  <a:srgbClr val="000000"/>
                </a:solidFill>
                <a:latin typeface="MiSans"/>
                <a:ea typeface="MiSans"/>
              </a:rPr>
              <a:t>04 频繁变更</a:t>
            </a:r>
            <a:r>
              <a:rPr lang="en-US" sz="1200" noProof="1">
                <a:solidFill>
                  <a:srgbClr val="3A423C"/>
                </a:solidFill>
                <a:latin typeface="MiSans"/>
                <a:ea typeface="MiSans"/>
              </a:rPr>
              <a:t>（根因：工程结构）——本页为初稿，咨询分流比例、变更响应时效等数据待补充。</a:t>
            </a:r>
            <a:endParaRPr lang="en-US" sz="1200" noProof="1"/>
          </a:p>
        </p:txBody>
      </p:sp>
      <p:sp>
        <p:nvSpPr>
          <p:cNvPr id="16" name="footer-line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64516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E3E0D8"/>
            </a:solidFill>
          </a:ln>
        </p:spPr>
      </p:sp>
      <p:sp>
        <p:nvSpPr>
          <p:cNvPr id="17" name="footer-left"/>
          <p:cNvSpPr txBox="1"/>
          <p:nvPr/>
        </p:nvSpPr>
        <p:spPr>
          <a:xfrm>
            <a:off x="812800" y="65278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B7280"/>
                </a:solidFill>
                <a:latin typeface="MiSans"/>
                <a:ea typeface="MiSans"/>
              </a:rPr>
              <a:t>三个落地样例 · 2026-08</a:t>
            </a:r>
            <a:endParaRPr lang="en-US" sz="900" noProof="1"/>
          </a:p>
        </p:txBody>
      </p:sp>
      <p:sp>
        <p:nvSpPr>
          <p:cNvPr id="18" name="footer-right"/>
          <p:cNvSpPr txBox="1"/>
          <p:nvPr/>
        </p:nvSpPr>
        <p:spPr>
          <a:xfrm>
            <a:off x="10109200" y="65278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B7280"/>
                </a:solidFill>
                <a:latin typeface="MiSans"/>
                <a:ea typeface="MiSans"/>
              </a:rPr>
              <a:t>06 / 08</a:t>
            </a:r>
            <a:endParaRPr lang="en-US" sz="900" noProof="1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57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D6E5F"/>
                </a:solidFill>
                <a:latin typeface="MiSans"/>
                <a:ea typeface="MiSans"/>
              </a:rPr>
              <a:t>样例 03 · SAMPLE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112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F2A24"/>
                </a:solidFill>
                <a:latin typeface="MiSans"/>
                <a:ea typeface="MiSans"/>
              </a:rPr>
              <a:t>做好问题的定义：需求评估智能体 × ihub</a:t>
            </a:r>
            <a:endParaRPr lang="en-US" sz="2400" noProof="1"/>
          </a:p>
        </p:txBody>
      </p:sp>
      <p:sp>
        <p:nvSpPr>
          <p:cNvPr id="4" name="title-line"/>
          <p:cNvSpPr/>
          <p:nvPr/>
        </p:nvSpPr>
        <p:spPr>
          <a:xfrm>
            <a:off x="812800" y="1219200"/>
            <a:ext cx="558800" cy="381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sp>
        <p:nvSpPr>
          <p:cNvPr id="5" name="idea-strip"/>
          <p:cNvSpPr/>
          <p:nvPr/>
        </p:nvSpPr>
        <p:spPr>
          <a:xfrm>
            <a:off x="812800" y="1524000"/>
            <a:ext cx="10566400" cy="939800"/>
          </a:xfrm>
          <a:prstGeom prst="roundRect">
            <a:avLst>
              <a:gd name="adj" fmla="val 10000"/>
            </a:avLst>
          </a:prstGeom>
          <a:solidFill>
            <a:srgbClr val="F4F2EC"/>
          </a:solidFill>
          <a:ln>
            <a:noFill/>
          </a:ln>
        </p:spPr>
      </p:sp>
      <p:sp>
        <p:nvSpPr>
          <p:cNvPr id="6" name="idea-text"/>
          <p:cNvSpPr txBox="1"/>
          <p:nvPr/>
        </p:nvSpPr>
        <p:spPr>
          <a:xfrm>
            <a:off x="1117600" y="1651000"/>
            <a:ext cx="9956800" cy="6858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 anchor="ctr"/>
          <a:lstStyle/>
          <a:p>
            <a:pPr algn="l">
              <a:lnSpc>
                <a:spcPct val="155000"/>
              </a:lnSpc>
            </a:pPr>
            <a:r>
              <a:rPr lang="en-US" sz="1200" noProof="1" b="1">
                <a:solidFill>
                  <a:srgbClr val="3A423C"/>
                </a:solidFill>
                <a:latin typeface="MiSans"/>
                <a:ea typeface="MiSans"/>
              </a:rPr>
              <a:t>需求确定思路：</a:t>
            </a:r>
            <a:r>
              <a:rPr lang="en-US" sz="1200" noProof="1">
                <a:solidFill>
                  <a:srgbClr val="3A423C"/>
                </a:solidFill>
                <a:latin typeface="MiSans"/>
                <a:ea typeface="MiSans"/>
              </a:rPr>
              <a:t>沿着设计与决策分支持续追问，把业务方的</a:t>
            </a:r>
            <a:r>
              <a:rPr lang="en-US" sz="1200" noProof="1" b="1">
                <a:solidFill>
                  <a:srgbClr val="000000"/>
                </a:solidFill>
                <a:latin typeface="MiSans"/>
                <a:ea typeface="MiSans"/>
              </a:rPr>
              <a:t>隐含假设</a:t>
            </a:r>
            <a:r>
              <a:rPr lang="en-US" sz="1200" noProof="1">
                <a:solidFill>
                  <a:srgbClr val="3A423C"/>
                </a:solidFill>
                <a:latin typeface="MiSans"/>
                <a:ea typeface="MiSans"/>
              </a:rPr>
              <a:t>暴露出来；同时补齐技术方实现所需的各类</a:t>
            </a:r>
            <a:r>
              <a:rPr lang="en-US" sz="1200" noProof="1" b="1">
                <a:solidFill>
                  <a:srgbClr val="000000"/>
                </a:solidFill>
                <a:latin typeface="MiSans"/>
                <a:ea typeface="MiSans"/>
              </a:rPr>
              <a:t>条件与语境</a:t>
            </a:r>
            <a:r>
              <a:rPr lang="en-US" sz="1200" noProof="1">
                <a:solidFill>
                  <a:srgbClr val="3A423C"/>
                </a:solidFill>
                <a:latin typeface="MiSans"/>
                <a:ea typeface="MiSans"/>
              </a:rPr>
              <a:t>——把这套思路 AI 化为「需求评估智能体」，并结合 ihub 落地任务管理。</a:t>
            </a:r>
            <a:endParaRPr lang="en-US" sz="1200" noProof="1"/>
          </a:p>
        </p:txBody>
      </p:sp>
      <p:sp>
        <p:nvSpPr>
          <p:cNvPr id="7" name="col1-box"/>
          <p:cNvSpPr/>
          <p:nvPr/>
        </p:nvSpPr>
        <p:spPr>
          <a:xfrm>
            <a:off x="812800" y="2768600"/>
            <a:ext cx="5080000" cy="2717800"/>
          </a:xfrm>
          <a:prstGeom prst="roundRect">
            <a:avLst>
              <a:gd name="adj" fmla="val 6000"/>
            </a:avLst>
          </a:prstGeom>
          <a:solidFill>
            <a:srgbClr val="F4F2EC"/>
          </a:solidFill>
          <a:ln>
            <a:noFill/>
          </a:ln>
        </p:spPr>
      </p:sp>
      <p:sp>
        <p:nvSpPr>
          <p:cNvPr id="8" name="col1-title"/>
          <p:cNvSpPr txBox="1"/>
          <p:nvPr/>
        </p:nvSpPr>
        <p:spPr>
          <a:xfrm>
            <a:off x="1117600" y="2971800"/>
            <a:ext cx="447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00000"/>
                </a:solidFill>
                <a:latin typeface="MiSans"/>
                <a:ea typeface="MiSans"/>
              </a:rPr>
              <a:t>评估 Agent</a:t>
            </a:r>
            <a:r>
              <a:rPr lang="en-US" sz="1400" noProof="1" b="1">
                <a:solidFill>
                  <a:srgbClr val="1F2A24"/>
                </a:solidFill>
                <a:latin typeface="MiSans"/>
                <a:ea typeface="MiSans"/>
              </a:rPr>
              <a:t>（AI 侧）</a:t>
            </a:r>
            <a:endParaRPr lang="en-US" sz="1400" noProof="1"/>
          </a:p>
        </p:txBody>
      </p:sp>
      <p:sp>
        <p:nvSpPr>
          <p:cNvPr id="9" name="col1-list"/>
          <p:cNvSpPr txBox="1"/>
          <p:nvPr/>
        </p:nvSpPr>
        <p:spPr>
          <a:xfrm>
            <a:off x="1117600" y="3352800"/>
            <a:ext cx="4470400" cy="193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90000"/>
              </a:lnSpc>
              <a:spcBef>
                <a:spcPts val="10"/>
              </a:spcBef>
              <a:buChar char="•"/>
            </a:pPr>
            <a:r>
              <a:rPr lang="en-US" sz="1200" noProof="1" b="1">
                <a:solidFill>
                  <a:srgbClr val="3A423C"/>
                </a:solidFill>
                <a:latin typeface="MiSans"/>
                <a:ea typeface="MiSans"/>
              </a:rPr>
              <a:t>理解描述</a:t>
            </a:r>
            <a:r>
              <a:rPr lang="en-US" sz="1200" noProof="1">
                <a:solidFill>
                  <a:srgbClr val="3A423C"/>
                </a:solidFill>
                <a:latin typeface="MiSans"/>
                <a:ea typeface="MiSans"/>
              </a:rPr>
              <a:t>：读懂业务方的原始需求</a:t>
            </a:r>
            <a:endParaRPr lang="en-US" sz="1200" noProof="1"/>
          </a:p>
          <a:p>
            <a:pPr>
              <a:lnSpc>
                <a:spcPct val="190000"/>
              </a:lnSpc>
              <a:spcBef>
                <a:spcPts val="10"/>
              </a:spcBef>
              <a:buChar char="•"/>
            </a:pPr>
            <a:r>
              <a:rPr lang="en-US" sz="1200" noProof="1" b="1">
                <a:solidFill>
                  <a:srgbClr val="3A423C"/>
                </a:solidFill>
                <a:latin typeface="MiSans"/>
                <a:ea typeface="MiSans"/>
              </a:rPr>
              <a:t>调查事实</a:t>
            </a:r>
            <a:r>
              <a:rPr lang="en-US" sz="1200" noProof="1">
                <a:solidFill>
                  <a:srgbClr val="3A423C"/>
                </a:solidFill>
                <a:latin typeface="MiSans"/>
                <a:ea typeface="MiSans"/>
              </a:rPr>
              <a:t>：核对现状与已有能力</a:t>
            </a:r>
            <a:endParaRPr lang="en-US" sz="1200" noProof="1"/>
          </a:p>
          <a:p>
            <a:pPr>
              <a:lnSpc>
                <a:spcPct val="190000"/>
              </a:lnSpc>
              <a:spcBef>
                <a:spcPts val="10"/>
              </a:spcBef>
              <a:buChar char="•"/>
            </a:pPr>
            <a:r>
              <a:rPr lang="en-US" sz="1200" noProof="1" b="1">
                <a:solidFill>
                  <a:srgbClr val="3A423C"/>
                </a:solidFill>
                <a:latin typeface="MiSans"/>
                <a:ea typeface="MiSans"/>
              </a:rPr>
              <a:t>暴露假设</a:t>
            </a:r>
            <a:r>
              <a:rPr lang="en-US" sz="1200" noProof="1">
                <a:solidFill>
                  <a:srgbClr val="3A423C"/>
                </a:solidFill>
                <a:latin typeface="MiSans"/>
                <a:ea typeface="MiSans"/>
              </a:rPr>
              <a:t>：追问设计与决策分支</a:t>
            </a:r>
            <a:endParaRPr lang="en-US" sz="1200" noProof="1"/>
          </a:p>
          <a:p>
            <a:pPr>
              <a:lnSpc>
                <a:spcPct val="190000"/>
              </a:lnSpc>
              <a:spcBef>
                <a:spcPts val="10"/>
              </a:spcBef>
              <a:buChar char="•"/>
            </a:pPr>
            <a:r>
              <a:rPr lang="en-US" sz="1200" noProof="1" b="1">
                <a:solidFill>
                  <a:srgbClr val="3A423C"/>
                </a:solidFill>
                <a:latin typeface="MiSans"/>
                <a:ea typeface="MiSans"/>
              </a:rPr>
              <a:t>生成评估</a:t>
            </a:r>
            <a:r>
              <a:rPr lang="en-US" sz="1200" noProof="1">
                <a:solidFill>
                  <a:srgbClr val="3A423C"/>
                </a:solidFill>
                <a:latin typeface="MiSans"/>
                <a:ea typeface="MiSans"/>
              </a:rPr>
              <a:t>：输出结构化评估结论</a:t>
            </a:r>
            <a:endParaRPr lang="en-US" sz="1200" noProof="1"/>
          </a:p>
        </p:txBody>
      </p:sp>
      <p:sp>
        <p:nvSpPr>
          <p:cNvPr id="10" name="col2-box"/>
          <p:cNvSpPr/>
          <p:nvPr/>
        </p:nvSpPr>
        <p:spPr>
          <a:xfrm>
            <a:off x="6299200" y="2768600"/>
            <a:ext cx="5080000" cy="2717800"/>
          </a:xfrm>
          <a:prstGeom prst="roundRect">
            <a:avLst>
              <a:gd name="adj" fmla="val 6000"/>
            </a:avLst>
          </a:prstGeom>
          <a:solidFill>
            <a:srgbClr val="F4F2EC"/>
          </a:solidFill>
          <a:ln>
            <a:noFill/>
          </a:ln>
        </p:spPr>
      </p:sp>
      <p:sp>
        <p:nvSpPr>
          <p:cNvPr id="11" name="col2-title"/>
          <p:cNvSpPr txBox="1"/>
          <p:nvPr/>
        </p:nvSpPr>
        <p:spPr>
          <a:xfrm>
            <a:off x="6604000" y="2971800"/>
            <a:ext cx="4470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000000"/>
                </a:solidFill>
                <a:latin typeface="MiSans"/>
                <a:ea typeface="MiSans"/>
              </a:rPr>
              <a:t>ihub</a:t>
            </a:r>
            <a:r>
              <a:rPr lang="en-US" sz="1400" noProof="1" b="1">
                <a:solidFill>
                  <a:srgbClr val="1F2A24"/>
                </a:solidFill>
                <a:latin typeface="MiSans"/>
                <a:ea typeface="MiSans"/>
              </a:rPr>
              <a:t>（人工确定任务组织状态）</a:t>
            </a:r>
            <a:endParaRPr lang="en-US" sz="1400" noProof="1"/>
          </a:p>
        </p:txBody>
      </p:sp>
      <p:sp>
        <p:nvSpPr>
          <p:cNvPr id="12" name="col2-list"/>
          <p:cNvSpPr txBox="1"/>
          <p:nvPr/>
        </p:nvSpPr>
        <p:spPr>
          <a:xfrm>
            <a:off x="6604000" y="3352800"/>
            <a:ext cx="4470400" cy="1930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90000"/>
              </a:lnSpc>
              <a:spcBef>
                <a:spcPts val="10"/>
              </a:spcBef>
              <a:buChar char="•"/>
            </a:pPr>
            <a:r>
              <a:rPr lang="en-US" sz="1200" noProof="1">
                <a:solidFill>
                  <a:srgbClr val="3A423C"/>
                </a:solidFill>
                <a:latin typeface="MiSans"/>
                <a:ea typeface="MiSans"/>
              </a:rPr>
              <a:t>需求</a:t>
            </a:r>
            <a:r>
              <a:rPr lang="en-US" sz="1200" noProof="1" b="1">
                <a:solidFill>
                  <a:srgbClr val="3A423C"/>
                </a:solidFill>
                <a:latin typeface="MiSans"/>
                <a:ea typeface="MiSans"/>
              </a:rPr>
              <a:t>工作项</a:t>
            </a:r>
            <a:r>
              <a:rPr lang="en-US" sz="1200" noProof="1">
                <a:solidFill>
                  <a:srgbClr val="3A423C"/>
                </a:solidFill>
                <a:latin typeface="MiSans"/>
                <a:ea typeface="MiSans"/>
              </a:rPr>
              <a:t>与</a:t>
            </a:r>
            <a:r>
              <a:rPr lang="en-US" sz="1200" noProof="1" b="1">
                <a:solidFill>
                  <a:srgbClr val="3A423C"/>
                </a:solidFill>
                <a:latin typeface="MiSans"/>
                <a:ea typeface="MiSans"/>
              </a:rPr>
              <a:t>负责人</a:t>
            </a:r>
            <a:endParaRPr lang="en-US" sz="1200" noProof="1"/>
          </a:p>
          <a:p>
            <a:pPr>
              <a:lnSpc>
                <a:spcPct val="190000"/>
              </a:lnSpc>
              <a:spcBef>
                <a:spcPts val="10"/>
              </a:spcBef>
              <a:buChar char="•"/>
            </a:pPr>
            <a:r>
              <a:rPr lang="en-US" sz="1200" noProof="1" b="1">
                <a:solidFill>
                  <a:srgbClr val="3A423C"/>
                </a:solidFill>
                <a:latin typeface="MiSans"/>
                <a:ea typeface="MiSans"/>
              </a:rPr>
              <a:t>自定义字段</a:t>
            </a:r>
            <a:r>
              <a:rPr lang="en-US" sz="1200" noProof="1">
                <a:solidFill>
                  <a:srgbClr val="3A423C"/>
                </a:solidFill>
                <a:latin typeface="MiSans"/>
                <a:ea typeface="MiSans"/>
              </a:rPr>
              <a:t>承载评估结论</a:t>
            </a:r>
            <a:endParaRPr lang="en-US" sz="1200" noProof="1"/>
          </a:p>
          <a:p>
            <a:pPr>
              <a:lnSpc>
                <a:spcPct val="190000"/>
              </a:lnSpc>
              <a:spcBef>
                <a:spcPts val="10"/>
              </a:spcBef>
              <a:buChar char="•"/>
            </a:pPr>
            <a:r>
              <a:rPr lang="en-US" sz="1200" noProof="1" b="1">
                <a:solidFill>
                  <a:srgbClr val="3A423C"/>
                </a:solidFill>
                <a:latin typeface="MiSans"/>
                <a:ea typeface="MiSans"/>
              </a:rPr>
              <a:t>状态流转</a:t>
            </a:r>
            <a:r>
              <a:rPr lang="en-US" sz="1200" noProof="1">
                <a:solidFill>
                  <a:srgbClr val="3A423C"/>
                </a:solidFill>
                <a:latin typeface="MiSans"/>
                <a:ea typeface="MiSans"/>
              </a:rPr>
              <a:t>驱动流程推进</a:t>
            </a:r>
            <a:endParaRPr lang="en-US" sz="1200" noProof="1"/>
          </a:p>
          <a:p>
            <a:pPr>
              <a:lnSpc>
                <a:spcPct val="190000"/>
              </a:lnSpc>
              <a:spcBef>
                <a:spcPts val="10"/>
              </a:spcBef>
              <a:buChar char="•"/>
            </a:pPr>
            <a:r>
              <a:rPr lang="en-US" sz="1200" noProof="1" b="1">
                <a:solidFill>
                  <a:srgbClr val="3A423C"/>
                </a:solidFill>
                <a:latin typeface="MiSans"/>
                <a:ea typeface="MiSans"/>
              </a:rPr>
              <a:t>关联任务与历史追踪</a:t>
            </a:r>
            <a:r>
              <a:rPr lang="en-US" sz="1200" noProof="1">
                <a:solidFill>
                  <a:srgbClr val="3A423C"/>
                </a:solidFill>
                <a:latin typeface="MiSans"/>
                <a:ea typeface="MiSans"/>
              </a:rPr>
              <a:t>留痕</a:t>
            </a:r>
            <a:endParaRPr lang="en-US" sz="1200" noProof="1"/>
          </a:p>
        </p:txBody>
      </p:sp>
      <p:sp>
        <p:nvSpPr>
          <p:cNvPr id="13" name="join-arrow"/>
          <p:cNvSpPr/>
          <p:nvPr>
            <p:extLst>
              <p:ext uri="{F5677B7D-0D2A-4D9B-9A5C-6D8D7D0E5A5D}">
                <pptd:line encoding="base64url">eyJ2aWV3Qm94IjpbMzIsMV0sInBvaW50cyI6IjAsMCAzMiwwIiwiY3VydmUiOiJzaGFycCJ9</pptd:line>
              </p:ext>
            </p:extLst>
          </p:nvPr>
        </p:nvSpPr>
        <p:spPr>
          <a:xfrm>
            <a:off x="5892800" y="4064000"/>
            <a:ext cx="406400" cy="12700"/>
          </a:xfrm>
          <a:custGeom>
            <a:avLst/>
            <a:gdLst/>
            <a:ahLst/>
            <a:cxnLst/>
            <a:rect l="l" t="t" r="r" b="b"/>
            <a:pathLst>
              <a:path w="32" h="1">
                <a:moveTo>
                  <a:pt x="0" y="0"/>
                </a:moveTo>
                <a:lnTo>
                  <a:pt x="32" y="0"/>
                </a:lnTo>
              </a:path>
            </a:pathLst>
          </a:custGeom>
          <a:noFill/>
          <a:ln w="25400">
            <a:solidFill>
              <a:srgbClr val="0D6E5F"/>
            </a:solidFill>
            <a:headEnd type="stealth"/>
            <a:tailEnd type="stealth"/>
          </a:ln>
        </p:spPr>
      </p:sp>
      <p:sp>
        <p:nvSpPr>
          <p:cNvPr id="14" name="bottom-note"/>
          <p:cNvSpPr txBox="1"/>
          <p:nvPr/>
        </p:nvSpPr>
        <p:spPr>
          <a:xfrm>
            <a:off x="812800" y="5740400"/>
            <a:ext cx="10566400" cy="508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50000"/>
              </a:lnSpc>
            </a:pPr>
            <a:r>
              <a:rPr lang="en-US" sz="1200" noProof="1" b="1">
                <a:solidFill>
                  <a:srgbClr val="3A423C"/>
                </a:solidFill>
                <a:latin typeface="MiSans"/>
                <a:ea typeface="MiSans"/>
              </a:rPr>
              <a:t>对应前篇分析：</a:t>
            </a:r>
            <a:r>
              <a:rPr lang="en-US" sz="1200" noProof="1">
                <a:solidFill>
                  <a:srgbClr val="3A423C"/>
                </a:solidFill>
                <a:latin typeface="MiSans"/>
                <a:ea typeface="MiSans"/>
              </a:rPr>
              <a:t>痛点 </a:t>
            </a:r>
            <a:r>
              <a:rPr lang="en-US" sz="1200" noProof="1" b="1">
                <a:solidFill>
                  <a:srgbClr val="000000"/>
                </a:solidFill>
                <a:latin typeface="MiSans"/>
                <a:ea typeface="MiSans"/>
              </a:rPr>
              <a:t>03 需求模糊</a:t>
            </a:r>
            <a:r>
              <a:rPr lang="en-US" sz="1200" noProof="1">
                <a:solidFill>
                  <a:srgbClr val="3A423C"/>
                </a:solidFill>
                <a:latin typeface="MiSans"/>
                <a:ea typeface="MiSans"/>
              </a:rPr>
              <a:t>（根因：流程缺失）——即 grille-me 澄清评估智能体联动 ihub 的初探；评估字段与流转规则的细节待补充。</a:t>
            </a:r>
            <a:endParaRPr lang="en-US" sz="1200" noProof="1"/>
          </a:p>
        </p:txBody>
      </p:sp>
      <p:sp>
        <p:nvSpPr>
          <p:cNvPr id="15" name="footer-line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64516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E3E0D8"/>
            </a:solidFill>
          </a:ln>
        </p:spPr>
      </p:sp>
      <p:sp>
        <p:nvSpPr>
          <p:cNvPr id="16" name="footer-left"/>
          <p:cNvSpPr txBox="1"/>
          <p:nvPr/>
        </p:nvSpPr>
        <p:spPr>
          <a:xfrm>
            <a:off x="812800" y="65278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B7280"/>
                </a:solidFill>
                <a:latin typeface="MiSans"/>
                <a:ea typeface="MiSans"/>
              </a:rPr>
              <a:t>三个落地样例 · 2026-08</a:t>
            </a:r>
            <a:endParaRPr lang="en-US" sz="900" noProof="1"/>
          </a:p>
        </p:txBody>
      </p:sp>
      <p:sp>
        <p:nvSpPr>
          <p:cNvPr id="17" name="footer-right"/>
          <p:cNvSpPr txBox="1"/>
          <p:nvPr/>
        </p:nvSpPr>
        <p:spPr>
          <a:xfrm>
            <a:off x="10109200" y="65278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B7280"/>
                </a:solidFill>
                <a:latin typeface="MiSans"/>
                <a:ea typeface="MiSans"/>
              </a:rPr>
              <a:t>07 / 08</a:t>
            </a:r>
            <a:endParaRPr lang="en-US" sz="900" noProof="1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a14="http://schemas.microsoft.com/office/drawing/2010/main" xmlns:c="http://schemas.openxmlformats.org/drawingml/2006/chart" xmlns:cx="http://schemas.microsoft.com/office/drawing/2014/chartex" xmlns:m="http://schemas.openxmlformats.org/officeDocument/2006/math" xmlns:mc="http://schemas.openxmlformats.org/markup-compatibility/2006" xmlns:pptd="https://kimi-design.msh.team/pptd/2026" xmlns:r="http://schemas.openxmlformats.org/officeDocument/2006/relationships" xmlns:p="http://schemas.openxmlformats.org/presentationml/2006/main">
  <p:cSld>
    <p:bg>
      <p:bgPr>
        <a:solidFill>
          <a:srgbClr val="FBFAF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icker"/>
          <p:cNvSpPr txBox="1"/>
          <p:nvPr/>
        </p:nvSpPr>
        <p:spPr>
          <a:xfrm>
            <a:off x="812800" y="457200"/>
            <a:ext cx="635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100" noProof="1" b="1" spc="200" kern="0">
                <a:solidFill>
                  <a:srgbClr val="0D6E5F"/>
                </a:solidFill>
                <a:latin typeface="MiSans"/>
                <a:ea typeface="MiSans"/>
              </a:rPr>
              <a:t>收尾 · NEXT</a:t>
            </a:r>
            <a:endParaRPr lang="en-US" sz="1100" noProof="1"/>
          </a:p>
        </p:txBody>
      </p:sp>
      <p:sp>
        <p:nvSpPr>
          <p:cNvPr id="3" name="title"/>
          <p:cNvSpPr txBox="1"/>
          <p:nvPr/>
        </p:nvSpPr>
        <p:spPr>
          <a:xfrm>
            <a:off x="812800" y="711200"/>
            <a:ext cx="10566400" cy="4064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2400" noProof="1" b="1">
                <a:solidFill>
                  <a:srgbClr val="1F2A24"/>
                </a:solidFill>
                <a:latin typeface="MiSans"/>
                <a:ea typeface="MiSans"/>
              </a:rPr>
              <a:t>初稿完成：框架已就位，细节由你补充</a:t>
            </a:r>
            <a:endParaRPr lang="en-US" sz="2400" noProof="1"/>
          </a:p>
        </p:txBody>
      </p:sp>
      <p:sp>
        <p:nvSpPr>
          <p:cNvPr id="4" name="title-line"/>
          <p:cNvSpPr/>
          <p:nvPr/>
        </p:nvSpPr>
        <p:spPr>
          <a:xfrm>
            <a:off x="812800" y="1219200"/>
            <a:ext cx="558800" cy="38100"/>
          </a:xfrm>
          <a:prstGeom prst="rect">
            <a:avLst/>
          </a:prstGeom>
          <a:solidFill>
            <a:srgbClr val="C2410C"/>
          </a:solidFill>
          <a:ln>
            <a:noFill/>
          </a:ln>
        </p:spPr>
      </p:sp>
      <p:graphicFrame>
        <p:nvGraphicFramePr>
          <p:cNvPr id="5" name="recap-table"/>
          <p:cNvGraphicFramePr>
            <a:graphicFrameLocks noGrp="1"/>
          </p:cNvGraphicFramePr>
          <p:nvPr/>
        </p:nvGraphicFramePr>
        <p:xfrm>
          <a:off x="812800" y="1574800"/>
          <a:ext cx="6096000" cy="2743200"/>
        </p:xfrm>
        <a:graphic>
          <a:graphicData uri="http://schemas.openxmlformats.org/drawingml/2006/table">
            <a:tbl>
              <a:tblPr/>
              <a:tblGrid>
                <a:gridCol w="1828800"/>
                <a:gridCol w="2560320"/>
                <a:gridCol w="1706880"/>
              </a:tblGrid>
              <a:tr h="438912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F2A24"/>
                          </a:solidFill>
                          <a:latin typeface="Times New Roman"/>
                          <a:ea typeface="Times New Roman"/>
                        </a:rPr>
                        <a:t>样例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0D6E5F"/>
                      </a:solidFill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F2A24"/>
                          </a:solidFill>
                          <a:latin typeface="Times New Roman"/>
                          <a:ea typeface="Times New Roman"/>
                        </a:rPr>
                        <a:t>对应痛点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0D6E5F"/>
                      </a:solidFill>
                    </a:lnB>
                    <a:solidFill>
                      <a:srgbClr val="F4F2EC"/>
                    </a:solidFill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1F2A24"/>
                          </a:solidFill>
                          <a:latin typeface="Times New Roman"/>
                          <a:ea typeface="Times New Roman"/>
                        </a:rPr>
                        <a:t>根因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25400">
                      <a:solidFill>
                        <a:srgbClr val="0D6E5F"/>
                      </a:solidFill>
                    </a:lnB>
                    <a:solidFill>
                      <a:srgbClr val="F4F2EC"/>
                    </a:solidFill>
                  </a:tcPr>
                </a:tc>
              </a:tr>
              <a:tr h="76809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3A423C"/>
                          </a:solidFill>
                          <a:latin typeface="Times New Roman"/>
                          <a:ea typeface="Times New Roman"/>
                        </a:rPr>
                        <a:t>01 压榨 AI 能力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0D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3A423C"/>
                          </a:solidFill>
                          <a:latin typeface="Times New Roman"/>
                          <a:ea typeface="Times New Roman"/>
                        </a:rPr>
                        <a:t>01 认知差距 · 03 需求模糊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0D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3A423C"/>
                          </a:solidFill>
                          <a:latin typeface="Times New Roman"/>
                          <a:ea typeface="Times New Roman"/>
                        </a:rPr>
                        <a:t>知识断层 / 流程缺失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0D8"/>
                      </a:solidFill>
                    </a:lnB>
                    <a:noFill/>
                  </a:tcPr>
                </a:tc>
              </a:tr>
              <a:tr h="76809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3A423C"/>
                          </a:solidFill>
                          <a:latin typeface="Times New Roman"/>
                          <a:ea typeface="Times New Roman"/>
                        </a:rPr>
                        <a:t>02 沉淀复用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0D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3A423C"/>
                          </a:solidFill>
                          <a:latin typeface="Times New Roman"/>
                          <a:ea typeface="Times New Roman"/>
                        </a:rPr>
                        <a:t>02 排期长 · 04 频繁变更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0D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3A423C"/>
                          </a:solidFill>
                          <a:latin typeface="Times New Roman"/>
                          <a:ea typeface="Times New Roman"/>
                        </a:rPr>
                        <a:t>流程缺失 / 工程结构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0D8"/>
                      </a:solidFill>
                    </a:lnB>
                    <a:noFill/>
                  </a:tcPr>
                </a:tc>
              </a:tr>
              <a:tr h="768096"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 b="1">
                          <a:solidFill>
                            <a:srgbClr val="3A423C"/>
                          </a:solidFill>
                          <a:latin typeface="Times New Roman"/>
                          <a:ea typeface="Times New Roman"/>
                        </a:rPr>
                        <a:t>03 做好问题定义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0D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3A423C"/>
                          </a:solidFill>
                          <a:latin typeface="Times New Roman"/>
                          <a:ea typeface="Times New Roman"/>
                        </a:rPr>
                        <a:t>03 需求模糊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0D8"/>
                      </a:solidFill>
                    </a:lnB>
                    <a:noFill/>
                  </a:tcPr>
                </a:tc>
                <a:tc>
                  <a:txBody>
                    <a:bodyPr wrap="square" rtlCol="0" anchor="ctr"/>
                    <a:lstStyle/>
                    <a:p>
                      <a:pPr algn="l"/>
                      <a:r>
                        <a:rPr lang="en-US" sz="1100" noProof="1">
                          <a:solidFill>
                            <a:srgbClr val="3A423C"/>
                          </a:solidFill>
                          <a:latin typeface="Times New Roman"/>
                          <a:ea typeface="Times New Roman"/>
                        </a:rPr>
                        <a:t>流程缺失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 w="12700">
                      <a:solidFill>
                        <a:srgbClr val="E3E0D8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6" name="todo-box"/>
          <p:cNvSpPr/>
          <p:nvPr/>
        </p:nvSpPr>
        <p:spPr>
          <a:xfrm>
            <a:off x="7315200" y="1574800"/>
            <a:ext cx="4064000" cy="2743200"/>
          </a:xfrm>
          <a:prstGeom prst="roundRect">
            <a:avLst>
              <a:gd name="adj" fmla="val 6000"/>
            </a:avLst>
          </a:prstGeom>
          <a:solidFill>
            <a:srgbClr val="F4F2EC"/>
          </a:solidFill>
          <a:ln>
            <a:noFill/>
          </a:ln>
        </p:spPr>
      </p:sp>
      <p:sp>
        <p:nvSpPr>
          <p:cNvPr id="7" name="todo-title"/>
          <p:cNvSpPr txBox="1"/>
          <p:nvPr/>
        </p:nvSpPr>
        <p:spPr>
          <a:xfrm>
            <a:off x="7620000" y="1778000"/>
            <a:ext cx="3454400" cy="2540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20000"/>
              </a:lnSpc>
            </a:pPr>
            <a:r>
              <a:rPr lang="en-US" sz="1400" noProof="1" b="1">
                <a:solidFill>
                  <a:srgbClr val="1F2A24"/>
                </a:solidFill>
                <a:latin typeface="MiSans"/>
                <a:ea typeface="MiSans"/>
              </a:rPr>
              <a:t>待补充清单</a:t>
            </a:r>
            <a:endParaRPr lang="en-US" sz="1400" noProof="1"/>
          </a:p>
        </p:txBody>
      </p:sp>
      <p:sp>
        <p:nvSpPr>
          <p:cNvPr id="8" name="todo-list"/>
          <p:cNvSpPr txBox="1"/>
          <p:nvPr/>
        </p:nvSpPr>
        <p:spPr>
          <a:xfrm>
            <a:off x="7620000" y="2159000"/>
            <a:ext cx="3454400" cy="1981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80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每个样例的</a:t>
            </a:r>
            <a:r>
              <a:rPr lang="en-US" sz="1100" noProof="1" b="1">
                <a:solidFill>
                  <a:srgbClr val="3A423C"/>
                </a:solidFill>
                <a:latin typeface="MiSans"/>
                <a:ea typeface="MiSans"/>
              </a:rPr>
              <a:t>实际案例与角色</a:t>
            </a:r>
            <a:endParaRPr lang="en-US" sz="1100" noProof="1"/>
          </a:p>
          <a:p>
            <a:pPr>
              <a:lnSpc>
                <a:spcPct val="180000"/>
              </a:lnSpc>
              <a:spcBef>
                <a:spcPts val="10"/>
              </a:spcBef>
              <a:buChar char="•"/>
            </a:pP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关键界面</a:t>
            </a:r>
            <a:r>
              <a:rPr lang="en-US" sz="1100" noProof="1" b="1">
                <a:solidFill>
                  <a:srgbClr val="3A423C"/>
                </a:solidFill>
                <a:latin typeface="MiSans"/>
                <a:ea typeface="MiSans"/>
              </a:rPr>
              <a:t>截图 / 演示链接</a:t>
            </a:r>
            <a:endParaRPr lang="en-US" sz="1100" noProof="1"/>
          </a:p>
          <a:p>
            <a:pPr>
              <a:lnSpc>
                <a:spcPct val="180000"/>
              </a:lnSpc>
              <a:spcBef>
                <a:spcPts val="10"/>
              </a:spcBef>
              <a:buChar char="•"/>
            </a:pPr>
            <a:r>
              <a:rPr lang="en-US" sz="1100" noProof="1" b="1">
                <a:solidFill>
                  <a:srgbClr val="3A423C"/>
                </a:solidFill>
                <a:latin typeface="MiSans"/>
                <a:ea typeface="MiSans"/>
              </a:rPr>
              <a:t>量化成效</a:t>
            </a: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：耗时、分流比例等</a:t>
            </a:r>
            <a:endParaRPr lang="en-US" sz="1100" noProof="1"/>
          </a:p>
          <a:p>
            <a:pPr>
              <a:lnSpc>
                <a:spcPct val="180000"/>
              </a:lnSpc>
              <a:spcBef>
                <a:spcPts val="10"/>
              </a:spcBef>
              <a:buChar char="•"/>
            </a:pPr>
            <a:r>
              <a:rPr lang="en-US" sz="1100" noProof="1" b="1">
                <a:solidFill>
                  <a:srgbClr val="3A423C"/>
                </a:solidFill>
                <a:latin typeface="MiSans"/>
                <a:ea typeface="MiSans"/>
              </a:rPr>
              <a:t>推广计划</a:t>
            </a:r>
            <a:r>
              <a:rPr lang="en-US" sz="1100" noProof="1">
                <a:solidFill>
                  <a:srgbClr val="3A423C"/>
                </a:solidFill>
                <a:latin typeface="MiSans"/>
                <a:ea typeface="MiSans"/>
              </a:rPr>
              <a:t>与负责人</a:t>
            </a:r>
            <a:endParaRPr lang="en-US" sz="1100" noProof="1"/>
          </a:p>
        </p:txBody>
      </p:sp>
      <p:sp>
        <p:nvSpPr>
          <p:cNvPr id="9" name="closing-line"/>
          <p:cNvSpPr txBox="1"/>
          <p:nvPr/>
        </p:nvSpPr>
        <p:spPr>
          <a:xfrm>
            <a:off x="812800" y="4724400"/>
            <a:ext cx="10566400" cy="6096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square" rtlCol="0"/>
          <a:lstStyle/>
          <a:p>
            <a:pPr>
              <a:lnSpc>
                <a:spcPct val="160000"/>
              </a:lnSpc>
            </a:pPr>
            <a:r>
              <a:rPr lang="en-US" sz="1300" noProof="1">
                <a:solidFill>
                  <a:srgbClr val="1F2A24"/>
                </a:solidFill>
                <a:latin typeface="MiSans"/>
                <a:ea typeface="MiSans"/>
              </a:rPr>
              <a:t>三个样例共同的逻辑：</a:t>
            </a:r>
            <a:r>
              <a:rPr lang="en-US" sz="1300" noProof="1" b="1">
                <a:solidFill>
                  <a:srgbClr val="000000"/>
                </a:solidFill>
                <a:latin typeface="MiSans"/>
                <a:ea typeface="MiSans"/>
              </a:rPr>
              <a:t>把人的经验变成 AI 可用的上下文，把一次性的交付变成可复用的资产</a:t>
            </a:r>
            <a:r>
              <a:rPr lang="en-US" sz="1300" noProof="1">
                <a:solidFill>
                  <a:srgbClr val="1F2A24"/>
                </a:solidFill>
                <a:latin typeface="MiSans"/>
                <a:ea typeface="MiSans"/>
              </a:rPr>
              <a:t>——痛点方案不再停留在纸面，而是已经在具体场景里跑了起来。</a:t>
            </a:r>
            <a:endParaRPr lang="en-US" sz="1300" noProof="1"/>
          </a:p>
        </p:txBody>
      </p:sp>
      <p:sp>
        <p:nvSpPr>
          <p:cNvPr id="10" name="footer-line"/>
          <p:cNvSpPr/>
          <p:nvPr>
            <p:extLst>
              <p:ext uri="{F5677B7D-0D2A-4D9B-9A5C-6D8D7D0E5A5D}">
                <pptd:line encoding="base64url">eyJ2aWV3Qm94IjpbODMyLDFdLCJwb2ludHMiOiIwLDAgODMyLDAiLCJjdXJ2ZSI6InNoYXJwIn0</pptd:line>
              </p:ext>
            </p:extLst>
          </p:nvPr>
        </p:nvSpPr>
        <p:spPr>
          <a:xfrm>
            <a:off x="812800" y="6451600"/>
            <a:ext cx="10566400" cy="12700"/>
          </a:xfrm>
          <a:custGeom>
            <a:avLst/>
            <a:gdLst/>
            <a:ahLst/>
            <a:cxnLst/>
            <a:rect l="l" t="t" r="r" b="b"/>
            <a:pathLst>
              <a:path w="832" h="1">
                <a:moveTo>
                  <a:pt x="0" y="0"/>
                </a:moveTo>
                <a:lnTo>
                  <a:pt x="832" y="0"/>
                </a:lnTo>
              </a:path>
            </a:pathLst>
          </a:custGeom>
          <a:noFill/>
          <a:ln w="12700">
            <a:solidFill>
              <a:srgbClr val="E3E0D8"/>
            </a:solidFill>
          </a:ln>
        </p:spPr>
      </p:sp>
      <p:sp>
        <p:nvSpPr>
          <p:cNvPr id="11" name="footer-left"/>
          <p:cNvSpPr txBox="1"/>
          <p:nvPr/>
        </p:nvSpPr>
        <p:spPr>
          <a:xfrm>
            <a:off x="812800" y="6527800"/>
            <a:ext cx="5334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/>
          <a:lstStyle/>
          <a:p>
            <a:pPr>
              <a:lnSpc>
                <a:spcPct val="140000"/>
              </a:lnSpc>
            </a:pPr>
            <a:r>
              <a:rPr lang="en-US" sz="900" noProof="1">
                <a:solidFill>
                  <a:srgbClr val="6B7280"/>
                </a:solidFill>
                <a:latin typeface="MiSans"/>
                <a:ea typeface="MiSans"/>
              </a:rPr>
              <a:t>三个落地样例 · 2026-08</a:t>
            </a:r>
            <a:endParaRPr lang="en-US" sz="900" noProof="1"/>
          </a:p>
        </p:txBody>
      </p:sp>
      <p:sp>
        <p:nvSpPr>
          <p:cNvPr id="12" name="footer-right"/>
          <p:cNvSpPr txBox="1"/>
          <p:nvPr/>
        </p:nvSpPr>
        <p:spPr>
          <a:xfrm>
            <a:off x="10109200" y="6527800"/>
            <a:ext cx="1270000" cy="203200"/>
          </a:xfrm>
          <a:prstGeom prst="rect">
            <a:avLst/>
          </a:prstGeom>
          <a:noFill/>
          <a:ln>
            <a:noFill/>
          </a:ln>
        </p:spPr>
        <p:txBody>
          <a:bodyPr lIns="0" rIns="0" tIns="0" bIns="0" wrap="none" rtlCol="0" anchor="t"/>
          <a:lstStyle/>
          <a:p>
            <a:pPr algn="r">
              <a:lnSpc>
                <a:spcPct val="140000"/>
              </a:lnSpc>
            </a:pPr>
            <a:r>
              <a:rPr lang="en-US" sz="900" noProof="1">
                <a:solidFill>
                  <a:srgbClr val="6B7280"/>
                </a:solidFill>
                <a:latin typeface="MiSans"/>
                <a:ea typeface="MiSans"/>
              </a:rPr>
              <a:t>08 / 08</a:t>
            </a:r>
            <a:endParaRPr lang="en-US" sz="900" noProof="1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 cap="flat" cmpd="sng" algn="ctr">
          <a:solidFill>
            <a:schemeClr val="accent1"/>
          </a:solidFill>
          <a:prstDash val="solid"/>
        </a:ln>
        <a:ln w="12700" cap="flat" cmpd="sng" algn="ctr">
          <a:solidFill>
            <a:schemeClr val="accent1"/>
          </a:solidFill>
          <a:prstDash val="solid"/>
        </a:ln>
        <a:ln w="19050" cap="flat" cmpd="sng" algn="ctr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customXml/provenance.xml><?xml version="1.0" encoding="utf-8"?>
<provenance xmlns="urn:kimi:pptd:provenance">
  <producer>Kimi Slides/Design</producer>
  <statement>Built by Kimi Slides/Design with PPTD</statement>
</provenance>
</file>

<file path=docProps/app.xml><?xml version="1.0" encoding="utf-8"?>
<Properties xmlns="http://schemas.openxmlformats.org/officeDocument/2006/extended-properties">
  <Application>Neo Design</Application>
  <Company>Moonshot</Company>
  <Slides>8</Slides>
</Properties>
</file>

<file path=docProps/core.xml><?xml version="1.0" encoding="utf-8"?>
<cp:coreProperties xmlns:dc="http://purl.org/dc/elements/1.1/" xmlns:cp="http://schemas.openxmlformats.org/package/2006/metadata/core-properties">
  <dc:title>三个落地样例 · AI 协作共创实践</dc:title>
  <dc:subject>三个落地样例 · AI 协作共创实践</dc:subject>
  <dc:creator>Kimi</dc:creator>
</cp:coreProperties>
</file>

<file path=docProps/custom.xml><?xml version="1.0" encoding="utf-8"?>
<Properties xmlns:vt="http://schemas.openxmlformats.org/officeDocument/2006/docPropsVTypes" xmlns="http://schemas.openxmlformats.org/officeDocument/2006/custom-properties">
  <property fmtid="{D5CDD505-2E9C-101B-9397-08002B2CF9AE}" pid="4" name="AIGC">
    <vt:lpwstr>{"Label":"三个落地样例 · AI 协作共创实践","ContentProducer":"001191110108MACG2KBH8F10000","ProduceID":"samples-intro","ReservedCode1":"","ContentPropagator":"001191110108MACG2KBH8F20000","PropagateID":"agent:main:main:conversation:c2e583c3-d7bf-4b10-a828-114056902de5","ReservedCode2":""}</vt:lpwstr>
  </property>
</Properties>
</file>