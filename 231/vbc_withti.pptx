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 type="custom"/>
  <p:notesSz cx="12192000" cy="6858000"/>
  <p:embeddedFontLst>
    <p:embeddedFont>
      <p:font typeface="MiSans" charset="-122" pitchFamily="34"/>
      <p:regular r:id="rId29"/>
    </p:embeddedFont>
    <p:embeddedFont>
      <p:font typeface="JetBrains Mono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Relationship Id="rId3" Type="http://schemas.openxmlformats.org/officeDocument/2006/relationships/hyperlink" Target="https://opencode.ai/docs/cli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agents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config/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config/" TargetMode="External"/><Relationship Id="rId3" Type="http://schemas.openxmlformats.org/officeDocument/2006/relationships/hyperlink" Target="https://opencode.ai/docs/models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permissions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commands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rules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Relationship Id="rId3" Type="http://schemas.openxmlformats.org/officeDocument/2006/relationships/hyperlink" Target="https://opencode.ai/docs/cli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Relationship Id="rId3" Type="http://schemas.openxmlformats.org/officeDocument/2006/relationships/hyperlink" Target="https://github.com/anomalyco/opencode/issues/26700" TargetMode="External"/><Relationship Id="rId4" Type="http://schemas.openxmlformats.org/officeDocument/2006/relationships/hyperlink" Target="https://github.com/anomalyco/opencode/issues/26747" TargetMode="External"/><Relationship Id="rId5" Type="http://schemas.openxmlformats.org/officeDocument/2006/relationships/hyperlink" Target="https://github.com/anomalyco/opencode/issues/30527" TargetMode="External"/><Relationship Id="rId6" Type="http://schemas.openxmlformats.org/officeDocument/2006/relationships/hyperlink" Target="https://github.com/anomalyco/opencode/issues/30610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rules/" TargetMode="External"/><Relationship Id="rId3" Type="http://schemas.openxmlformats.org/officeDocument/2006/relationships/hyperlink" Target="https://opencode.ai/docs/agents/" TargetMode="External"/><Relationship Id="rId4" Type="http://schemas.openxmlformats.org/officeDocument/2006/relationships/hyperlink" Target="https://opencode.ai/docs/commands/" TargetMode="External"/><Relationship Id="rId5" Type="http://schemas.openxmlformats.org/officeDocument/2006/relationships/hyperlink" Target="https://opencode.ai/docs/skills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cli/" TargetMode="External"/><Relationship Id="rId4" Type="http://schemas.openxmlformats.org/officeDocument/2006/relationships/hyperlink" Target="https://opencode.ai/docs/web/" TargetMode="External"/><Relationship Id="rId5" Type="http://schemas.openxmlformats.org/officeDocument/2006/relationships/hyperlink" Target="https://opencode.ai/docs/server/" TargetMode="External"/><Relationship Id="rId6" Type="http://schemas.openxmlformats.org/officeDocument/2006/relationships/hyperlink" Target="https://github.com/anomalyco/opencode/issues/10226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permissions/" TargetMode="External"/><Relationship Id="rId3" Type="http://schemas.openxmlformats.org/officeDocument/2006/relationships/hyperlink" Target="https://github.com/anomalyco/opencode/issues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thropics/skills" TargetMode="Externa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thropics/skills" TargetMode="External"/><Relationship Id="rId3" Type="http://schemas.openxmlformats.org/officeDocument/2006/relationships/hyperlink" Target="https://opencode.ai/docs/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thropics/skills" TargetMode="Externa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Relationship Id="rId3" Type="http://schemas.openxmlformats.org/officeDocument/2006/relationships/hyperlink" Target="https://github.com/anomalyco/opencode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1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889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E0A458"/>
                </a:solidFill>
                <a:latin typeface="MiSans"/>
                <a:ea typeface="MiSans"/>
              </a:rPr>
              <a:t>VIBE CODING 基础教程 · LINUX 环境</a:t>
            </a:r>
            <a:endParaRPr lang="en-US" sz="1100" noProof="1"/>
          </a:p>
        </p:txBody>
      </p:sp>
      <p:sp>
        <p:nvSpPr>
          <p:cNvPr id="3" name="main-title"/>
          <p:cNvSpPr txBox="1"/>
          <p:nvPr/>
        </p:nvSpPr>
        <p:spPr>
          <a:xfrm>
            <a:off x="812800" y="1295400"/>
            <a:ext cx="8890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8000"/>
              </a:lnSpc>
            </a:pPr>
            <a:r>
              <a:rPr lang="en-US" sz="4000" noProof="1" b="1">
                <a:solidFill>
                  <a:srgbClr val="F5F1E8"/>
                </a:solidFill>
                <a:latin typeface="MiSans"/>
                <a:ea typeface="MiSans"/>
              </a:rPr>
              <a:t>用 OpenCode 开始</a:t>
            </a:r>
            <a:endParaRPr lang="en-US" sz="4000" noProof="1"/>
          </a:p>
          <a:p>
            <a:pPr>
              <a:lnSpc>
                <a:spcPct val="118000"/>
              </a:lnSpc>
            </a:pPr>
            <a:r>
              <a:rPr lang="en-US" sz="4000" noProof="1" b="1">
                <a:solidFill>
                  <a:srgbClr val="F5F1E8"/>
                </a:solidFill>
                <a:latin typeface="MiSans"/>
                <a:ea typeface="MiSans"/>
              </a:rPr>
              <a:t>Vibe Coding</a:t>
            </a:r>
            <a:endParaRPr lang="en-US" sz="40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29464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79F8F"/>
                </a:solidFill>
                <a:latin typeface="MiSans"/>
                <a:ea typeface="MiSans"/>
              </a:rPr>
              <a:t>从安装、配置到自定义 Agent：一套可以照着做的上手脚本</a:t>
            </a:r>
            <a:endParaRPr lang="en-US" sz="1400" noProof="1"/>
          </a:p>
        </p:txBody>
      </p:sp>
      <p:sp>
        <p:nvSpPr>
          <p:cNvPr id="5" name="term-panel"/>
          <p:cNvSpPr/>
          <p:nvPr/>
        </p:nvSpPr>
        <p:spPr>
          <a:xfrm>
            <a:off x="812800" y="3708400"/>
            <a:ext cx="7874000" cy="2260600"/>
          </a:xfrm>
          <a:prstGeom prst="rect">
            <a:avLst/>
          </a:prstGeom>
          <a:solidFill>
            <a:srgbClr val="F1EDE5"/>
          </a:solidFill>
          <a:ln w="12700">
            <a:solidFill>
              <a:srgbClr val="E2DCD0"/>
            </a:solidFill>
          </a:ln>
        </p:spPr>
      </p:sp>
      <p:sp>
        <p:nvSpPr>
          <p:cNvPr id="6" name="term-accent"/>
          <p:cNvSpPr/>
          <p:nvPr/>
        </p:nvSpPr>
        <p:spPr>
          <a:xfrm>
            <a:off x="812800" y="3708400"/>
            <a:ext cx="38100" cy="22606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7" name="dot-1"/>
          <p:cNvSpPr/>
          <p:nvPr/>
        </p:nvSpPr>
        <p:spPr>
          <a:xfrm>
            <a:off x="10668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8" name="dot-2"/>
          <p:cNvSpPr/>
          <p:nvPr/>
        </p:nvSpPr>
        <p:spPr>
          <a:xfrm>
            <a:off x="12446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9" name="dot-3"/>
          <p:cNvSpPr/>
          <p:nvPr/>
        </p:nvSpPr>
        <p:spPr>
          <a:xfrm>
            <a:off x="14224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10" name="term-code"/>
          <p:cNvSpPr txBox="1"/>
          <p:nvPr/>
        </p:nvSpPr>
        <p:spPr>
          <a:xfrm>
            <a:off x="1117600" y="4191000"/>
            <a:ext cx="72644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0E6B52"/>
                </a:solidFill>
                <a:latin typeface="JetBrains Mono"/>
                <a:ea typeface="MiSans"/>
              </a:rPr>
              <a:t>$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curl -fsSL https://opencode.ai/install | bash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0E6B52"/>
                </a:solidFill>
                <a:latin typeface="JetBrains Mono"/>
                <a:ea typeface="MiSans"/>
              </a:rPr>
              <a:t>$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cd my-project &amp;&amp; opencode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7A7466"/>
                </a:solidFill>
                <a:latin typeface="JetBrains Mono"/>
                <a:ea typeface="MiSans"/>
              </a:rPr>
              <a:t># 你描述意图，Agent 负责执行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B45309"/>
                </a:solidFill>
                <a:latin typeface="JetBrains Mono"/>
                <a:ea typeface="MiSans"/>
              </a:rPr>
              <a:t>&gt;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帮我给 CLI 加一个 --verbose 参数</a:t>
            </a:r>
            <a:endParaRPr lang="en-US" sz="1150" noProof="1"/>
          </a:p>
        </p:txBody>
      </p:sp>
      <p:sp>
        <p:nvSpPr>
          <p:cNvPr id="11" name="right-note"/>
          <p:cNvSpPr txBox="1"/>
          <p:nvPr/>
        </p:nvSpPr>
        <p:spPr>
          <a:xfrm>
            <a:off x="9093200" y="3708400"/>
            <a:ext cx="2286000" cy="226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70000"/>
              </a:lnSpc>
            </a:pPr>
            <a:r>
              <a:rPr lang="en-US" sz="1100" noProof="1" b="1">
                <a:solidFill>
                  <a:srgbClr val="F5F1E8"/>
                </a:solidFill>
                <a:latin typeface="MiSans"/>
                <a:ea typeface="MiSans"/>
              </a:rPr>
              <a:t>课程结构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7 章 · 26 页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60–90 分钟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含练习与速查表</a:t>
            </a:r>
            <a:endParaRPr lang="en-US" sz="1100" noProof="1"/>
          </a:p>
        </p:txBody>
      </p:sp>
      <p:sp>
        <p:nvSpPr>
          <p:cNvPr id="12" name="footer"/>
          <p:cNvSpPr txBox="1"/>
          <p:nvPr/>
        </p:nvSpPr>
        <p:spPr>
          <a:xfrm>
            <a:off x="8128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基于 opencode.ai 官方文档整理 · 2026-08 · 适用 opencode v1.x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ORIENTATION · 学习路线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学完这门课，你能独立做到这七件事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pine"/>
          <p:cNvSpPr/>
          <p:nvPr/>
        </p:nvSpPr>
        <p:spPr>
          <a:xfrm>
            <a:off x="977900" y="1549400"/>
            <a:ext cx="12700" cy="35306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6" name="n1"/>
          <p:cNvSpPr txBox="1"/>
          <p:nvPr/>
        </p:nvSpPr>
        <p:spPr>
          <a:xfrm>
            <a:off x="812800" y="14224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endParaRPr lang="en-US" sz="1400" noProof="1"/>
          </a:p>
        </p:txBody>
      </p:sp>
      <p:sp>
        <p:nvSpPr>
          <p:cNvPr id="7" name="r1"/>
          <p:cNvSpPr txBox="1"/>
          <p:nvPr/>
        </p:nvSpPr>
        <p:spPr>
          <a:xfrm>
            <a:off x="1320800" y="13716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上手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安装 opencode、登录 provider、跑通第一个会话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退出能力：能在任意 Git 项目里启动 TUI 并与 Agent 完成一轮对话</a:t>
            </a:r>
            <a:endParaRPr lang="en-US" sz="1300" noProof="1"/>
          </a:p>
        </p:txBody>
      </p:sp>
      <p:sp>
        <p:nvSpPr>
          <p:cNvPr id="8" name="n2"/>
          <p:cNvSpPr txBox="1"/>
          <p:nvPr/>
        </p:nvSpPr>
        <p:spPr>
          <a:xfrm>
            <a:off x="812800" y="20066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endParaRPr lang="en-US" sz="1400" noProof="1"/>
          </a:p>
        </p:txBody>
      </p:sp>
      <p:sp>
        <p:nvSpPr>
          <p:cNvPr id="9" name="r2"/>
          <p:cNvSpPr txBox="1"/>
          <p:nvPr/>
        </p:nvSpPr>
        <p:spPr>
          <a:xfrm>
            <a:off x="1320800" y="19558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配置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opencode.json 放在哪里、多层如何合并、怎样验证生效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退出能力：能用 debug config 证明当前生效的是哪份配置</a:t>
            </a:r>
            <a:endParaRPr lang="en-US" sz="1300" noProof="1"/>
          </a:p>
        </p:txBody>
      </p:sp>
      <p:sp>
        <p:nvSpPr>
          <p:cNvPr id="10" name="n3"/>
          <p:cNvSpPr txBox="1"/>
          <p:nvPr/>
        </p:nvSpPr>
        <p:spPr>
          <a:xfrm>
            <a:off x="812800" y="25908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endParaRPr lang="en-US" sz="1400" noProof="1"/>
          </a:p>
        </p:txBody>
      </p:sp>
      <p:sp>
        <p:nvSpPr>
          <p:cNvPr id="11" name="r3"/>
          <p:cNvSpPr txBox="1"/>
          <p:nvPr/>
        </p:nvSpPr>
        <p:spPr>
          <a:xfrm>
            <a:off x="1320800" y="25400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命令与规则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/init、/compact、/undo 与 AGENTS.md 项目记忆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退出能力：为新项目建立 AGENTS.md 并写出自定义斜杠命令</a:t>
            </a:r>
            <a:endParaRPr lang="en-US" sz="1300" noProof="1"/>
          </a:p>
        </p:txBody>
      </p:sp>
      <p:sp>
        <p:nvSpPr>
          <p:cNvPr id="12" name="n4"/>
          <p:cNvSpPr txBox="1"/>
          <p:nvPr/>
        </p:nvSpPr>
        <p:spPr>
          <a:xfrm>
            <a:off x="812800" y="31750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endParaRPr lang="en-US" sz="1400" noProof="1"/>
          </a:p>
        </p:txBody>
      </p:sp>
      <p:sp>
        <p:nvSpPr>
          <p:cNvPr id="13" name="r4"/>
          <p:cNvSpPr txBox="1"/>
          <p:nvPr/>
        </p:nvSpPr>
        <p:spPr>
          <a:xfrm>
            <a:off x="1320800" y="31242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代理机制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primary / subagent 分工、自定义 agent、权限边界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退出能力：写出一个只读评审子代理并正确配置其权限</a:t>
            </a:r>
            <a:endParaRPr lang="en-US" sz="1300" noProof="1"/>
          </a:p>
        </p:txBody>
      </p:sp>
      <p:sp>
        <p:nvSpPr>
          <p:cNvPr id="14" name="n5"/>
          <p:cNvSpPr txBox="1"/>
          <p:nvPr/>
        </p:nvSpPr>
        <p:spPr>
          <a:xfrm>
            <a:off x="812800" y="37592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5</a:t>
            </a:r>
            <a:endParaRPr lang="en-US" sz="1400" noProof="1"/>
          </a:p>
        </p:txBody>
      </p:sp>
      <p:sp>
        <p:nvSpPr>
          <p:cNvPr id="15" name="r5"/>
          <p:cNvSpPr txBox="1"/>
          <p:nvPr/>
        </p:nvSpPr>
        <p:spPr>
          <a:xfrm>
            <a:off x="1320800" y="3708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概念辨析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AGENTS.md / agent md / command md / SKILL.md 的分工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退出能力：给定一条规则，能判断它应该写进哪种文件</a:t>
            </a:r>
            <a:endParaRPr lang="en-US" sz="1300" noProof="1"/>
          </a:p>
        </p:txBody>
      </p:sp>
      <p:sp>
        <p:nvSpPr>
          <p:cNvPr id="16" name="n6"/>
          <p:cNvSpPr txBox="1"/>
          <p:nvPr/>
        </p:nvSpPr>
        <p:spPr>
          <a:xfrm>
            <a:off x="812800" y="43434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6</a:t>
            </a:r>
            <a:endParaRPr lang="en-US" sz="1400" noProof="1"/>
          </a:p>
        </p:txBody>
      </p:sp>
      <p:sp>
        <p:nvSpPr>
          <p:cNvPr id="17" name="r6"/>
          <p:cNvSpPr txBox="1"/>
          <p:nvPr/>
        </p:nvSpPr>
        <p:spPr>
          <a:xfrm>
            <a:off x="1320800" y="42926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排错与进阶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TUI / CLI / Web 的坑、六个高频报错、下一步方向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退出能力：遇到复制失效、白屏、审批弹窗轰炸能自行定位修复</a:t>
            </a:r>
            <a:endParaRPr lang="en-US" sz="1300" noProof="1"/>
          </a:p>
        </p:txBody>
      </p:sp>
      <p:sp>
        <p:nvSpPr>
          <p:cNvPr id="18" name="n7"/>
          <p:cNvSpPr txBox="1"/>
          <p:nvPr/>
        </p:nvSpPr>
        <p:spPr>
          <a:xfrm>
            <a:off x="812800" y="49276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7</a:t>
            </a:r>
            <a:endParaRPr lang="en-US" sz="1400" noProof="1"/>
          </a:p>
        </p:txBody>
      </p:sp>
      <p:sp>
        <p:nvSpPr>
          <p:cNvPr id="19" name="r7"/>
          <p:cNvSpPr txBox="1"/>
          <p:nvPr/>
        </p:nvSpPr>
        <p:spPr>
          <a:xfrm>
            <a:off x="1320800" y="48768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场景实战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PPT 生成、脚本报错定位、A→B 脚本改造、数据处理转换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退出能力：能用三步循环定位脚本报错，能用"小样→format→校验"流程处理乱数据</a:t>
            </a:r>
            <a:endParaRPr lang="en-US" sz="1300" noProof="1"/>
          </a:p>
        </p:txBody>
      </p:sp>
      <p:sp>
        <p:nvSpPr>
          <p:cNvPr id="20" name="prereq"/>
          <p:cNvSpPr txBox="1"/>
          <p:nvPr/>
        </p:nvSpPr>
        <p:spPr>
          <a:xfrm>
            <a:off x="812800" y="57912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开始前请确认：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会基本终端命令与 Git 基础，能读懂 JSON；有一台 Linux 机器和任一 LLM provider 账号。前置知识详见配套教学稿第 1 节。</a:t>
            </a:r>
            <a:endParaRPr lang="en-US" sz="1050" noProof="1"/>
          </a:p>
        </p:txBody>
      </p:sp>
      <p:sp>
        <p:nvSpPr>
          <p:cNvPr id="21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02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概念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Vibe Coding：你描述意图，Agent 负责执行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def-label"/>
          <p:cNvSpPr txBox="1"/>
          <p:nvPr/>
        </p:nvSpPr>
        <p:spPr>
          <a:xfrm>
            <a:off x="812800" y="14732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定义</a:t>
            </a:r>
            <a:endParaRPr lang="en-US" sz="1100" noProof="1"/>
          </a:p>
        </p:txBody>
      </p:sp>
      <p:sp>
        <p:nvSpPr>
          <p:cNvPr id="6" name="def-text"/>
          <p:cNvSpPr txBox="1"/>
          <p:nvPr/>
        </p:nvSpPr>
        <p:spPr>
          <a:xfrm>
            <a:off x="812800" y="17780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E1A"/>
                </a:solidFill>
                <a:latin typeface="MiSans"/>
                <a:ea typeface="MiSans"/>
              </a:rPr>
              <a:t>一种以</a:t>
            </a:r>
            <a:r>
              <a:rPr lang="en-US" sz="1350" noProof="1" b="1">
                <a:solidFill>
                  <a:srgbClr val="211E1A"/>
                </a:solidFill>
                <a:latin typeface="MiSans"/>
                <a:ea typeface="MiSans"/>
              </a:rPr>
              <a:t>自然语言意图</a:t>
            </a:r>
            <a:r>
              <a:rPr lang="en-US" sz="1350" noProof="1">
                <a:solidFill>
                  <a:srgbClr val="211E1A"/>
                </a:solidFill>
                <a:latin typeface="MiSans"/>
                <a:ea typeface="MiSans"/>
              </a:rPr>
              <a:t>为中心的编程方式：开发者负责描述"要什么"、审查结果与验证质量；AI Agent 负责读代码、改文件、跑命令这些具体执行。</a:t>
            </a:r>
            <a:endParaRPr lang="en-US" sz="1350" noProof="1"/>
          </a:p>
        </p:txBody>
      </p:sp>
      <p:sp>
        <p:nvSpPr>
          <p:cNvPr id="7" name="boundary-bar"/>
          <p:cNvSpPr/>
          <p:nvPr/>
        </p:nvSpPr>
        <p:spPr>
          <a:xfrm>
            <a:off x="812800" y="3200400"/>
            <a:ext cx="38100" cy="7112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8" name="boundary-text"/>
          <p:cNvSpPr txBox="1"/>
          <p:nvPr/>
        </p:nvSpPr>
        <p:spPr>
          <a:xfrm>
            <a:off x="1016000" y="3200400"/>
            <a:ext cx="690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边界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Vibe Coding 不是"不看代码"。审查 diff、跑测试、必要时回滚，仍然是开发者的责任——Agent 只是执行者。</a:t>
            </a:r>
            <a:endParaRPr lang="en-US" sz="1200" noProof="1"/>
          </a:p>
        </p:txBody>
      </p:sp>
      <p:sp>
        <p:nvSpPr>
          <p:cNvPr id="9" name="pos-label"/>
          <p:cNvSpPr txBox="1"/>
          <p:nvPr/>
        </p:nvSpPr>
        <p:spPr>
          <a:xfrm>
            <a:off x="8128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OPENCODE 的定位</a:t>
            </a:r>
            <a:endParaRPr lang="en-US" sz="1100" noProof="1"/>
          </a:p>
        </p:txBody>
      </p:sp>
      <p:sp>
        <p:nvSpPr>
          <p:cNvPr id="10" name="pos-text"/>
          <p:cNvSpPr txBox="1"/>
          <p:nvPr/>
        </p:nvSpPr>
        <p:spPr>
          <a:xfrm>
            <a:off x="812800" y="45720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opencode 是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终端原生的开源 AI 编程 Agent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。它的架构是 server + 多客户端：运行时会同时拉起一个本地 HTTP server，TUI、Web、IDE 插件都是它的客户端。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通过 models.dev 支持数十家 provider，可用 </a:t>
            </a:r>
            <a:r>
              <a:rPr lang="en-US" sz="1200" noProof="1">
                <a:solidFill>
                  <a:srgbClr val="211E1A"/>
                </a:solidFill>
                <a:latin typeface="JetBrains Mono"/>
                <a:ea typeface="JetBrains Mono"/>
              </a:rPr>
              <a:t>opencode auth login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 接入自己的 API key。</a:t>
            </a:r>
            <a:endParaRPr lang="en-US" sz="1200" noProof="1"/>
          </a:p>
        </p:txBody>
      </p:sp>
      <p:graphicFrame>
        <p:nvGraphicFramePr>
          <p:cNvPr id="11" name="cmp-table"/>
          <p:cNvGraphicFramePr>
            <a:graphicFrameLocks noGrp="1"/>
          </p:cNvGraphicFramePr>
          <p:nvPr/>
        </p:nvGraphicFramePr>
        <p:xfrm>
          <a:off x="8331200" y="1473200"/>
          <a:ext cx="3048000" cy="4495800"/>
        </p:xfrm>
        <a:graphic>
          <a:graphicData uri="http://schemas.openxmlformats.org/drawingml/2006/table">
            <a:tbl>
              <a:tblPr/>
              <a:tblGrid>
                <a:gridCol w="1280160"/>
                <a:gridCol w="1767840"/>
              </a:tblGrid>
              <a:tr h="4495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执行者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代码补全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人写为主，AI 补片段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聊天问答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AI 出主意，人动手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编程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AI 直接改文件、跑命令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开发者的角色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从"写"转向"描述 + 审查"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（server 架构见 Server 文档）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03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动手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三步装好 opencode，并完成登录验证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1-label"/>
          <p:cNvSpPr txBox="1"/>
          <p:nvPr/>
        </p:nvSpPr>
        <p:spPr>
          <a:xfrm>
            <a:off x="812800" y="1422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1 ｜ 安装（三选一）</a:t>
            </a:r>
            <a:endParaRPr lang="en-US" sz="1200" noProof="1"/>
          </a:p>
        </p:txBody>
      </p:sp>
      <p:sp>
        <p:nvSpPr>
          <p:cNvPr id="6" name="s1-panel"/>
          <p:cNvSpPr/>
          <p:nvPr/>
        </p:nvSpPr>
        <p:spPr>
          <a:xfrm>
            <a:off x="812800" y="1752600"/>
            <a:ext cx="7112000" cy="1219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7" name="s1-code"/>
          <p:cNvSpPr txBox="1"/>
          <p:nvPr/>
        </p:nvSpPr>
        <p:spPr>
          <a:xfrm>
            <a:off x="1016000" y="1854200"/>
            <a:ext cx="6705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官方脚本（推荐）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curl -fsSL https://opencode.ai/install | bash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或：npm install -g opencode-ai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或：brew install anomalyco/tap/opencode</a:t>
            </a:r>
            <a:endParaRPr lang="en-US" sz="1050" noProof="1"/>
          </a:p>
        </p:txBody>
      </p:sp>
      <p:sp>
        <p:nvSpPr>
          <p:cNvPr id="8" name="s2-label"/>
          <p:cNvSpPr txBox="1"/>
          <p:nvPr/>
        </p:nvSpPr>
        <p:spPr>
          <a:xfrm>
            <a:off x="8128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2 ｜ 登录 provider</a:t>
            </a:r>
            <a:endParaRPr lang="en-US" sz="1200" noProof="1"/>
          </a:p>
        </p:txBody>
      </p:sp>
      <p:sp>
        <p:nvSpPr>
          <p:cNvPr id="9" name="s2-panel"/>
          <p:cNvSpPr/>
          <p:nvPr/>
        </p:nvSpPr>
        <p:spPr>
          <a:xfrm>
            <a:off x="812800" y="3530600"/>
            <a:ext cx="7112000" cy="812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0" name="s2-code"/>
          <p:cNvSpPr txBox="1"/>
          <p:nvPr/>
        </p:nvSpPr>
        <p:spPr>
          <a:xfrm>
            <a:off x="1016000" y="363220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auth login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凭证存于 ~/.local/share/opencode/auth.json</a:t>
            </a:r>
            <a:endParaRPr lang="en-US" sz="1050" noProof="1"/>
          </a:p>
        </p:txBody>
      </p:sp>
      <p:sp>
        <p:nvSpPr>
          <p:cNvPr id="11" name="s3-label"/>
          <p:cNvSpPr txBox="1"/>
          <p:nvPr/>
        </p:nvSpPr>
        <p:spPr>
          <a:xfrm>
            <a:off x="812800" y="457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3 ｜ 验证</a:t>
            </a:r>
            <a:endParaRPr lang="en-US" sz="1200" noProof="1"/>
          </a:p>
        </p:txBody>
      </p:sp>
      <p:sp>
        <p:nvSpPr>
          <p:cNvPr id="12" name="s3-panel"/>
          <p:cNvSpPr/>
          <p:nvPr/>
        </p:nvSpPr>
        <p:spPr>
          <a:xfrm>
            <a:off x="812800" y="4902200"/>
            <a:ext cx="7112000" cy="812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3" name="s3-code"/>
          <p:cNvSpPr txBox="1"/>
          <p:nvPr/>
        </p:nvSpPr>
        <p:spPr>
          <a:xfrm>
            <a:off x="1016000" y="500380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--version   </a:t>
            </a: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预期：打印版本号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auth list   </a:t>
            </a: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预期：列出已登录 provider</a:t>
            </a:r>
            <a:endParaRPr lang="en-US" sz="1050" noProof="1"/>
          </a:p>
        </p:txBody>
      </p:sp>
      <p:sp>
        <p:nvSpPr>
          <p:cNvPr id="14" name="side-note-1"/>
          <p:cNvSpPr txBox="1"/>
          <p:nvPr/>
        </p:nvSpPr>
        <p:spPr>
          <a:xfrm>
            <a:off x="8432800" y="1422400"/>
            <a:ext cx="2946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注意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npm 方式需要 Node.js ≥ 18。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用包管理器安装时，autoupdate 不会生效，升级用 </a:t>
            </a:r>
            <a:r>
              <a:rPr lang="en-US" sz="1100" noProof="1">
                <a:solidFill>
                  <a:srgbClr val="6E695F"/>
                </a:solidFill>
                <a:latin typeface="JetBrains Mono"/>
                <a:ea typeface="JetBrains Mono"/>
              </a:rPr>
              <a:t>opencode upgrade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15" name="side-note-2"/>
          <p:cNvSpPr txBox="1"/>
          <p:nvPr/>
        </p:nvSpPr>
        <p:spPr>
          <a:xfrm>
            <a:off x="8432800" y="3530600"/>
            <a:ext cx="29464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完成标准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两条验证命令都有预期输出，说明二进制可用、凭证已写入。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不要把 API key 明文写进配置文件；用 auth login 或 </a:t>
            </a:r>
            <a:r>
              <a:rPr lang="en-US" sz="1100" noProof="1">
                <a:solidFill>
                  <a:srgbClr val="6E695F"/>
                </a:solidFill>
                <a:latin typeface="JetBrains Mono"/>
                <a:ea typeface="JetBrains Mono"/>
              </a:rPr>
              <a:t>{env:VAR}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变量。</a:t>
            </a:r>
            <a:endParaRPr lang="en-US" sz="1100" noProof="1"/>
          </a:p>
        </p:txBody>
      </p:sp>
      <p:sp>
        <p:nvSpPr>
          <p:cNvPr id="16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 文档</a:t>
            </a:r>
            <a:endParaRPr lang="en-US" sz="950" noProof="1"/>
          </a:p>
        </p:txBody>
      </p:sp>
      <p:sp>
        <p:nvSpPr>
          <p:cNvPr id="17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04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动手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十分钟跑通第一个 Vibe Coding 会话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tep1"/>
          <p:cNvSpPr txBox="1"/>
          <p:nvPr/>
        </p:nvSpPr>
        <p:spPr>
          <a:xfrm>
            <a:off x="812800" y="1473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进入项目并启动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cd my-project &amp;&amp; opencode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（项目须为 Git 仓库）</a:t>
            </a:r>
            <a:endParaRPr lang="en-US" sz="1200" noProof="1"/>
          </a:p>
        </p:txBody>
      </p:sp>
      <p:sp>
        <p:nvSpPr>
          <p:cNvPr id="6" name="step2"/>
          <p:cNvSpPr txBox="1"/>
          <p:nvPr/>
        </p:nvSpPr>
        <p:spPr>
          <a:xfrm>
            <a:off x="812800" y="24130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先让 Agent 读代码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输入：</a:t>
            </a:r>
            <a:r>
              <a:rPr lang="en-US" sz="1200" noProof="1" i="1">
                <a:solidFill>
                  <a:srgbClr val="211E1A"/>
                </a:solidFill>
                <a:latin typeface="MiSans"/>
                <a:ea typeface="MiSans"/>
              </a:rPr>
              <a:t>给我快速总结一下这个代码库的结构</a:t>
            </a:r>
            <a:endParaRPr lang="en-US" sz="1200" noProof="1"/>
          </a:p>
        </p:txBody>
      </p:sp>
      <p:sp>
        <p:nvSpPr>
          <p:cNvPr id="7" name="step3"/>
          <p:cNvSpPr txBox="1"/>
          <p:nvPr/>
        </p:nvSpPr>
        <p:spPr>
          <a:xfrm>
            <a:off x="812800" y="33528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Tab 切到 plan，先要方案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输入：</a:t>
            </a:r>
            <a:r>
              <a:rPr lang="en-US" sz="1200" noProof="1" i="1">
                <a:solidFill>
                  <a:srgbClr val="211E1A"/>
                </a:solidFill>
                <a:latin typeface="MiSans"/>
                <a:ea typeface="MiSans"/>
              </a:rPr>
              <a:t>设计一个加 --verbose 参数的方案，先别改代码</a:t>
            </a:r>
            <a:endParaRPr lang="en-US" sz="1200" noProof="1"/>
          </a:p>
        </p:txBody>
      </p:sp>
      <p:sp>
        <p:nvSpPr>
          <p:cNvPr id="8" name="step4"/>
          <p:cNvSpPr txBox="1"/>
          <p:nvPr/>
        </p:nvSpPr>
        <p:spPr>
          <a:xfrm>
            <a:off x="812800" y="42926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切回 build 执行，再 /undo 体验回滚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确认方案后让 Agent 动手；不满意就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/undo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 撤销整轮改动</a:t>
            </a:r>
            <a:endParaRPr lang="en-US" sz="1200" noProof="1"/>
          </a:p>
        </p:txBody>
      </p:sp>
      <p:sp>
        <p:nvSpPr>
          <p:cNvPr id="9" name="spine"/>
          <p:cNvSpPr/>
          <p:nvPr/>
        </p:nvSpPr>
        <p:spPr>
          <a:xfrm>
            <a:off x="7620000" y="1524000"/>
            <a:ext cx="12700" cy="4318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10" name="check-label"/>
          <p:cNvSpPr txBox="1"/>
          <p:nvPr/>
        </p:nvSpPr>
        <p:spPr>
          <a:xfrm>
            <a:off x="8026400" y="14732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你将看到（验证点）</a:t>
            </a:r>
            <a:endParaRPr lang="en-US" sz="1100" noProof="1"/>
          </a:p>
        </p:txBody>
      </p:sp>
      <p:sp>
        <p:nvSpPr>
          <p:cNvPr id="11" name="check-list"/>
          <p:cNvSpPr txBox="1"/>
          <p:nvPr/>
        </p:nvSpPr>
        <p:spPr>
          <a:xfrm>
            <a:off x="8026400" y="1803400"/>
            <a:ext cx="33528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状态栏显示当前 agent 与模型名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plan 模式下，任何写文件 / 跑命令动作都会先弹审批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build 模式下改动逐文件展示 diff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/undo 后文件改动随消息一起回滚</a:t>
            </a:r>
            <a:endParaRPr lang="en-US" sz="1100" noProof="1"/>
          </a:p>
        </p:txBody>
      </p:sp>
      <p:sp>
        <p:nvSpPr>
          <p:cNvPr id="12" name="warn-bar"/>
          <p:cNvSpPr/>
          <p:nvPr/>
        </p:nvSpPr>
        <p:spPr>
          <a:xfrm>
            <a:off x="8026400" y="5029200"/>
            <a:ext cx="38100" cy="8128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" name="warn-text"/>
          <p:cNvSpPr txBox="1"/>
          <p:nvPr/>
        </p:nvSpPr>
        <p:spPr>
          <a:xfrm>
            <a:off x="8229600" y="50292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B45309"/>
                </a:solidFill>
                <a:latin typeface="MiSans"/>
                <a:ea typeface="MiSans"/>
              </a:rPr>
              <a:t>注意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/undo 与 /redo 依赖内部 Git 快照，项目必须是 Git 仓库才能用。</a:t>
            </a:r>
            <a:endParaRPr lang="en-US" sz="110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Agents 文档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05</a:t>
            </a:r>
            <a:endParaRPr lang="en-US" sz="9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配置是合并的：多层叠加，冲突时后加载者覆盖先加载者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1"/>
          <p:cNvSpPr/>
          <p:nvPr/>
        </p:nvSpPr>
        <p:spPr>
          <a:xfrm>
            <a:off x="812800" y="1422400"/>
            <a:ext cx="6350000" cy="508000"/>
          </a:xfrm>
          <a:prstGeom prst="rect">
            <a:avLst/>
          </a:prstGeom>
          <a:solidFill>
            <a:srgbClr val="F1EDE4"/>
          </a:solidFill>
          <a:ln>
            <a:noFill/>
          </a:ln>
        </p:spPr>
      </p:sp>
      <p:sp>
        <p:nvSpPr>
          <p:cNvPr id="6" name="L1t"/>
          <p:cNvSpPr txBox="1"/>
          <p:nvPr/>
        </p:nvSpPr>
        <p:spPr>
          <a:xfrm>
            <a:off x="1016000" y="1422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1 · 远程配置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.well-known/opencode —— 组织级默认</a:t>
            </a:r>
            <a:endParaRPr lang="en-US" sz="1100" noProof="1"/>
          </a:p>
        </p:txBody>
      </p:sp>
      <p:sp>
        <p:nvSpPr>
          <p:cNvPr id="7" name="L2"/>
          <p:cNvSpPr/>
          <p:nvPr/>
        </p:nvSpPr>
        <p:spPr>
          <a:xfrm>
            <a:off x="812800" y="1981200"/>
            <a:ext cx="6350000" cy="508000"/>
          </a:xfrm>
          <a:prstGeom prst="rect">
            <a:avLst/>
          </a:prstGeom>
          <a:solidFill>
            <a:srgbClr val="EBE6DA"/>
          </a:solidFill>
          <a:ln>
            <a:noFill/>
          </a:ln>
        </p:spPr>
      </p:sp>
      <p:sp>
        <p:nvSpPr>
          <p:cNvPr id="8" name="L2t"/>
          <p:cNvSpPr txBox="1"/>
          <p:nvPr/>
        </p:nvSpPr>
        <p:spPr>
          <a:xfrm>
            <a:off x="1016000" y="1981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2 · 全局配置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~/.config/opencode/opencode.json</a:t>
            </a:r>
            <a:endParaRPr lang="en-US" sz="1100" noProof="1"/>
          </a:p>
        </p:txBody>
      </p:sp>
      <p:sp>
        <p:nvSpPr>
          <p:cNvPr id="9" name="L3"/>
          <p:cNvSpPr/>
          <p:nvPr/>
        </p:nvSpPr>
        <p:spPr>
          <a:xfrm>
            <a:off x="812800" y="2540000"/>
            <a:ext cx="6350000" cy="508000"/>
          </a:xfrm>
          <a:prstGeom prst="rect">
            <a:avLst/>
          </a:prstGeom>
          <a:solidFill>
            <a:srgbClr val="E5DFD0"/>
          </a:solidFill>
          <a:ln>
            <a:noFill/>
          </a:ln>
        </p:spPr>
      </p:sp>
      <p:sp>
        <p:nvSpPr>
          <p:cNvPr id="10" name="L3t"/>
          <p:cNvSpPr txBox="1"/>
          <p:nvPr/>
        </p:nvSpPr>
        <p:spPr>
          <a:xfrm>
            <a:off x="1016000" y="25400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3 · 自定义文件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OPENCODE_CONFIG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环境变量指定</a:t>
            </a:r>
            <a:endParaRPr lang="en-US" sz="1100" noProof="1"/>
          </a:p>
        </p:txBody>
      </p:sp>
      <p:sp>
        <p:nvSpPr>
          <p:cNvPr id="11" name="L4"/>
          <p:cNvSpPr/>
          <p:nvPr/>
        </p:nvSpPr>
        <p:spPr>
          <a:xfrm>
            <a:off x="812800" y="3098800"/>
            <a:ext cx="6350000" cy="508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</a:ln>
        </p:spPr>
      </p:sp>
      <p:sp>
        <p:nvSpPr>
          <p:cNvPr id="12" name="L4t"/>
          <p:cNvSpPr txBox="1"/>
          <p:nvPr/>
        </p:nvSpPr>
        <p:spPr>
          <a:xfrm>
            <a:off x="1016000" y="30988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4 · 项目配置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./opencode.json</a:t>
            </a:r>
            <a:r>
              <a:rPr lang="en-US" sz="1100" noProof="1">
                <a:solidFill>
                  <a:srgbClr val="0E6B52"/>
                </a:solidFill>
                <a:latin typeface="MiSans"/>
                <a:ea typeface="MiSans"/>
              </a:rPr>
              <a:t>　★ 团队共享，可提交 Git</a:t>
            </a:r>
            <a:endParaRPr lang="en-US" sz="1100" noProof="1"/>
          </a:p>
        </p:txBody>
      </p:sp>
      <p:sp>
        <p:nvSpPr>
          <p:cNvPr id="13" name="L5"/>
          <p:cNvSpPr/>
          <p:nvPr/>
        </p:nvSpPr>
        <p:spPr>
          <a:xfrm>
            <a:off x="812800" y="3657600"/>
            <a:ext cx="6350000" cy="508000"/>
          </a:xfrm>
          <a:prstGeom prst="rect">
            <a:avLst/>
          </a:prstGeom>
          <a:solidFill>
            <a:srgbClr val="D8E4DD"/>
          </a:solidFill>
          <a:ln>
            <a:noFill/>
          </a:ln>
        </p:spPr>
      </p:sp>
      <p:sp>
        <p:nvSpPr>
          <p:cNvPr id="14" name="L5t"/>
          <p:cNvSpPr txBox="1"/>
          <p:nvPr/>
        </p:nvSpPr>
        <p:spPr>
          <a:xfrm>
            <a:off x="1016000" y="3657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5 · .opencode/ 目录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agents / commands / plugins</a:t>
            </a:r>
            <a:endParaRPr lang="en-US" sz="1100" noProof="1"/>
          </a:p>
        </p:txBody>
      </p:sp>
      <p:sp>
        <p:nvSpPr>
          <p:cNvPr id="15" name="L6"/>
          <p:cNvSpPr/>
          <p:nvPr/>
        </p:nvSpPr>
        <p:spPr>
          <a:xfrm>
            <a:off x="812800" y="4216400"/>
            <a:ext cx="6350000" cy="508000"/>
          </a:xfrm>
          <a:prstGeom prst="rect">
            <a:avLst/>
          </a:prstGeom>
          <a:solidFill>
            <a:srgbClr val="CBDCD2"/>
          </a:solidFill>
          <a:ln>
            <a:noFill/>
          </a:ln>
        </p:spPr>
      </p:sp>
      <p:sp>
        <p:nvSpPr>
          <p:cNvPr id="16" name="L6t"/>
          <p:cNvSpPr txBox="1"/>
          <p:nvPr/>
        </p:nvSpPr>
        <p:spPr>
          <a:xfrm>
            <a:off x="1016000" y="4216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6 · 内联配置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OPENCODE_CONFIG_CONTENT</a:t>
            </a:r>
            <a:endParaRPr lang="en-US" sz="1100" noProof="1"/>
          </a:p>
        </p:txBody>
      </p:sp>
      <p:sp>
        <p:nvSpPr>
          <p:cNvPr id="17" name="L7"/>
          <p:cNvSpPr/>
          <p:nvPr/>
        </p:nvSpPr>
        <p:spPr>
          <a:xfrm>
            <a:off x="812800" y="4775200"/>
            <a:ext cx="6350000" cy="5080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8" name="L7t"/>
          <p:cNvSpPr txBox="1"/>
          <p:nvPr/>
        </p:nvSpPr>
        <p:spPr>
          <a:xfrm>
            <a:off x="1016000" y="4775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7 · 托管配置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FFFFFF"/>
                </a:solidFill>
                <a:latin typeface="JetBrains Mono"/>
                <a:ea typeface="JetBrains Mono"/>
              </a:rPr>
              <a:t>/etc/opencode/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（需 root，用户不可覆盖）</a:t>
            </a:r>
            <a:endParaRPr lang="en-US" sz="1100" noProof="1"/>
          </a:p>
        </p:txBody>
      </p:sp>
      <p:sp>
        <p:nvSpPr>
          <p:cNvPr id="19" name="arrow"/>
          <p:cNvSpPr/>
          <p:nvPr>
            <p:extLst>
              <p:ext uri="{F5677B7D-0D2A-4D9B-9A5C-6D8D7D0E5A5D}">
                <pptd:line encoding="base64url">eyJ2aWV3Qm94IjpbMjAsMjg4XSwicG9pbnRzIjoiMTAsMCAxMCwyODgifQ</pptd:line>
              </p:ext>
            </p:extLst>
          </p:nvPr>
        </p:nvSpPr>
        <p:spPr>
          <a:xfrm>
            <a:off x="7366000" y="1524000"/>
            <a:ext cx="254000" cy="3657600"/>
          </a:xfrm>
          <a:custGeom>
            <a:avLst/>
            <a:gdLst/>
            <a:ahLst/>
            <a:cxnLst/>
            <a:rect l="l" t="t" r="r" b="b"/>
            <a:pathLst>
              <a:path w="20" h="288">
                <a:moveTo>
                  <a:pt x="10" y="0"/>
                </a:moveTo>
                <a:lnTo>
                  <a:pt x="10" y="288"/>
                </a:lnTo>
              </a:path>
            </a:pathLst>
          </a:custGeom>
          <a:noFill/>
          <a:ln w="25400" cap="rnd">
            <a:solidFill>
              <a:srgbClr val="0E6B52"/>
            </a:solidFill>
            <a:round/>
            <a:tailEnd type="arrow"/>
          </a:ln>
        </p:spPr>
      </p:sp>
      <p:sp>
        <p:nvSpPr>
          <p:cNvPr id="20" name="arrow-label"/>
          <p:cNvSpPr txBox="1"/>
          <p:nvPr/>
        </p:nvSpPr>
        <p:spPr>
          <a:xfrm>
            <a:off x="7721600" y="29210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优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先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级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升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高</a:t>
            </a:r>
            <a:endParaRPr lang="en-US" sz="1100" noProof="1"/>
          </a:p>
        </p:txBody>
      </p:sp>
      <p:sp>
        <p:nvSpPr>
          <p:cNvPr id="21" name="merge-label"/>
          <p:cNvSpPr txBox="1"/>
          <p:nvPr/>
        </p:nvSpPr>
        <p:spPr>
          <a:xfrm>
            <a:off x="8636000" y="1422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合并非替换</a:t>
            </a:r>
            <a:endParaRPr lang="en-US" sz="1100" noProof="1"/>
          </a:p>
        </p:txBody>
      </p:sp>
      <p:sp>
        <p:nvSpPr>
          <p:cNvPr id="22" name="merge-text"/>
          <p:cNvSpPr txBox="1"/>
          <p:nvPr/>
        </p:nvSpPr>
        <p:spPr>
          <a:xfrm>
            <a:off x="8636000" y="1727200"/>
            <a:ext cx="2743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不冲突的键各层都保留：全局写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autoupdate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、项目写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model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，最终两者同时生效。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只有同一个键冲突时，才由后加载的层覆盖。</a:t>
            </a:r>
            <a:endParaRPr lang="en-US" sz="1100" noProof="1"/>
          </a:p>
        </p:txBody>
      </p:sp>
      <p:sp>
        <p:nvSpPr>
          <p:cNvPr id="23" name="verify-label"/>
          <p:cNvSpPr txBox="1"/>
          <p:nvPr/>
        </p:nvSpPr>
        <p:spPr>
          <a:xfrm>
            <a:off x="8636000" y="3454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怎么验证生效</a:t>
            </a:r>
            <a:endParaRPr lang="en-US" sz="1100" noProof="1"/>
          </a:p>
        </p:txBody>
      </p:sp>
      <p:sp>
        <p:nvSpPr>
          <p:cNvPr id="24" name="verify-panel"/>
          <p:cNvSpPr/>
          <p:nvPr/>
        </p:nvSpPr>
        <p:spPr>
          <a:xfrm>
            <a:off x="8636000" y="3759200"/>
            <a:ext cx="2743200" cy="711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25" name="verify-code"/>
          <p:cNvSpPr txBox="1"/>
          <p:nvPr/>
        </p:nvSpPr>
        <p:spPr>
          <a:xfrm>
            <a:off x="8813800" y="37592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debug config</a:t>
            </a:r>
            <a:endParaRPr lang="en-US" sz="1050" noProof="1"/>
          </a:p>
        </p:txBody>
      </p:sp>
      <p:sp>
        <p:nvSpPr>
          <p:cNvPr id="26" name="verify-text"/>
          <p:cNvSpPr txBox="1"/>
          <p:nvPr/>
        </p:nvSpPr>
        <p:spPr>
          <a:xfrm>
            <a:off x="8636000" y="45974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输出的是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合并后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的最终配置。某键没生效，先怀疑被更高层覆盖或被环境变量注入。</a:t>
            </a:r>
            <a:endParaRPr lang="en-US" sz="1100" noProof="1"/>
          </a:p>
        </p:txBody>
      </p:sp>
      <p:sp>
        <p:nvSpPr>
          <p:cNvPr id="27" name="bottom-note"/>
          <p:cNvSpPr txBox="1"/>
          <p:nvPr/>
        </p:nvSpPr>
        <p:spPr>
          <a:xfrm>
            <a:off x="812800" y="5537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补充：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TUI 外观单独用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tui.json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（同目录，schema 为 opencode.ai/tui.json）；项目配置从当前目录向上追溯到最近的 Git 根目录查找。macOS 另有 MDM 层（第 8 层），Linux 不涉及。</a:t>
            </a:r>
            <a:endParaRPr lang="en-US" sz="1100" noProof="1"/>
          </a:p>
        </p:txBody>
      </p:sp>
      <p:sp>
        <p:nvSpPr>
          <p:cNvPr id="28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opencode.ai/docs/config</a:t>
            </a:r>
            <a:endParaRPr lang="en-US" sz="950" noProof="1"/>
          </a:p>
        </p:txBody>
      </p:sp>
      <p:sp>
        <p:nvSpPr>
          <p:cNvPr id="29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06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一个 opencode.json，管住模型、权限与行为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ode-panel"/>
          <p:cNvSpPr/>
          <p:nvPr/>
        </p:nvSpPr>
        <p:spPr>
          <a:xfrm>
            <a:off x="812800" y="1422400"/>
            <a:ext cx="5334000" cy="44704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1041400" y="1574800"/>
            <a:ext cx="49022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"$schema"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"https://opencode.ai/config.json"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"model"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"anthropic/claude-sonnet-4-5"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"small_model"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"anthropic/claude-haiku-4-5"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"permission"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"edit"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"bash"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status*"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"allow"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push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}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},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"instructions"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[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"docs/guidelines.md"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],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"share"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"manual"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"autoupdate"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"notify"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}</a:t>
            </a:r>
            <a:endParaRPr lang="en-US" sz="1000" noProof="1"/>
          </a:p>
        </p:txBody>
      </p:sp>
      <p:sp>
        <p:nvSpPr>
          <p:cNvPr id="7" name="slots-label"/>
          <p:cNvSpPr txBox="1"/>
          <p:nvPr/>
        </p:nvSpPr>
        <p:spPr>
          <a:xfrm>
            <a:off x="6553200" y="142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还有哪些槽位</a:t>
            </a:r>
            <a:endParaRPr lang="en-US" sz="1100" noProof="1"/>
          </a:p>
        </p:txBody>
      </p:sp>
      <p:sp>
        <p:nvSpPr>
          <p:cNvPr id="8" name="slots-list"/>
          <p:cNvSpPr txBox="1"/>
          <p:nvPr/>
        </p:nvSpPr>
        <p:spPr>
          <a:xfrm>
            <a:off x="6553200" y="1752600"/>
            <a:ext cx="4826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model / small_model / provider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模型与服务商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permission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权限三态（下一页详解）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agent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自定义 / 覆盖代理（第 4 章）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command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自定义斜杠命令（第 3 章）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instructions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追加规则文件（路径 / glob / URL）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mcp / plugin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外部工具与插件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formatter / lsp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格式化器与语言服务器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server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serve / web 的端口、域名、CORS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compaction / snapshot / watcher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上下文与快照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default_agent / subagent_depth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默认代理与嵌套深度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disabled_providers / enabled_providers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黑白名单</a:t>
            </a:r>
            <a:endParaRPr lang="en-US" sz="1150" noProof="1"/>
          </a:p>
        </p:txBody>
      </p:sp>
      <p:sp>
        <p:nvSpPr>
          <p:cNvPr id="9" name="tip-bar"/>
          <p:cNvSpPr/>
          <p:nvPr/>
        </p:nvSpPr>
        <p:spPr>
          <a:xfrm>
            <a:off x="6553200" y="5334000"/>
            <a:ext cx="38100" cy="711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0" name="tip-text"/>
          <p:cNvSpPr txBox="1"/>
          <p:nvPr/>
        </p:nvSpPr>
        <p:spPr>
          <a:xfrm>
            <a:off x="6756400" y="5334000"/>
            <a:ext cx="462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支持 JSONC 注释；密钥用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{env:VAR}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{file:path}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替换；模型选择优先级：命令行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-m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＞ 配置 ＞ 上次使用 ＞ 默认。</a:t>
            </a:r>
            <a:endParaRPr lang="en-US" sz="1050" noProof="1"/>
          </a:p>
        </p:txBody>
      </p:sp>
      <p:sp>
        <p:nvSpPr>
          <p:cNvPr id="11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opencode.ai/docs/config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Models 文档</a:t>
            </a:r>
            <a:endParaRPr lang="en-US" sz="95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07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权限三态 allow / ask / deny，同一工具的规则"最后匹配生效"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tate1"/>
          <p:cNvSpPr txBox="1"/>
          <p:nvPr/>
        </p:nvSpPr>
        <p:spPr>
          <a:xfrm>
            <a:off x="8128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allow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直接执行，不问</a:t>
            </a:r>
            <a:endParaRPr lang="en-US" sz="1200" noProof="1"/>
          </a:p>
        </p:txBody>
      </p:sp>
      <p:sp>
        <p:nvSpPr>
          <p:cNvPr id="6" name="state2"/>
          <p:cNvSpPr txBox="1"/>
          <p:nvPr/>
        </p:nvSpPr>
        <p:spPr>
          <a:xfrm>
            <a:off x="44196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ask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弹审批：once / always / reject</a:t>
            </a:r>
            <a:endParaRPr lang="en-US" sz="1200" noProof="1"/>
          </a:p>
        </p:txBody>
      </p:sp>
      <p:sp>
        <p:nvSpPr>
          <p:cNvPr id="7" name="state3"/>
          <p:cNvSpPr txBox="1"/>
          <p:nvPr/>
        </p:nvSpPr>
        <p:spPr>
          <a:xfrm>
            <a:off x="80264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deny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直接阻止该动作</a:t>
            </a:r>
            <a:endParaRPr lang="en-US" sz="1200" noProof="1"/>
          </a:p>
        </p:txBody>
      </p:sp>
      <p:sp>
        <p:nvSpPr>
          <p:cNvPr id="8" name="code-panel"/>
          <p:cNvSpPr/>
          <p:nvPr/>
        </p:nvSpPr>
        <p:spPr>
          <a:xfrm>
            <a:off x="812800" y="2133600"/>
            <a:ext cx="5334000" cy="22860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9" name="code"/>
          <p:cNvSpPr txBox="1"/>
          <p:nvPr/>
        </p:nvSpPr>
        <p:spPr>
          <a:xfrm>
            <a:off x="1041400" y="2286000"/>
            <a:ext cx="49022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7A7466"/>
                </a:solidFill>
                <a:latin typeface="JetBrains Mono"/>
                <a:ea typeface="MiSans"/>
              </a:rPr>
              <a:t>// "*" 兜底在前，具体规则在后：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7A7466"/>
                </a:solidFill>
                <a:latin typeface="JetBrains Mono"/>
                <a:ea typeface="MiSans"/>
              </a:rPr>
              <a:t>// 后匹配的规则覆盖先匹配的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"permission"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"bash"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"allow"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push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"rm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}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}</a:t>
            </a:r>
            <a:endParaRPr lang="en-US" sz="1000" noProof="1"/>
          </a:p>
        </p:txBody>
      </p:sp>
      <p:graphicFrame>
        <p:nvGraphicFramePr>
          <p:cNvPr id="10" name="perm-table"/>
          <p:cNvGraphicFramePr>
            <a:graphicFrameLocks noGrp="1"/>
          </p:cNvGraphicFramePr>
          <p:nvPr/>
        </p:nvGraphicFramePr>
        <p:xfrm>
          <a:off x="6553200" y="2133600"/>
          <a:ext cx="4826000" cy="2286000"/>
        </p:xfrm>
        <a:graphic>
          <a:graphicData uri="http://schemas.openxmlformats.org/drawingml/2006/table">
            <a:tbl>
              <a:tblPr/>
              <a:tblGrid>
                <a:gridCol w="2026920"/>
                <a:gridCol w="2799080"/>
              </a:tblGrid>
              <a:tr h="3657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权限键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默认值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大部分工具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allow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doom_loop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ask（同一调用重复 3 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external_directory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ask（访问工作目录外）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read *.env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deny（防密钥泄漏）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task / skill / webfetch…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均可按模式细分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multi-label"/>
          <p:cNvSpPr txBox="1"/>
          <p:nvPr/>
        </p:nvSpPr>
        <p:spPr>
          <a:xfrm>
            <a:off x="812800" y="4724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多层配置的权限冲突怎么算</a:t>
            </a:r>
            <a:endParaRPr lang="en-US" sz="1100" noProof="1"/>
          </a:p>
        </p:txBody>
      </p:sp>
      <p:sp>
        <p:nvSpPr>
          <p:cNvPr id="12" name="multi-text"/>
          <p:cNvSpPr txBox="1"/>
          <p:nvPr/>
        </p:nvSpPr>
        <p:spPr>
          <a:xfrm>
            <a:off x="812800" y="5003800"/>
            <a:ext cx="660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合并后是规则列表的拼接，仍然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最后匹配生效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：全局的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bash *: deny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可能被项目配置里靠后的 allow 放行——反之亦然。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排查时用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看合并后的规则顺序。</a:t>
            </a:r>
            <a:endParaRPr lang="en-US" sz="1150" noProof="1"/>
          </a:p>
        </p:txBody>
      </p:sp>
      <p:sp>
        <p:nvSpPr>
          <p:cNvPr id="13" name="warn-bar"/>
          <p:cNvSpPr/>
          <p:nvPr/>
        </p:nvSpPr>
        <p:spPr>
          <a:xfrm>
            <a:off x="7772400" y="5003800"/>
            <a:ext cx="38100" cy="9906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7975600" y="5003800"/>
            <a:ext cx="3403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B45309"/>
                </a:solidFill>
                <a:latin typeface="MiSans"/>
                <a:ea typeface="MiSans"/>
              </a:rPr>
              <a:t>注意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审批弹窗里的 </a:t>
            </a:r>
            <a:r>
              <a:rPr lang="en-US" sz="1050" noProof="1" b="1">
                <a:solidFill>
                  <a:srgbClr val="6E695F"/>
                </a:solidFill>
                <a:latin typeface="MiSans"/>
                <a:ea typeface="MiSans"/>
              </a:rPr>
              <a:t>always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只在当前会话有效，不写入配置文件；子代理会话也不会继承它（第 4 章详解）。</a:t>
            </a:r>
            <a:endParaRPr lang="en-US" sz="105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opencode.ai/docs/permissions</a:t>
            </a:r>
            <a:endParaRPr lang="en-US" sz="950" noProof="1"/>
          </a:p>
        </p:txBody>
      </p:sp>
      <p:sp>
        <p:nvSpPr>
          <p:cNvPr id="16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08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03 · 命令与规则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斜杠命令：会话操作的快捷方式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cmd-table"/>
          <p:cNvGraphicFramePr>
            <a:graphicFrameLocks noGrp="1"/>
          </p:cNvGraphicFramePr>
          <p:nvPr/>
        </p:nvGraphicFramePr>
        <p:xfrm>
          <a:off x="812800" y="1422400"/>
          <a:ext cx="7112000" cy="4521200"/>
        </p:xfrm>
        <a:graphic>
          <a:graphicData uri="http://schemas.openxmlformats.org/drawingml/2006/table">
            <a:tbl>
              <a:tblPr/>
              <a:tblGrid>
                <a:gridCol w="1849120"/>
                <a:gridCol w="3698240"/>
                <a:gridCol w="1564640"/>
              </a:tblGrid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命令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快捷键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/init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生成或更新 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/new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开新会话（别名 /clear）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/sessions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列出并切换历史会话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/compact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压缩上下文，回收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/undo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撤销最近一轮（含文件改动）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u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/redo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重做被撤销的一轮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/share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生成会话分享链接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/export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导出会话为 Markdown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/models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切换模型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ide-label"/>
          <p:cNvSpPr txBox="1"/>
          <p:nvPr/>
        </p:nvSpPr>
        <p:spPr>
          <a:xfrm>
            <a:off x="8432800" y="1422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使用要点</a:t>
            </a:r>
            <a:endParaRPr lang="en-US" sz="1100" noProof="1"/>
          </a:p>
        </p:txBody>
      </p:sp>
      <p:sp>
        <p:nvSpPr>
          <p:cNvPr id="7" name="side-text"/>
          <p:cNvSpPr txBox="1"/>
          <p:nvPr/>
        </p:nvSpPr>
        <p:spPr>
          <a:xfrm>
            <a:off x="8432800" y="1752600"/>
            <a:ext cx="29464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快捷键以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ctrl+x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为 leader key，可在 tui.json 的 keybinds 中改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/undo 与 /redo 依赖内部 Git 快照，项目必须是 Git 仓库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上下文快满时先 /compact，比开新会话更能保留背景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输入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可模糊引用文件，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!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开头可直接跑 shell</a:t>
            </a:r>
            <a:endParaRPr lang="en-US" sz="1100" noProof="1"/>
          </a:p>
        </p:txBody>
      </p:sp>
      <p:sp>
        <p:nvSpPr>
          <p:cNvPr id="8" name="custom-bar"/>
          <p:cNvSpPr/>
          <p:nvPr/>
        </p:nvSpPr>
        <p:spPr>
          <a:xfrm>
            <a:off x="8432800" y="4978400"/>
            <a:ext cx="38100" cy="965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9" name="custom-text"/>
          <p:cNvSpPr txBox="1"/>
          <p:nvPr/>
        </p:nvSpPr>
        <p:spPr>
          <a:xfrm>
            <a:off x="8636000" y="4978400"/>
            <a:ext cx="2743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自定义命令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.opencode/commands/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放 md 文件，文件名即命令名；同名会覆盖内置命令。</a:t>
            </a:r>
            <a:endParaRPr lang="en-US" sz="1050" noProof="1"/>
          </a:p>
        </p:txBody>
      </p:sp>
      <p:sp>
        <p:nvSpPr>
          <p:cNvPr id="10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Commands 文档</a:t>
            </a:r>
            <a:endParaRPr lang="en-US" sz="95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09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03 · 命令与规则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/init 生成 AGENTS.md：项目的长期记忆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init-label"/>
          <p:cNvSpPr txBox="1"/>
          <p:nvPr/>
        </p:nvSpPr>
        <p:spPr>
          <a:xfrm>
            <a:off x="812800" y="1422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/INIT 会做什么</a:t>
            </a:r>
            <a:endParaRPr lang="en-US" sz="1100" noProof="1"/>
          </a:p>
        </p:txBody>
      </p:sp>
      <p:sp>
        <p:nvSpPr>
          <p:cNvPr id="6" name="init-list"/>
          <p:cNvSpPr txBox="1"/>
          <p:nvPr/>
        </p:nvSpPr>
        <p:spPr>
          <a:xfrm>
            <a:off x="812800" y="1752600"/>
            <a:ext cx="5588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扫描仓库关键文件，代码库回答不了时会问你几个针对性问题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生成内容聚焦：构建 / lint / 测试命令及顺序、文件名看不出来的架构、项目约定与坑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已有 AGENTS.md 时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原地改进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，不会盲目覆盖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会引用已有的 Cursor / Copilot 规则，避免重复维护</a:t>
            </a:r>
            <a:endParaRPr lang="en-US" sz="1200" noProof="1"/>
          </a:p>
        </p:txBody>
      </p:sp>
      <p:sp>
        <p:nvSpPr>
          <p:cNvPr id="7" name="init-why"/>
          <p:cNvSpPr txBox="1"/>
          <p:nvPr/>
        </p:nvSpPr>
        <p:spPr>
          <a:xfrm>
            <a:off x="812800" y="4191000"/>
            <a:ext cx="558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AGENTS.md 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每个会话自动注入上下文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，提交进 Git 后与全团队共享——这是它区别于个人备忘的关键。</a:t>
            </a:r>
            <a:endParaRPr lang="en-US" sz="1200" noProof="1"/>
          </a:p>
        </p:txBody>
      </p:sp>
      <p:sp>
        <p:nvSpPr>
          <p:cNvPr id="8" name="spine"/>
          <p:cNvSpPr/>
          <p:nvPr/>
        </p:nvSpPr>
        <p:spPr>
          <a:xfrm>
            <a:off x="6807200" y="1473200"/>
            <a:ext cx="12700" cy="4318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9" name="order-label"/>
          <p:cNvSpPr txBox="1"/>
          <p:nvPr/>
        </p:nvSpPr>
        <p:spPr>
          <a:xfrm>
            <a:off x="7213600" y="1422400"/>
            <a:ext cx="416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启动时的查找顺序</a:t>
            </a:r>
            <a:endParaRPr lang="en-US" sz="1100" noProof="1"/>
          </a:p>
        </p:txBody>
      </p:sp>
      <p:sp>
        <p:nvSpPr>
          <p:cNvPr id="10" name="order-list"/>
          <p:cNvSpPr txBox="1"/>
          <p:nvPr/>
        </p:nvSpPr>
        <p:spPr>
          <a:xfrm>
            <a:off x="7213600" y="1752600"/>
            <a:ext cx="41656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从当前目录向上找 AGENTS.md / CLAUDE.md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全局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~/.config/opencode/AGENTS.md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Claude 兼容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~/.claude/CLAUDE.md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6E695F"/>
                </a:solidFill>
                <a:latin typeface="MiSans"/>
                <a:ea typeface="MiSans"/>
              </a:rPr>
              <a:t>每类第一个命中生效；AGENTS.md 优先于 CLAUDE.md</a:t>
            </a:r>
            <a:endParaRPr lang="en-US" sz="1150" noProof="1"/>
          </a:p>
        </p:txBody>
      </p:sp>
      <p:sp>
        <p:nvSpPr>
          <p:cNvPr id="11" name="instr-bar"/>
          <p:cNvSpPr/>
          <p:nvPr/>
        </p:nvSpPr>
        <p:spPr>
          <a:xfrm>
            <a:off x="7213600" y="3886200"/>
            <a:ext cx="38100" cy="965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2" name="instr-text"/>
          <p:cNvSpPr txBox="1"/>
          <p:nvPr/>
        </p:nvSpPr>
        <p:spPr>
          <a:xfrm>
            <a:off x="7416800" y="3886200"/>
            <a:ext cx="3962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instructions 槽位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opencode.json 里可追加任意规则文件（路径 / glob / 远程 URL），与 AGENTS.md 合并注入，适合复用团队既有规范。</a:t>
            </a:r>
            <a:endParaRPr lang="en-US" sz="1050" noProof="1"/>
          </a:p>
        </p:txBody>
      </p:sp>
      <p:sp>
        <p:nvSpPr>
          <p:cNvPr id="13" name="practice"/>
          <p:cNvSpPr txBox="1"/>
          <p:nvPr/>
        </p:nvSpPr>
        <p:spPr>
          <a:xfrm>
            <a:off x="7213600" y="5029200"/>
            <a:ext cx="4165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695F"/>
                </a:solidFill>
                <a:latin typeface="MiSans"/>
                <a:ea typeface="MiSans"/>
              </a:rPr>
              <a:t>课堂检查：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运行 /init 后开 /new 新会话，直接问 Agent "这个项目的测试命令是什么"——答得出来，说明 AGENTS.md 生效了。</a:t>
            </a:r>
            <a:endParaRPr lang="en-US" sz="105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opencode.ai/docs/rules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10</a:t>
            </a:r>
            <a:endParaRPr lang="en-U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Primary 与你对话，Subagent 替你做专项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you-box"/>
          <p:cNvSpPr/>
          <p:nvPr/>
        </p:nvSpPr>
        <p:spPr>
          <a:xfrm>
            <a:off x="812800" y="1625600"/>
            <a:ext cx="1143000" cy="711200"/>
          </a:xfrm>
          <a:prstGeom prst="rect">
            <a:avLst/>
          </a:prstGeom>
          <a:noFill/>
          <a:ln w="19050">
            <a:solidFill>
              <a:srgbClr val="211E1A"/>
            </a:solidFill>
          </a:ln>
        </p:spPr>
      </p:sp>
      <p:sp>
        <p:nvSpPr>
          <p:cNvPr id="6" name="you-text"/>
          <p:cNvSpPr txBox="1"/>
          <p:nvPr/>
        </p:nvSpPr>
        <p:spPr>
          <a:xfrm>
            <a:off x="812800" y="1625600"/>
            <a:ext cx="114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你</a:t>
            </a:r>
            <a:endParaRPr lang="en-US" sz="13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eyJ2aWV3Qm94IjpbNDYsOF0sInBvaW50cyI6IjAsNCA0Niw0In0</pptd:line>
              </p:ext>
            </p:extLst>
          </p:nvPr>
        </p:nvSpPr>
        <p:spPr>
          <a:xfrm>
            <a:off x="2032000" y="1930400"/>
            <a:ext cx="584200" cy="101600"/>
          </a:xfrm>
          <a:custGeom>
            <a:avLst/>
            <a:gdLst/>
            <a:ahLst/>
            <a:cxnLst/>
            <a:rect l="l" t="t" r="r" b="b"/>
            <a:pathLst>
              <a:path w="46" h="8">
                <a:moveTo>
                  <a:pt x="0" y="4"/>
                </a:moveTo>
                <a:lnTo>
                  <a:pt x="46" y="4"/>
                </a:lnTo>
              </a:path>
            </a:pathLst>
          </a:custGeom>
          <a:noFill/>
          <a:ln w="19050" cap="rnd">
            <a:solidFill>
              <a:srgbClr val="6E695F"/>
            </a:solidFill>
            <a:round/>
            <a:tailEnd type="arrow"/>
          </a:ln>
        </p:spPr>
      </p:sp>
      <p:sp>
        <p:nvSpPr>
          <p:cNvPr id="8" name="primary-box"/>
          <p:cNvSpPr/>
          <p:nvPr/>
        </p:nvSpPr>
        <p:spPr>
          <a:xfrm>
            <a:off x="2692400" y="1473200"/>
            <a:ext cx="3048000" cy="1016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</a:ln>
        </p:spPr>
      </p:sp>
      <p:sp>
        <p:nvSpPr>
          <p:cNvPr id="9" name="primary-text"/>
          <p:cNvSpPr txBox="1"/>
          <p:nvPr/>
        </p:nvSpPr>
        <p:spPr>
          <a:xfrm>
            <a:off x="2870200" y="1574800"/>
            <a:ext cx="269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PRIMARY（Tab 切换）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build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全工具 · 默认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plan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edit / bash 默认 ask</a:t>
            </a:r>
            <a:endParaRPr lang="en-US" sz="1100" noProof="1"/>
          </a:p>
        </p:txBody>
      </p:sp>
      <p:sp>
        <p:nvSpPr>
          <p:cNvPr id="10" name="arr2"/>
          <p:cNvSpPr/>
          <p:nvPr>
            <p:extLst>
              <p:ext uri="{F5677B7D-0D2A-4D9B-9A5C-6D8D7D0E5A5D}">
                <pptd:line encoding="base64url">eyJ2aWV3Qm94IjpbNTIsOF0sInBvaW50cyI6IjAsNCA1Miw0In0</pptd:line>
              </p:ext>
            </p:extLst>
          </p:nvPr>
        </p:nvSpPr>
        <p:spPr>
          <a:xfrm>
            <a:off x="5816600" y="1930400"/>
            <a:ext cx="660400" cy="101600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 cap="rnd">
            <a:solidFill>
              <a:srgbClr val="6E695F"/>
            </a:solidFill>
            <a:round/>
            <a:tailEnd type="arrow"/>
          </a:ln>
        </p:spPr>
      </p:sp>
      <p:sp>
        <p:nvSpPr>
          <p:cNvPr id="11" name="arr2-label"/>
          <p:cNvSpPr txBox="1"/>
          <p:nvPr/>
        </p:nvSpPr>
        <p:spPr>
          <a:xfrm>
            <a:off x="5740400" y="16510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Task 工具</a:t>
            </a:r>
            <a:endParaRPr lang="en-US" sz="950" noProof="1"/>
          </a:p>
        </p:txBody>
      </p:sp>
      <p:sp>
        <p:nvSpPr>
          <p:cNvPr id="12" name="sub-box"/>
          <p:cNvSpPr/>
          <p:nvPr/>
        </p:nvSpPr>
        <p:spPr>
          <a:xfrm>
            <a:off x="6553200" y="1473200"/>
            <a:ext cx="3048000" cy="1016000"/>
          </a:xfrm>
          <a:prstGeom prst="rect">
            <a:avLst/>
          </a:prstGeom>
          <a:noFill/>
          <a:ln w="19050">
            <a:solidFill>
              <a:srgbClr val="0E6B52"/>
            </a:solidFill>
          </a:ln>
        </p:spPr>
      </p:sp>
      <p:sp>
        <p:nvSpPr>
          <p:cNvPr id="13" name="sub-text"/>
          <p:cNvSpPr txBox="1"/>
          <p:nvPr/>
        </p:nvSpPr>
        <p:spPr>
          <a:xfrm>
            <a:off x="6731000" y="1574800"/>
            <a:ext cx="269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SUBAGENT（按需调用）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general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多步任务 · 全工具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explore / scout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只读探索</a:t>
            </a:r>
            <a:endParaRPr lang="en-US" sz="1100" noProof="1"/>
          </a:p>
        </p:txBody>
      </p:sp>
      <p:sp>
        <p:nvSpPr>
          <p:cNvPr id="14" name="mention"/>
          <p:cNvSpPr txBox="1"/>
          <p:nvPr/>
        </p:nvSpPr>
        <p:spPr>
          <a:xfrm>
            <a:off x="9779000" y="1473200"/>
            <a:ext cx="1600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也可手动触发：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@explore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提及子代理</a:t>
            </a:r>
            <a:endParaRPr lang="en-US" sz="1050" noProof="1"/>
          </a:p>
        </p:txBody>
      </p:sp>
      <p:graphicFrame>
        <p:nvGraphicFramePr>
          <p:cNvPr id="15" name="agent-table"/>
          <p:cNvGraphicFramePr>
            <a:graphicFrameLocks noGrp="1"/>
          </p:cNvGraphicFramePr>
          <p:nvPr/>
        </p:nvGraphicFramePr>
        <p:xfrm>
          <a:off x="812800" y="2844800"/>
          <a:ext cx="10566400" cy="2489200"/>
        </p:xfrm>
        <a:graphic>
          <a:graphicData uri="http://schemas.openxmlformats.org/drawingml/2006/table">
            <a:tbl>
              <a:tblPr/>
              <a:tblGrid>
                <a:gridCol w="1479296"/>
                <a:gridCol w="1479296"/>
                <a:gridCol w="3592576"/>
                <a:gridCol w="4015232"/>
              </a:tblGrid>
              <a:tr h="3484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mode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权限特征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什么时候用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build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primary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全工具开放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日常开发默认代理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primary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edit / bash 默认 ask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先要方案、评审改动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general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全工具（除 todo）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并行跑多个独立任务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explore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只读，不能改文件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快速找文件、搜代码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scout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只读，研究外部依赖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查库源码、比对 upstream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notes"/>
          <p:cNvSpPr txBox="1"/>
          <p:nvPr/>
        </p:nvSpPr>
        <p:spPr>
          <a:xfrm>
            <a:off x="812800" y="55372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触发方式：主代理按子代理的 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description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自动判断调用（description 写准很关键），或你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@名字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手动提及　· 嵌套深度由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subagent_depth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控制，默认 1　· 子代理开子会话，用 Leader+→ / ← 在父子会话间导航　· 隐藏系统代理（compaction / title / summary）自动运行，UI 不可选</a:t>
            </a:r>
            <a:endParaRPr lang="en-US" sz="1100" noProof="1"/>
          </a:p>
        </p:txBody>
      </p:sp>
      <p:sp>
        <p:nvSpPr>
          <p:cNvPr id="17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opencode.ai/docs/agents</a:t>
            </a:r>
            <a:endParaRPr lang="en-US" sz="950" noProof="1"/>
          </a:p>
        </p:txBody>
      </p:sp>
      <p:sp>
        <p:nvSpPr>
          <p:cNvPr id="18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11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写一个 md 文件，就定义了一个新 Agent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ode-label"/>
          <p:cNvSpPr txBox="1"/>
          <p:nvPr/>
        </p:nvSpPr>
        <p:spPr>
          <a:xfrm>
            <a:off x="812800" y="1422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695F"/>
                </a:solidFill>
                <a:latin typeface="JetBrains Mono"/>
                <a:ea typeface="JetBrains Mono"/>
              </a:rPr>
              <a:t>.opencode/agents/reviewer.md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（项目级；全局放 ~/.config/opencode/agents/）</a:t>
            </a:r>
            <a:endParaRPr lang="en-US" sz="1050" noProof="1"/>
          </a:p>
        </p:txBody>
      </p:sp>
      <p:sp>
        <p:nvSpPr>
          <p:cNvPr id="6" name="code-panel"/>
          <p:cNvSpPr/>
          <p:nvPr/>
        </p:nvSpPr>
        <p:spPr>
          <a:xfrm>
            <a:off x="812800" y="1727200"/>
            <a:ext cx="5334000" cy="34036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7" name="code"/>
          <p:cNvSpPr txBox="1"/>
          <p:nvPr/>
        </p:nvSpPr>
        <p:spPr>
          <a:xfrm>
            <a:off x="1041400" y="1879600"/>
            <a:ext cx="4902200" cy="312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---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description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Reviews code, use after changes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mode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subagent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model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anthropic/claude-sonnet-4-5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temperature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0.1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permission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edit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deny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bash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ask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diff"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allow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log*"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allow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---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You are in code review mode.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Report issues only, never modify files.</a:t>
            </a:r>
            <a:endParaRPr lang="en-US" sz="1000" noProof="1"/>
          </a:p>
        </p:txBody>
      </p:sp>
      <p:sp>
        <p:nvSpPr>
          <p:cNvPr id="8" name="right-label"/>
          <p:cNvSpPr txBox="1"/>
          <p:nvPr/>
        </p:nvSpPr>
        <p:spPr>
          <a:xfrm>
            <a:off x="6553200" y="142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编写要点</a:t>
            </a:r>
            <a:endParaRPr lang="en-US" sz="1100" noProof="1"/>
          </a:p>
        </p:txBody>
      </p:sp>
      <p:sp>
        <p:nvSpPr>
          <p:cNvPr id="9" name="right-list"/>
          <p:cNvSpPr txBox="1"/>
          <p:nvPr/>
        </p:nvSpPr>
        <p:spPr>
          <a:xfrm>
            <a:off x="6553200" y="1752600"/>
            <a:ext cx="4826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文件名即代理名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：reviewer.md → @reviewer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frontmatter 支持 description（必填）/ mode / model / temperature / steps / tools / permission / hidden / color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mode 取值 primary / subagent / all，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默认 all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正文就是该代理的系统提示词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也可用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agent create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交互式生成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验证：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agent list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里能看到它</a:t>
            </a:r>
            <a:endParaRPr lang="en-US" sz="1150" noProof="1"/>
          </a:p>
        </p:txBody>
      </p:sp>
      <p:sp>
        <p:nvSpPr>
          <p:cNvPr id="10" name="tip-bar"/>
          <p:cNvSpPr/>
          <p:nvPr/>
        </p:nvSpPr>
        <p:spPr>
          <a:xfrm>
            <a:off x="6553200" y="5029200"/>
            <a:ext cx="38100" cy="8636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1" name="tip-text"/>
          <p:cNvSpPr txBox="1"/>
          <p:nvPr/>
        </p:nvSpPr>
        <p:spPr>
          <a:xfrm>
            <a:off x="6756400" y="5029200"/>
            <a:ext cx="46228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自动触发的关键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主代理靠 description 判断何时调用子代理。写清"use after changes / use when …"这类触发场景，命中率明显更高。</a:t>
            </a:r>
            <a:endParaRPr lang="en-US" sz="105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opencode.ai/docs/agents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 文档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12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不要假设权限会继承：子代理有自己的一套规则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b1-label"/>
          <p:cNvSpPr txBox="1"/>
          <p:nvPr/>
        </p:nvSpPr>
        <p:spPr>
          <a:xfrm>
            <a:off x="812800" y="1422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① 设计行为：独立权限，不继承父代理，也不继承会话里的 always</a:t>
            </a:r>
            <a:endParaRPr lang="en-US" sz="1200" noProof="1"/>
          </a:p>
        </p:txBody>
      </p:sp>
      <p:sp>
        <p:nvSpPr>
          <p:cNvPr id="6" name="b1-text"/>
          <p:cNvSpPr txBox="1"/>
          <p:nvPr/>
        </p:nvSpPr>
        <p:spPr>
          <a:xfrm>
            <a:off x="812800" y="17018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子代理使用自己配置的权限（与全局合并、自身规则优先）。常见现象：父会话里点过 always 批准的操作，进了子会话又弹一遍审批——这不是 bug，是设计。</a:t>
            </a:r>
            <a:endParaRPr lang="en-US" sz="1150" noProof="1"/>
          </a:p>
        </p:txBody>
      </p:sp>
      <p:sp>
        <p:nvSpPr>
          <p:cNvPr id="7" name="b2-label"/>
          <p:cNvSpPr txBox="1"/>
          <p:nvPr/>
        </p:nvSpPr>
        <p:spPr>
          <a:xfrm>
            <a:off x="812800" y="24892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② v1.14.46 起：父代理的 deny 规则会作为"上限"继承给子代理</a:t>
            </a:r>
            <a:endParaRPr lang="en-US" sz="1200" noProof="1"/>
          </a:p>
        </p:txBody>
      </p:sp>
      <p:sp>
        <p:nvSpPr>
          <p:cNvPr id="8" name="b2-text"/>
          <p:cNvSpPr txBox="1"/>
          <p:nvPr/>
        </p:nvSpPr>
        <p:spPr>
          <a:xfrm>
            <a:off x="812800" y="27686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目的是修复"plan 模式的只读限制被子代理绕过"的安全漏洞。所以准确的说法是：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allow / ask 不继承，deny 会继承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</p:txBody>
      </p:sp>
      <p:sp>
        <p:nvSpPr>
          <p:cNvPr id="9" name="b3-label"/>
          <p:cNvSpPr txBox="1"/>
          <p:nvPr/>
        </p:nvSpPr>
        <p:spPr>
          <a:xfrm>
            <a:off x="812800" y="3556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③ 已知回归：继承的 deny 可能盖掉子代理自己的 allow</a:t>
            </a:r>
            <a:endParaRPr lang="en-US" sz="1200" noProof="1"/>
          </a:p>
        </p:txBody>
      </p:sp>
      <p:sp>
        <p:nvSpPr>
          <p:cNvPr id="10" name="b3-text"/>
          <p:cNvSpPr txBox="1"/>
          <p:nvPr/>
        </p:nvSpPr>
        <p:spPr>
          <a:xfrm>
            <a:off x="812800" y="38354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继承规则拼在列表后面，因"最后匹配生效"会覆盖子代理显式配置的 allow，"controller 委派 executor"类工作流会直接瘫痪（issue #26700 / #26747）；嵌套子代理可能丢失继承限制（#30610）；external_directory 的 allow 可能在子会话丢失（#30527）。</a:t>
            </a:r>
            <a:endParaRPr lang="en-US" sz="1150" noProof="1"/>
          </a:p>
        </p:txBody>
      </p:sp>
      <p:sp>
        <p:nvSpPr>
          <p:cNvPr id="11" name="advice-label"/>
          <p:cNvSpPr txBox="1"/>
          <p:nvPr/>
        </p:nvSpPr>
        <p:spPr>
          <a:xfrm>
            <a:off x="812800" y="4978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实践建议（照做即可避开绝大多数坑）</a:t>
            </a:r>
            <a:endParaRPr lang="en-US" sz="1100" noProof="1"/>
          </a:p>
        </p:txBody>
      </p:sp>
      <p:sp>
        <p:nvSpPr>
          <p:cNvPr id="12" name="advice-text"/>
          <p:cNvSpPr txBox="1"/>
          <p:nvPr/>
        </p:nvSpPr>
        <p:spPr>
          <a:xfrm>
            <a:off x="812800" y="5257800"/>
            <a:ext cx="10566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子代理需要什么权限，就在它自己的配置里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显式写全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，不依赖任何继承行为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用 deny-by-default 风格时，重点验证"主代理 → 子代理"的委派链路是否真的跑得通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行为异常时先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看合并结果，再考虑升降级验证是否为版本回归</a:t>
            </a:r>
            <a:endParaRPr lang="en-US" sz="11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Agents 文档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anomalyco/opencode issue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#26700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#26747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#30527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6"/>
              </a:rPr>
              <a:t>#30610</a:t>
            </a:r>
            <a:endParaRPr lang="en-US" sz="950" noProof="1"/>
          </a:p>
        </p:txBody>
      </p:sp>
      <p:sp>
        <p:nvSpPr>
          <p:cNvPr id="1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13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05 · 概念辨析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四种 Markdown，四种角色：别再放错位置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md-table"/>
          <p:cNvGraphicFramePr>
            <a:graphicFrameLocks noGrp="1"/>
          </p:cNvGraphicFramePr>
          <p:nvPr/>
        </p:nvGraphicFramePr>
        <p:xfrm>
          <a:off x="812800" y="1422400"/>
          <a:ext cx="10566400" cy="3048000"/>
        </p:xfrm>
        <a:graphic>
          <a:graphicData uri="http://schemas.openxmlformats.org/drawingml/2006/table">
            <a:tbl>
              <a:tblPr/>
              <a:tblGrid>
                <a:gridCol w="1690624"/>
                <a:gridCol w="3169920"/>
                <a:gridCol w="2747264"/>
                <a:gridCol w="2958592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加载方式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项目根；~/.config/opencode/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每会话自动注入全文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这个项目是什么样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定义 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.opencode/agents/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注册为可选 / 可调的代理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以什么身份、权限干活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command 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.opencode/commands/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输入 /名字 时作模板发送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可复用的任务是什么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SKILL.md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.opencode/skills/＜名字＞/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按需加载（skill 工具）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某场景的 SOP 是什么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kill-label"/>
          <p:cNvSpPr txBox="1"/>
          <p:nvPr/>
        </p:nvSpPr>
        <p:spPr>
          <a:xfrm>
            <a:off x="812800" y="4775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SKILL.MD 的额外规矩</a:t>
            </a:r>
            <a:endParaRPr lang="en-US" sz="1100" noProof="1"/>
          </a:p>
        </p:txBody>
      </p:sp>
      <p:sp>
        <p:nvSpPr>
          <p:cNvPr id="7" name="skill-text"/>
          <p:cNvSpPr txBox="1"/>
          <p:nvPr/>
        </p:nvSpPr>
        <p:spPr>
          <a:xfrm>
            <a:off x="812800" y="5080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frontmatter 只认 name / description / license / compatibility / metadata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name 必须与目录同名、小写连字符格式；description 决定模型何时选用它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按需加载省 token：agent 先看到 name + description，需要时才载入全文</a:t>
            </a:r>
            <a:endParaRPr lang="en-US" sz="1100" noProof="1"/>
          </a:p>
        </p:txBody>
      </p:sp>
      <p:sp>
        <p:nvSpPr>
          <p:cNvPr id="8" name="check-bar"/>
          <p:cNvSpPr/>
          <p:nvPr/>
        </p:nvSpPr>
        <p:spPr>
          <a:xfrm>
            <a:off x="7061200" y="4775200"/>
            <a:ext cx="38100" cy="13208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9" name="check-text"/>
          <p:cNvSpPr txBox="1"/>
          <p:nvPr/>
        </p:nvSpPr>
        <p:spPr>
          <a:xfrm>
            <a:off x="7264400" y="4775200"/>
            <a:ext cx="4114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课堂检查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"发版必须走 changelog 流程"该写在哪？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→ 每会话都要遵守：AGENTS.md；只在发版时用：SKILL.md。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"只读评审"的身份与权限 → agent 定义 md。</a:t>
            </a:r>
            <a:endParaRPr lang="en-US" sz="1050" noProof="1"/>
          </a:p>
        </p:txBody>
      </p:sp>
      <p:sp>
        <p:nvSpPr>
          <p:cNvPr id="10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Rules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Agents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Commands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Skills</a:t>
            </a:r>
            <a:endParaRPr lang="en-US" sz="95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14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06 · 排错与进阶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TUI、CLI、Web：同一个 Server，三种打开方式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1-head"/>
          <p:cNvSpPr txBox="1"/>
          <p:nvPr/>
        </p:nvSpPr>
        <p:spPr>
          <a:xfrm>
            <a:off x="812800" y="1422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TUI（opencode）</a:t>
            </a:r>
            <a:endParaRPr lang="en-US" sz="1300" noProof="1"/>
          </a:p>
        </p:txBody>
      </p:sp>
      <p:sp>
        <p:nvSpPr>
          <p:cNvPr id="6" name="c1-body"/>
          <p:cNvSpPr txBox="1"/>
          <p:nvPr/>
        </p:nvSpPr>
        <p:spPr>
          <a:xfrm>
            <a:off x="812800" y="17780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本地日常开发，功能最全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默认捕获鼠标，iTerm2 / Windows Terminal / VS Code 终端里选中复制失效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Shift + 拖选用终端原生选择；或 tui.json 设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"mouse": false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OPENCODE_DISABLE_MOUSE=1</a:t>
            </a:r>
            <a:endParaRPr lang="en-US" sz="1100" noProof="1"/>
          </a:p>
        </p:txBody>
      </p:sp>
      <p:sp>
        <p:nvSpPr>
          <p:cNvPr id="7" name="sep1"/>
          <p:cNvSpPr/>
          <p:nvPr/>
        </p:nvSpPr>
        <p:spPr>
          <a:xfrm>
            <a:off x="4445000" y="1473200"/>
            <a:ext cx="12700" cy="3810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8" name="c2-head"/>
          <p:cNvSpPr txBox="1"/>
          <p:nvPr/>
        </p:nvSpPr>
        <p:spPr>
          <a:xfrm>
            <a:off x="4775200" y="1422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CLI（run / serve）</a:t>
            </a:r>
            <a:endParaRPr lang="en-US" sz="1300" noProof="1"/>
          </a:p>
        </p:txBody>
      </p:sp>
      <p:sp>
        <p:nvSpPr>
          <p:cNvPr id="9" name="c2-body"/>
          <p:cNvSpPr txBox="1"/>
          <p:nvPr/>
        </p:nvSpPr>
        <p:spPr>
          <a:xfrm>
            <a:off x="4775200" y="17780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脚本、CI、程序化集成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要点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run --format json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输出事件流；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serve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暴露 OpenAPI，IDE 插件即基于此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无交互审批界面，容易卡在权限请求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预先配好 permission，或用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--auto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（deny 仍生效）</a:t>
            </a:r>
            <a:endParaRPr lang="en-US" sz="1100" noProof="1"/>
          </a:p>
        </p:txBody>
      </p:sp>
      <p:sp>
        <p:nvSpPr>
          <p:cNvPr id="10" name="sep2"/>
          <p:cNvSpPr/>
          <p:nvPr/>
        </p:nvSpPr>
        <p:spPr>
          <a:xfrm>
            <a:off x="8407400" y="1473200"/>
            <a:ext cx="12700" cy="3810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11" name="c3-head"/>
          <p:cNvSpPr txBox="1"/>
          <p:nvPr/>
        </p:nvSpPr>
        <p:spPr>
          <a:xfrm>
            <a:off x="8737600" y="1422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Web（opencode web）</a:t>
            </a:r>
            <a:endParaRPr lang="en-US" sz="1300" noProof="1"/>
          </a:p>
        </p:txBody>
      </p:sp>
      <p:sp>
        <p:nvSpPr>
          <p:cNvPr id="12" name="c3-body"/>
          <p:cNvSpPr txBox="1"/>
          <p:nvPr/>
        </p:nvSpPr>
        <p:spPr>
          <a:xfrm>
            <a:off x="8737600" y="1778000"/>
            <a:ext cx="26416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远程服务器、手机访问、多设备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前端资源从 CDN 运行时拉取，版本不一致会白屏 / RangeError（issue #10226）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升级或回退版本；渲染异常先怀疑前端 bundle，不是你的配置</a:t>
            </a:r>
            <a:endParaRPr lang="en-US" sz="1100" noProof="1"/>
          </a:p>
        </p:txBody>
      </p:sp>
      <p:sp>
        <p:nvSpPr>
          <p:cNvPr id="13" name="warn-bar"/>
          <p:cNvSpPr/>
          <p:nvPr/>
        </p:nvSpPr>
        <p:spPr>
          <a:xfrm>
            <a:off x="812800" y="5537200"/>
            <a:ext cx="38100" cy="6604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1016000" y="55372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B45309"/>
                </a:solidFill>
                <a:latin typeface="MiSans"/>
                <a:ea typeface="MiSans"/>
              </a:rPr>
              <a:t>安全红线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web / serve 绑定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0.0.0.0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时必须设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OPENCODE_SERVER_PASSWORD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——不设密码等于把能执行 shell 的 Agent 暴露给整个网络。</a:t>
            </a:r>
            <a:endParaRPr lang="en-US" sz="115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Web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Server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issue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6"/>
              </a:rPr>
              <a:t>#10226</a:t>
            </a:r>
            <a:endParaRPr lang="en-US" sz="950" noProof="1"/>
          </a:p>
        </p:txBody>
      </p:sp>
      <p:sp>
        <p:nvSpPr>
          <p:cNvPr id="16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15</a:t>
            </a:r>
            <a:endParaRPr lang="en-US" sz="9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06 · 排错与进阶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遇到问题先查这几处：六个高频坑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ts-table"/>
          <p:cNvGraphicFramePr>
            <a:graphicFrameLocks noGrp="1"/>
          </p:cNvGraphicFramePr>
          <p:nvPr/>
        </p:nvGraphicFramePr>
        <p:xfrm>
          <a:off x="812800" y="1422400"/>
          <a:ext cx="10566400" cy="4191000"/>
        </p:xfrm>
        <a:graphic>
          <a:graphicData uri="http://schemas.openxmlformats.org/drawingml/2006/table">
            <a:tbl>
              <a:tblPr/>
              <a:tblGrid>
                <a:gridCol w="2852928"/>
                <a:gridCol w="3486912"/>
                <a:gridCol w="4226560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症状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可能原因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修复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配置改了不生效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被更高优先级层覆盖 / 环境变量注入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opencode debug config 看合并结果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子代理反复弹审批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不继承父会话的 always 批准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在该 agent 配置里显式写 permission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TUI 无法选中复制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鼠标被 TUI 捕获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Shift 拖选；或 mouse: false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Web 白屏 / RangeError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CDN 前端与本地版本不一致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升级或回退 opencode 版本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读 .env 被拒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read 默认 deny *.env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确有需要时 permission.read 显式放行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模型列表没有新模型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models.dev 缓存过期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opencode models --refresh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doom-note"/>
          <p:cNvSpPr txBox="1"/>
          <p:nvPr/>
        </p:nvSpPr>
        <p:spPr>
          <a:xfrm>
            <a:off x="812800" y="57912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另一条安全闸：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同一个工具调用以相同输入重复 3 次会触发 doom_loop（默认 ask）。频繁触发通常说明提示词让模型陷入了死循环，检查指令是否互相矛盾。</a:t>
            </a:r>
            <a:endParaRPr lang="en-US" sz="1100" noProof="1"/>
          </a:p>
        </p:txBody>
      </p:sp>
      <p:sp>
        <p:nvSpPr>
          <p:cNvPr id="7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Permissions 文档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anomalyco/opencode issues</a:t>
            </a:r>
            <a:endParaRPr lang="en-US" sz="95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16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PRACTICE · 实战练习（练习场景）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动手练习：30 分钟完成一次完整闭环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cenario"/>
          <p:cNvSpPr txBox="1"/>
          <p:nvPr/>
        </p:nvSpPr>
        <p:spPr>
          <a:xfrm>
            <a:off x="812800" y="13716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输入：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任意一个你自己的小型 Git 项目（没有就 git init 一个 demo）。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目标：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把本课六个章节各做一次最小实践。以下为练习场景，动作与完成标准均已给出。</a:t>
            </a:r>
            <a:endParaRPr lang="en-US" sz="1100" noProof="1"/>
          </a:p>
        </p:txBody>
      </p:sp>
      <p:sp>
        <p:nvSpPr>
          <p:cNvPr id="6" name="task1"/>
          <p:cNvSpPr txBox="1"/>
          <p:nvPr/>
        </p:nvSpPr>
        <p:spPr>
          <a:xfrm>
            <a:off x="812800" y="19812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安装并登录，两条验证命令有预期输出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标准：--version 与 auth list 均正常</a:t>
            </a:r>
            <a:endParaRPr lang="en-US" sz="1150" noProof="1"/>
          </a:p>
        </p:txBody>
      </p:sp>
      <p:sp>
        <p:nvSpPr>
          <p:cNvPr id="7" name="task2"/>
          <p:cNvSpPr txBox="1"/>
          <p:nvPr/>
        </p:nvSpPr>
        <p:spPr>
          <a:xfrm>
            <a:off x="6248400" y="19812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运行 /init，生成 AGENTS.md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标准：新会话能说出项目的测试命令</a:t>
            </a:r>
            <a:endParaRPr lang="en-US" sz="1150" noProof="1"/>
          </a:p>
        </p:txBody>
      </p:sp>
      <p:sp>
        <p:nvSpPr>
          <p:cNvPr id="8" name="task3"/>
          <p:cNvSpPr txBox="1"/>
          <p:nvPr/>
        </p:nvSpPr>
        <p:spPr>
          <a:xfrm>
            <a:off x="812800" y="28956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plan 出方案 → build 执行 → /undo 回滚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标准：亲历一次审批弹窗与一次完整回滚</a:t>
            </a:r>
            <a:endParaRPr lang="en-US" sz="1150" noProof="1"/>
          </a:p>
        </p:txBody>
      </p:sp>
      <p:sp>
        <p:nvSpPr>
          <p:cNvPr id="9" name="task4"/>
          <p:cNvSpPr txBox="1"/>
          <p:nvPr/>
        </p:nvSpPr>
        <p:spPr>
          <a:xfrm>
            <a:off x="6248400" y="28956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4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写全局 opencode.json（模型 + 权限基线）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标准：debug config 输出与你的预期一致</a:t>
            </a:r>
            <a:endParaRPr lang="en-US" sz="1150" noProof="1"/>
          </a:p>
        </p:txBody>
      </p:sp>
      <p:sp>
        <p:nvSpPr>
          <p:cNvPr id="10" name="task5"/>
          <p:cNvSpPr txBox="1"/>
          <p:nvPr/>
        </p:nvSpPr>
        <p:spPr>
          <a:xfrm>
            <a:off x="812800" y="38100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5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写一个自定义命令 /review 并运行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标准：!`git log` 注入生效，输出评审意见</a:t>
            </a:r>
            <a:endParaRPr lang="en-US" sz="1150" noProof="1"/>
          </a:p>
        </p:txBody>
      </p:sp>
      <p:sp>
        <p:nvSpPr>
          <p:cNvPr id="11" name="task6"/>
          <p:cNvSpPr txBox="1"/>
          <p:nvPr/>
        </p:nvSpPr>
        <p:spPr>
          <a:xfrm>
            <a:off x="6248400" y="38100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6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写一个只读 reviewer 子代理并 @ 调用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标准：agent list 可见；改文件动作被 deny</a:t>
            </a:r>
            <a:endParaRPr lang="en-US" sz="1150" noProof="1"/>
          </a:p>
        </p:txBody>
      </p:sp>
      <p:sp>
        <p:nvSpPr>
          <p:cNvPr id="12" name="bar"/>
          <p:cNvSpPr/>
          <p:nvPr/>
        </p:nvSpPr>
        <p:spPr>
          <a:xfrm>
            <a:off x="812800" y="4876800"/>
            <a:ext cx="38100" cy="9652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" name="criteria"/>
          <p:cNvSpPr txBox="1"/>
          <p:nvPr/>
        </p:nvSpPr>
        <p:spPr>
          <a:xfrm>
            <a:off x="1016000" y="4876800"/>
            <a:ext cx="10363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B45309"/>
                </a:solidFill>
                <a:latin typeface="MiSans"/>
                <a:ea typeface="MiSans"/>
              </a:rPr>
              <a:t>总完成标准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不看讲义，能用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向别人讲清楚：当前生效的模型来自哪一层、权限规则为什么是这个顺序、子代理的权限为什么要在它自己的文件里写。</a:t>
            </a:r>
            <a:endParaRPr lang="en-US" sz="115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练习场景：任务与标准为本课程设计，非官方流程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17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三类真实工作场景，各有一套可复用的打法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map-table"/>
          <p:cNvGraphicFramePr>
            <a:graphicFrameLocks noGrp="1"/>
          </p:cNvGraphicFramePr>
          <p:nvPr/>
        </p:nvGraphicFramePr>
        <p:xfrm>
          <a:off x="812800" y="1473200"/>
          <a:ext cx="10566400" cy="3556000"/>
        </p:xfrm>
        <a:graphic>
          <a:graphicData uri="http://schemas.openxmlformats.org/drawingml/2006/table">
            <a:tbl>
              <a:tblPr/>
              <a:tblGrid>
                <a:gridCol w="1690624"/>
                <a:gridCol w="4437888"/>
                <a:gridCol w="4437888"/>
              </a:tblGrid>
              <a:tr h="4978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典型问题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这一章的打法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7645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生成内容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碎片信息堆给 AI，PPT 出来平庸、重点不突出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指令补齐四要素：受众、素材、结构、风格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7645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编程排错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EDA 脚本报错，日志长、层级深，人工定位慢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复现 → 插桩日志 → 分析定位，三步循环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7645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脚本改造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有一份能跑的 A 脚本，想快速改出 B 脚本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变化点清单 + 先出变更说明 + diff 验收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7645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数据处理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数据多而乱，怕转错、怕漏、怕格式不对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小样试喂 → 人定 format → 脚本转换 + 双向校验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-bar"/>
          <p:cNvSpPr/>
          <p:nvPr/>
        </p:nvSpPr>
        <p:spPr>
          <a:xfrm>
            <a:off x="812800" y="5334000"/>
            <a:ext cx="38100" cy="711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7" name="note-text"/>
          <p:cNvSpPr txBox="1"/>
          <p:nvPr/>
        </p:nvSpPr>
        <p:spPr>
          <a:xfrm>
            <a:off x="1016000" y="5334000"/>
            <a:ext cx="10363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每个场景都配了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可以直接抄的提示词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；场景 1（工号转邮箱）与场景 3（PDF 转 Excel）已在企业内部有对应工具，本章预留截图位，替换为你们的实操截图即可。</a:t>
            </a:r>
            <a:endParaRPr lang="en-US" sz="1100" noProof="1"/>
          </a:p>
        </p:txBody>
      </p:sp>
      <p:sp>
        <p:nvSpPr>
          <p:cNvPr id="8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场景来自培训前问题调研；提示词为示例写法，可按团队习惯调整</a:t>
            </a:r>
            <a:endParaRPr lang="en-US" sz="95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18</a:t>
            </a:r>
            <a:endParaRPr lang="en-US" sz="9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碎片信息出好 PPT：指令里补齐四个判断依据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eft-list"/>
          <p:cNvSpPr txBox="1"/>
          <p:nvPr/>
        </p:nvSpPr>
        <p:spPr>
          <a:xfrm>
            <a:off x="812800" y="1422400"/>
            <a:ext cx="5080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　受众与场合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给谁看、投影还是自行阅读——决定密度与字号。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　素材清单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碎片信息全部贴入，并标注哪些是事实、哪些待补充。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　结构与页数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先要大纲，确认后再成片；说清楚重点放哪页。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4　风格与禁区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给色板或参考模板，并明确"不要什么"。</a:t>
            </a:r>
            <a:endParaRPr lang="en-US" sz="1200" noProof="1"/>
          </a:p>
        </p:txBody>
      </p:sp>
      <p:sp>
        <p:nvSpPr>
          <p:cNvPr id="6" name="prompt-label"/>
          <p:cNvSpPr txBox="1"/>
          <p:nvPr/>
        </p:nvSpPr>
        <p:spPr>
          <a:xfrm>
            <a:off x="6350000" y="14224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提示词示例 · 生成</a:t>
            </a:r>
            <a:endParaRPr lang="en-US" sz="1100" noProof="1"/>
          </a:p>
        </p:txBody>
      </p:sp>
      <p:sp>
        <p:nvSpPr>
          <p:cNvPr id="7" name="prompt-panel"/>
          <p:cNvSpPr/>
          <p:nvPr/>
        </p:nvSpPr>
        <p:spPr>
          <a:xfrm>
            <a:off x="6350000" y="1727200"/>
            <a:ext cx="5029200" cy="19050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8" name="prompt-code"/>
          <p:cNvSpPr txBox="1"/>
          <p:nvPr/>
        </p:nvSpPr>
        <p:spPr>
          <a:xfrm>
            <a:off x="6553200" y="1854200"/>
            <a:ext cx="46482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做一份 8 页 PPT，部门月会投影用。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受众：硬件组；目的：同步项目进度。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素材如下（均为事实）：……（贴入碎片信息）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先给大纲我确认，再出片；重点放第 3 页。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风格：浅色底、不用圆角卡片。</a:t>
            </a:r>
            <a:endParaRPr lang="en-US" sz="950" noProof="1"/>
          </a:p>
        </p:txBody>
      </p:sp>
      <p:sp>
        <p:nvSpPr>
          <p:cNvPr id="9" name="iter-label"/>
          <p:cNvSpPr txBox="1"/>
          <p:nvPr/>
        </p:nvSpPr>
        <p:spPr>
          <a:xfrm>
            <a:off x="6350000" y="38354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优化迭代 · 指出具体问题</a:t>
            </a:r>
            <a:endParaRPr lang="en-US" sz="1100" noProof="1"/>
          </a:p>
        </p:txBody>
      </p:sp>
      <p:sp>
        <p:nvSpPr>
          <p:cNvPr id="10" name="iter-text"/>
          <p:cNvSpPr txBox="1"/>
          <p:nvPr/>
        </p:nvSpPr>
        <p:spPr>
          <a:xfrm>
            <a:off x="6350000" y="4140200"/>
            <a:ext cx="5029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95F"/>
                </a:solidFill>
                <a:latin typeface="MiSans"/>
                <a:ea typeface="MiSans"/>
              </a:rPr>
              <a:t>✗ "再好看一点"——AI 不知道改哪里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✓ "第 3 页结论不明，把良率数字放进标题"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✓ "第 5 页字太密，拆成两页"</a:t>
            </a:r>
            <a:endParaRPr lang="en-US" sz="1150" noProof="1"/>
          </a:p>
        </p:txBody>
      </p:sp>
      <p:sp>
        <p:nvSpPr>
          <p:cNvPr id="11" name="tip-bar"/>
          <p:cNvSpPr/>
          <p:nvPr/>
        </p:nvSpPr>
        <p:spPr>
          <a:xfrm>
            <a:off x="812800" y="5384800"/>
            <a:ext cx="38100" cy="6604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2" name="tip-text"/>
          <p:cNvSpPr txBox="1"/>
          <p:nvPr/>
        </p:nvSpPr>
        <p:spPr>
          <a:xfrm>
            <a:off x="1016000" y="53848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skill 参考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Anthropic 官方 skills 库中的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pptx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skill 是目前最常用的文档类 skill 之一；团队若有固定模板与评审标准，值得沉淀为自己的 SKILL.md（写法见第 14 页）。</a:t>
            </a:r>
            <a:endParaRPr lang="en-US" sz="10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github.com/anthropics/skills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（pptx / xlsx / pdf / docx 文档 skill）</a:t>
            </a:r>
            <a:endParaRPr lang="en-US" sz="950" noProof="1"/>
          </a:p>
        </p:txBody>
      </p:sp>
      <p:sp>
        <p:nvSpPr>
          <p:cNvPr id="1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19</a:t>
            </a:r>
            <a:endParaRPr lang="en-US" sz="9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脚本报错：复现 → 插桩日志 → 分析定位，三步循环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eft-list"/>
          <p:cNvSpPr txBox="1"/>
          <p:nvPr/>
        </p:nvSpPr>
        <p:spPr>
          <a:xfrm>
            <a:off x="812800" y="1422400"/>
            <a:ext cx="5080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　复现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让 AI 给出最小复现命令，确认错误稳定重现。EDA 日志太长时，先让它 grep Error / fatal 段落。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　插桩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让 AI 在问题点前后插入日志：关键变量值、分支进入点、外部工具返回码，然后重新执行。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　分析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把新日志喂回 AI 定位根因；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一次只改一处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，改完重跑验证，不行就回到第 1 步。</a:t>
            </a:r>
            <a:endParaRPr lang="en-US" sz="1200" noProof="1"/>
          </a:p>
        </p:txBody>
      </p:sp>
      <p:sp>
        <p:nvSpPr>
          <p:cNvPr id="6" name="prompt-label"/>
          <p:cNvSpPr txBox="1"/>
          <p:nvPr/>
        </p:nvSpPr>
        <p:spPr>
          <a:xfrm>
            <a:off x="6350000" y="14224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常用提示词</a:t>
            </a:r>
            <a:endParaRPr lang="en-US" sz="1100" noProof="1"/>
          </a:p>
        </p:txBody>
      </p:sp>
      <p:sp>
        <p:nvSpPr>
          <p:cNvPr id="7" name="prompt-panel"/>
          <p:cNvSpPr/>
          <p:nvPr/>
        </p:nvSpPr>
        <p:spPr>
          <a:xfrm>
            <a:off x="6350000" y="1727200"/>
            <a:ext cx="5029200" cy="24130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8" name="prompt-code"/>
          <p:cNvSpPr txBox="1"/>
          <p:nvPr/>
        </p:nvSpPr>
        <p:spPr>
          <a:xfrm>
            <a:off x="6553200" y="1854200"/>
            <a:ext cx="46482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7A7466"/>
                </a:solidFill>
                <a:latin typeface="JetBrains Mono"/>
                <a:ea typeface="MiSans"/>
              </a:rPr>
              <a:t># 复现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"运行 run_flow.tcl 报错如下（贴日志），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 先给出最小复现步骤，不要改代码"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7A7466"/>
                </a:solidFill>
                <a:latin typeface="JetBrains Mono"/>
                <a:ea typeface="MiSans"/>
              </a:rPr>
              <a:t># 插桩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"在 problem_proc 入口和出口插入日志，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 输出关键变量值，然后重新运行"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7A7466"/>
                </a:solidFill>
                <a:latin typeface="JetBrains Mono"/>
                <a:ea typeface="MiSans"/>
              </a:rPr>
              <a:t># 分析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"根据新日志（贴入）分析根因，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 只改一处并说明理由"</a:t>
            </a:r>
            <a:endParaRPr lang="en-US" sz="950" noProof="1"/>
          </a:p>
        </p:txBody>
      </p:sp>
      <p:sp>
        <p:nvSpPr>
          <p:cNvPr id="9" name="iter-text"/>
          <p:cNvSpPr txBox="1"/>
          <p:nvPr/>
        </p:nvSpPr>
        <p:spPr>
          <a:xfrm>
            <a:off x="6350000" y="4343400"/>
            <a:ext cx="502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撰写新脚本时同样适用：让 AI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自带日志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（关键变量、分支、返回码）和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--dry-run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模式，排错在写的时候就准备好了。</a:t>
            </a:r>
            <a:endParaRPr lang="en-US" sz="1150" noProof="1"/>
          </a:p>
        </p:txBody>
      </p:sp>
      <p:sp>
        <p:nvSpPr>
          <p:cNvPr id="10" name="tip-bar"/>
          <p:cNvSpPr/>
          <p:nvPr/>
        </p:nvSpPr>
        <p:spPr>
          <a:xfrm>
            <a:off x="812800" y="5384800"/>
            <a:ext cx="38100" cy="6604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1" name="tip-text"/>
          <p:cNvSpPr txBox="1"/>
          <p:nvPr/>
        </p:nvSpPr>
        <p:spPr>
          <a:xfrm>
            <a:off x="1016000" y="53848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skill 参考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EDA 调试目前没有成熟的现成 skill，建议把这条三步 SOP 固化成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.opencode/skills/eda-debug/SKILL.md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，每次报错自动按流程执行；写法可参照官方 skill-creator。</a:t>
            </a:r>
            <a:endParaRPr lang="en-US" sz="105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github.com/anthropics/skills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opencode.ai/docs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20</a:t>
            </a:r>
            <a:endParaRPr lang="en-US" sz="95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A 脚本改出 B 脚本：变化点、变更说明、diff 验收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eft-list"/>
          <p:cNvSpPr txBox="1"/>
          <p:nvPr/>
        </p:nvSpPr>
        <p:spPr>
          <a:xfrm>
            <a:off x="812800" y="1422400"/>
            <a:ext cx="5080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输入给全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A 脚本全文 + 变化点清单 + 明确"不能动"的部分（工具调用命令、license 检查段等）。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先说明，后改码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要求 AI 先输出函数级的变更说明——改了哪些、为什么——你确认后再生成 B。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验收可执行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同一份测试输入分别跑 A 和 B，输出逐行比对；不一致即报警，人只做最终判断。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留档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变更说明和 diff 一起进 commit message，下次再改有据可查。</a:t>
            </a:r>
            <a:endParaRPr lang="en-US" sz="1200" noProof="1"/>
          </a:p>
        </p:txBody>
      </p:sp>
      <p:sp>
        <p:nvSpPr>
          <p:cNvPr id="6" name="prompt-label"/>
          <p:cNvSpPr txBox="1"/>
          <p:nvPr/>
        </p:nvSpPr>
        <p:spPr>
          <a:xfrm>
            <a:off x="6350000" y="14224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提示词示例</a:t>
            </a:r>
            <a:endParaRPr lang="en-US" sz="1100" noProof="1"/>
          </a:p>
        </p:txBody>
      </p:sp>
      <p:sp>
        <p:nvSpPr>
          <p:cNvPr id="7" name="prompt-panel"/>
          <p:cNvSpPr/>
          <p:nvPr/>
        </p:nvSpPr>
        <p:spPr>
          <a:xfrm>
            <a:off x="6350000" y="1727200"/>
            <a:ext cx="5029200" cy="2235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8" name="prompt-code"/>
          <p:cNvSpPr txBox="1"/>
          <p:nvPr/>
        </p:nvSpPr>
        <p:spPr>
          <a:xfrm>
            <a:off x="6553200" y="1854200"/>
            <a:ext cx="46482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附上 A 脚本 flow_a.tcl（全文贴入）。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变化点：① 工艺节点 N7 → N5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② 时钟约束 1GHz → 2GHz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不要改：工具调用命令与 license 检查段。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先列出函数级变更说明，我确认后再生成 B。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B 生成后输出与 A 的 diff，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并给出验收命令（同输入跑 A/B 比对输出）。</a:t>
            </a:r>
            <a:endParaRPr lang="en-US" sz="950" noProof="1"/>
          </a:p>
        </p:txBody>
      </p:sp>
      <p:sp>
        <p:nvSpPr>
          <p:cNvPr id="9" name="iter-text"/>
          <p:cNvSpPr txBox="1"/>
          <p:nvPr/>
        </p:nvSpPr>
        <p:spPr>
          <a:xfrm>
            <a:off x="6350000" y="4165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验收脚本也让 AI 写：跑同输入 → 比对输出 → 不一致即报警。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脚本功能是否等价，用运行结果说话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，不靠肉眼读 diff。</a:t>
            </a:r>
            <a:endParaRPr lang="en-US" sz="1150" noProof="1"/>
          </a:p>
        </p:txBody>
      </p:sp>
      <p:sp>
        <p:nvSpPr>
          <p:cNvPr id="10" name="tip-bar"/>
          <p:cNvSpPr/>
          <p:nvPr/>
        </p:nvSpPr>
        <p:spPr>
          <a:xfrm>
            <a:off x="812800" y="5384800"/>
            <a:ext cx="38100" cy="6604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1" name="tip-text"/>
          <p:cNvSpPr txBox="1"/>
          <p:nvPr/>
        </p:nvSpPr>
        <p:spPr>
          <a:xfrm>
            <a:off x="1016000" y="53848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一句话原则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AI 负责"改"和"自证"，人负责"定义变化点"和"拍板验收"。变化点越具体，返工越少；"顺便优化一下"这类模糊要求是返工的开始。</a:t>
            </a:r>
            <a:endParaRPr lang="en-US" sz="105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场景来自培训前问题调研；提示词为示例写法，可按团队习惯调整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21</a:t>
            </a:r>
            <a:endParaRPr lang="en-US" sz="9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数据处理：让 AI 写脚本转换，人管 format 与校验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tep1-num"/>
          <p:cNvSpPr txBox="1"/>
          <p:nvPr/>
        </p:nvSpPr>
        <p:spPr>
          <a:xfrm>
            <a:off x="812800" y="1498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① 小样试喂</a:t>
            </a:r>
            <a:endParaRPr lang="en-US" sz="1200" noProof="1"/>
          </a:p>
        </p:txBody>
      </p:sp>
      <p:sp>
        <p:nvSpPr>
          <p:cNvPr id="6" name="step1-desc"/>
          <p:cNvSpPr txBox="1"/>
          <p:nvPr/>
        </p:nvSpPr>
        <p:spPr>
          <a:xfrm>
            <a:off x="812800" y="1803400"/>
            <a:ext cx="2413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数据又大又乱时，先喂 10–20 条样本，不要整份丢给 AI。</a:t>
            </a:r>
            <a:endParaRPr lang="en-US" sz="1050" noProof="1"/>
          </a:p>
        </p:txBody>
      </p:sp>
      <p:sp>
        <p:nvSpPr>
          <p:cNvPr id="7" name="arrow1"/>
          <p:cNvSpPr txBox="1"/>
          <p:nvPr/>
        </p:nvSpPr>
        <p:spPr>
          <a:xfrm>
            <a:off x="3276600" y="1905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95F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8" name="step2-num"/>
          <p:cNvSpPr txBox="1"/>
          <p:nvPr/>
        </p:nvSpPr>
        <p:spPr>
          <a:xfrm>
            <a:off x="3657600" y="1498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② AI 归纳规律</a:t>
            </a:r>
            <a:endParaRPr lang="en-US" sz="1200" noProof="1"/>
          </a:p>
        </p:txBody>
      </p:sp>
      <p:sp>
        <p:nvSpPr>
          <p:cNvPr id="9" name="step2-desc"/>
          <p:cNvSpPr txBox="1"/>
          <p:nvPr/>
        </p:nvSpPr>
        <p:spPr>
          <a:xfrm>
            <a:off x="3657600" y="1803400"/>
            <a:ext cx="2413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让 AI 分析样本：字段有哪些写法、分隔符是什么、异常行长什么样。</a:t>
            </a:r>
            <a:endParaRPr lang="en-US" sz="1050" noProof="1"/>
          </a:p>
        </p:txBody>
      </p:sp>
      <p:sp>
        <p:nvSpPr>
          <p:cNvPr id="10" name="arrow2"/>
          <p:cNvSpPr txBox="1"/>
          <p:nvPr/>
        </p:nvSpPr>
        <p:spPr>
          <a:xfrm>
            <a:off x="6121400" y="1905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95F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1" name="step3-num"/>
          <p:cNvSpPr txBox="1"/>
          <p:nvPr/>
        </p:nvSpPr>
        <p:spPr>
          <a:xfrm>
            <a:off x="6502400" y="1498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③ 人确认 format</a:t>
            </a:r>
            <a:endParaRPr lang="en-US" sz="1200" noProof="1"/>
          </a:p>
        </p:txBody>
      </p:sp>
      <p:sp>
        <p:nvSpPr>
          <p:cNvPr id="12" name="step3-desc"/>
          <p:cNvSpPr txBox="1"/>
          <p:nvPr/>
        </p:nvSpPr>
        <p:spPr>
          <a:xfrm>
            <a:off x="6502400" y="1803400"/>
            <a:ext cx="2413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看懂规律后，由你写下目标格式：列名、顺序、日期格式、缺失值约定。</a:t>
            </a:r>
            <a:endParaRPr lang="en-US" sz="1050" noProof="1"/>
          </a:p>
        </p:txBody>
      </p:sp>
      <p:sp>
        <p:nvSpPr>
          <p:cNvPr id="13" name="arrow3"/>
          <p:cNvSpPr txBox="1"/>
          <p:nvPr/>
        </p:nvSpPr>
        <p:spPr>
          <a:xfrm>
            <a:off x="8966200" y="19050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95F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4" name="step4-num"/>
          <p:cNvSpPr txBox="1"/>
          <p:nvPr/>
        </p:nvSpPr>
        <p:spPr>
          <a:xfrm>
            <a:off x="9347200" y="14986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④ 全量执行</a:t>
            </a:r>
            <a:endParaRPr lang="en-US" sz="1200" noProof="1"/>
          </a:p>
        </p:txBody>
      </p:sp>
      <p:sp>
        <p:nvSpPr>
          <p:cNvPr id="15" name="step4-desc"/>
          <p:cNvSpPr txBox="1"/>
          <p:nvPr/>
        </p:nvSpPr>
        <p:spPr>
          <a:xfrm>
            <a:off x="9347200" y="1803400"/>
            <a:ext cx="2032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AI 按 format 写转换脚本，全量跑，输出校验报告。</a:t>
            </a:r>
            <a:endParaRPr lang="en-US" sz="1050" noProof="1"/>
          </a:p>
        </p:txBody>
      </p:sp>
      <p:sp>
        <p:nvSpPr>
          <p:cNvPr id="16" name="mid-rule"/>
          <p:cNvSpPr/>
          <p:nvPr/>
        </p:nvSpPr>
        <p:spPr>
          <a:xfrm>
            <a:off x="812800" y="31750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17" name="why-label"/>
          <p:cNvSpPr txBox="1"/>
          <p:nvPr/>
        </p:nvSpPr>
        <p:spPr>
          <a:xfrm>
            <a:off x="812800" y="3403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为什么写脚本，而不是直接吐结果</a:t>
            </a:r>
            <a:endParaRPr lang="en-US" sz="1100" noProof="1"/>
          </a:p>
        </p:txBody>
      </p:sp>
      <p:sp>
        <p:nvSpPr>
          <p:cNvPr id="18" name="why-text"/>
          <p:cNvSpPr txBox="1"/>
          <p:nvPr/>
        </p:nvSpPr>
        <p:spPr>
          <a:xfrm>
            <a:off x="812800" y="37084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可重复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：数据更新后重跑一次即可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可校验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：转换逻辑是代码，错了能改能查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可留档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：脚本进 Git，下次同类任务直接复用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直接对话输出几千行，错了你也看不出来</a:t>
            </a:r>
            <a:endParaRPr lang="en-US" sz="1150" noProof="1"/>
          </a:p>
        </p:txBody>
      </p:sp>
      <p:sp>
        <p:nvSpPr>
          <p:cNvPr id="19" name="check-label"/>
          <p:cNvSpPr txBox="1"/>
          <p:nvPr/>
        </p:nvSpPr>
        <p:spPr>
          <a:xfrm>
            <a:off x="6502400" y="34036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双向校验清单</a:t>
            </a:r>
            <a:endParaRPr lang="en-US" sz="1100" noProof="1"/>
          </a:p>
        </p:txBody>
      </p:sp>
      <p:sp>
        <p:nvSpPr>
          <p:cNvPr id="20" name="check-text"/>
          <p:cNvSpPr txBox="1"/>
          <p:nvPr/>
        </p:nvSpPr>
        <p:spPr>
          <a:xfrm>
            <a:off x="6502400" y="3708400"/>
            <a:ext cx="48768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行数一致：输入 N 条 → 输出 N 行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字段齐全：每行列数 = format 约定列数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抽样比对：随机 5 行与原始数据逐字核对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关键值核对：总额、计数等整体指标对得上</a:t>
            </a:r>
            <a:endParaRPr lang="en-US" sz="1150" noProof="1"/>
          </a:p>
        </p:txBody>
      </p:sp>
      <p:sp>
        <p:nvSpPr>
          <p:cNvPr id="21" name="tip-bar"/>
          <p:cNvSpPr/>
          <p:nvPr/>
        </p:nvSpPr>
        <p:spPr>
          <a:xfrm>
            <a:off x="812800" y="5384800"/>
            <a:ext cx="38100" cy="6604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22" name="tip-text"/>
          <p:cNvSpPr txBox="1"/>
          <p:nvPr/>
        </p:nvSpPr>
        <p:spPr>
          <a:xfrm>
            <a:off x="1016000" y="53848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分工原则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规律由 AI 归纳，format 由你拍板——只有你知道下游要什么。校验脚本同样让 AI 写，但</a:t>
            </a:r>
            <a:r>
              <a:rPr lang="en-US" sz="1050" noProof="1" b="1">
                <a:solidFill>
                  <a:srgbClr val="6E695F"/>
                </a:solidFill>
                <a:latin typeface="MiSans"/>
                <a:ea typeface="MiSans"/>
              </a:rPr>
              <a:t>校验标准由你定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。</a:t>
            </a:r>
            <a:endParaRPr lang="en-US" sz="1050" noProof="1"/>
          </a:p>
        </p:txBody>
      </p:sp>
      <p:sp>
        <p:nvSpPr>
          <p:cNvPr id="2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方法为通用工程实践；下一页用模拟数据完整演示一遍</a:t>
            </a:r>
            <a:endParaRPr lang="en-US" sz="950" noProof="1"/>
          </a:p>
        </p:txBody>
      </p:sp>
      <p:sp>
        <p:nvSpPr>
          <p:cNvPr id="2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22</a:t>
            </a:r>
            <a:endParaRPr lang="en-US" sz="95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演示：一份乱格式名单，干净地变成目标表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demo-tag"/>
          <p:cNvSpPr txBox="1"/>
          <p:nvPr/>
        </p:nvSpPr>
        <p:spPr>
          <a:xfrm>
            <a:off x="812800" y="1371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>
                <a:solidFill>
                  <a:srgbClr val="B45309"/>
                </a:solidFill>
                <a:latin typeface="MiSans"/>
                <a:ea typeface="MiSans"/>
              </a:rPr>
              <a:t>练习材料 · 以下数据为模拟数据</a:t>
            </a:r>
            <a:endParaRPr lang="en-US" sz="1000" noProof="1"/>
          </a:p>
        </p:txBody>
      </p:sp>
      <p:sp>
        <p:nvSpPr>
          <p:cNvPr id="6" name="input-label"/>
          <p:cNvSpPr txBox="1"/>
          <p:nvPr/>
        </p:nvSpPr>
        <p:spPr>
          <a:xfrm>
            <a:off x="812800" y="167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① 输入样本（喂给 AI 的一小段）</a:t>
            </a:r>
            <a:endParaRPr lang="en-US" sz="1100" noProof="1"/>
          </a:p>
        </p:txBody>
      </p:sp>
      <p:sp>
        <p:nvSpPr>
          <p:cNvPr id="7" name="input-panel"/>
          <p:cNvSpPr/>
          <p:nvPr/>
        </p:nvSpPr>
        <p:spPr>
          <a:xfrm>
            <a:off x="812800" y="1981200"/>
            <a:ext cx="5080000" cy="14986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8" name="input-code"/>
          <p:cNvSpPr txBox="1"/>
          <p:nvPr/>
        </p:nvSpPr>
        <p:spPr>
          <a:xfrm>
            <a:off x="1016000" y="2108200"/>
            <a:ext cx="4673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张三 工号A1023 入职2021.3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李四-A1057；入职：2020/11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王五 A1109 （入职 2019-07）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赵六，A1078，2022.1 入职</a:t>
            </a:r>
            <a:endParaRPr lang="en-US" sz="1000" noProof="1"/>
          </a:p>
        </p:txBody>
      </p:sp>
      <p:sp>
        <p:nvSpPr>
          <p:cNvPr id="9" name="fmt-label"/>
          <p:cNvSpPr txBox="1"/>
          <p:nvPr/>
        </p:nvSpPr>
        <p:spPr>
          <a:xfrm>
            <a:off x="812800" y="3708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③ 人确认的目标 format</a:t>
            </a:r>
            <a:endParaRPr lang="en-US" sz="1100" noProof="1"/>
          </a:p>
        </p:txBody>
      </p:sp>
      <p:sp>
        <p:nvSpPr>
          <p:cNvPr id="10" name="fmt-panel"/>
          <p:cNvSpPr/>
          <p:nvPr/>
        </p:nvSpPr>
        <p:spPr>
          <a:xfrm>
            <a:off x="812800" y="4013200"/>
            <a:ext cx="5080000" cy="1066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1" name="fmt-code"/>
          <p:cNvSpPr txBox="1"/>
          <p:nvPr/>
        </p:nvSpPr>
        <p:spPr>
          <a:xfrm>
            <a:off x="1016000" y="41402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目标表三列：姓名 | 工号 | 入职日期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日期统一为 YYYY-MM；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解析不出来的行单独输出，不许丢弃</a:t>
            </a:r>
            <a:endParaRPr lang="en-US" sz="1000" noProof="1"/>
          </a:p>
        </p:txBody>
      </p:sp>
      <p:sp>
        <p:nvSpPr>
          <p:cNvPr id="12" name="ai-label"/>
          <p:cNvSpPr txBox="1"/>
          <p:nvPr/>
        </p:nvSpPr>
        <p:spPr>
          <a:xfrm>
            <a:off x="6502400" y="16764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② AI 归纳的规律</a:t>
            </a:r>
            <a:endParaRPr lang="en-US" sz="1100" noProof="1"/>
          </a:p>
        </p:txBody>
      </p:sp>
      <p:sp>
        <p:nvSpPr>
          <p:cNvPr id="13" name="ai-text"/>
          <p:cNvSpPr txBox="1"/>
          <p:nvPr/>
        </p:nvSpPr>
        <p:spPr>
          <a:xfrm>
            <a:off x="6502400" y="1981200"/>
            <a:ext cx="48768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姓名：中文 2–3 字，总在行首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工号：均为 A + 4 位数字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日期有 4 种写法：2021.3 / 2020/11 /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2019-07 / 2022.1，都指年月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分隔符混乱：空格、-、；、，、（）</a:t>
            </a:r>
            <a:endParaRPr lang="en-US" sz="1150" noProof="1"/>
          </a:p>
        </p:txBody>
      </p:sp>
      <p:sp>
        <p:nvSpPr>
          <p:cNvPr id="14" name="out-label"/>
          <p:cNvSpPr txBox="1"/>
          <p:nvPr/>
        </p:nvSpPr>
        <p:spPr>
          <a:xfrm>
            <a:off x="6502400" y="37084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④ 转换结果与校验</a:t>
            </a:r>
            <a:endParaRPr lang="en-US" sz="1100" noProof="1"/>
          </a:p>
        </p:txBody>
      </p:sp>
      <p:sp>
        <p:nvSpPr>
          <p:cNvPr id="15" name="out-panel"/>
          <p:cNvSpPr/>
          <p:nvPr/>
        </p:nvSpPr>
        <p:spPr>
          <a:xfrm>
            <a:off x="6502400" y="4013200"/>
            <a:ext cx="4876800" cy="1066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6" name="out-code"/>
          <p:cNvSpPr txBox="1"/>
          <p:nvPr/>
        </p:nvSpPr>
        <p:spPr>
          <a:xfrm>
            <a:off x="6705600" y="4140200"/>
            <a:ext cx="4470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张三,A1023,2021-03 ｜ 李四,A1057,2020-11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王五,A1109,2019-07 ｜ 赵六,A1078,2022-01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校验：输入 4 条 = 输出 4 行，工号全匹配 ✓</a:t>
            </a:r>
            <a:endParaRPr lang="en-US" sz="1000" noProof="1"/>
          </a:p>
        </p:txBody>
      </p:sp>
      <p:sp>
        <p:nvSpPr>
          <p:cNvPr id="17" name="tip-bar"/>
          <p:cNvSpPr/>
          <p:nvPr/>
        </p:nvSpPr>
        <p:spPr>
          <a:xfrm>
            <a:off x="812800" y="5384800"/>
            <a:ext cx="38100" cy="6604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8" name="tip-text"/>
          <p:cNvSpPr txBox="1"/>
          <p:nvPr/>
        </p:nvSpPr>
        <p:spPr>
          <a:xfrm>
            <a:off x="1016000" y="53848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照着自己练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换一份你手头的真实乱数据，先喂 20 条走一遍同样流程；format 没写清楚之前，不要让 AI 动全量数据。</a:t>
            </a:r>
            <a:endParaRPr lang="en-US" sz="10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本页数据为教学模拟数据，仅用于演示方法</a:t>
            </a:r>
            <a:endParaRPr lang="en-US" sz="950" noProof="1"/>
          </a:p>
        </p:txBody>
      </p:sp>
      <p:sp>
        <p:nvSpPr>
          <p:cNvPr id="20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23</a:t>
            </a:r>
            <a:endParaRPr lang="en-US" sz="95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场景 1 · 工号 + 姓名 → 邮箱：AI 编排，接口查证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eft-list"/>
          <p:cNvSpPr txBox="1"/>
          <p:nvPr/>
        </p:nvSpPr>
        <p:spPr>
          <a:xfrm>
            <a:off x="812800" y="1422400"/>
            <a:ext cx="5080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输入名单：每行工号 + 姓名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AI 逐条提取工号，调用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工号校验接口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校验通过后，按企业规则拼接邮箱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再调用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邮箱 Agent 接口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二次校验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5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输出对照表：姓名 | 工号 | 邮箱 | 校验结果；失败行单独列出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发邮件前不用再逐个添加校验——校验在生成阶段就完成了。</a:t>
            </a:r>
            <a:endParaRPr lang="en-US" sz="1200" noProof="1"/>
          </a:p>
        </p:txBody>
      </p:sp>
      <p:sp>
        <p:nvSpPr>
          <p:cNvPr id="6" name="shot-placeholder"/>
          <p:cNvSpPr/>
          <p:nvPr/>
        </p:nvSpPr>
        <p:spPr>
          <a:xfrm>
            <a:off x="6350000" y="1727200"/>
            <a:ext cx="5029200" cy="2286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  <a:prstDash val="dash"/>
          </a:ln>
        </p:spPr>
      </p:sp>
      <p:sp>
        <p:nvSpPr>
          <p:cNvPr id="7" name="shot-text"/>
          <p:cNvSpPr txBox="1"/>
          <p:nvPr/>
        </p:nvSpPr>
        <p:spPr>
          <a:xfrm>
            <a:off x="6350000" y="17272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预留截图位</a:t>
            </a:r>
            <a:endParaRPr lang="en-US" sz="1100" noProof="1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请替换为企业内部工具的使用演示截图</a:t>
            </a:r>
            <a:endParaRPr lang="en-US" sz="110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（建议尺寸比例约 2:1）</a:t>
            </a:r>
            <a:endParaRPr lang="en-US" sz="1100" noProof="1"/>
          </a:p>
        </p:txBody>
      </p:sp>
      <p:sp>
        <p:nvSpPr>
          <p:cNvPr id="8" name="prompt-label"/>
          <p:cNvSpPr txBox="1"/>
          <p:nvPr/>
        </p:nvSpPr>
        <p:spPr>
          <a:xfrm>
            <a:off x="6350000" y="4267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提示词示例</a:t>
            </a:r>
            <a:endParaRPr lang="en-US" sz="1100" noProof="1"/>
          </a:p>
        </p:txBody>
      </p:sp>
      <p:sp>
        <p:nvSpPr>
          <p:cNvPr id="9" name="prompt-panel"/>
          <p:cNvSpPr/>
          <p:nvPr/>
        </p:nvSpPr>
        <p:spPr>
          <a:xfrm>
            <a:off x="6350000" y="4572000"/>
            <a:ext cx="5029200" cy="838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0" name="prompt-code"/>
          <p:cNvSpPr txBox="1"/>
          <p:nvPr/>
        </p:nvSpPr>
        <p:spPr>
          <a:xfrm>
            <a:off x="6553200" y="4673600"/>
            <a:ext cx="4648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"这份名单（贴入）逐条处理：先调工号校验接口，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通过后生成邮箱并调邮箱接口校验，输出对照表，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校验失败的行单独列出并说明原因"</a:t>
            </a:r>
            <a:endParaRPr lang="en-US" sz="950" noProof="1"/>
          </a:p>
        </p:txBody>
      </p:sp>
      <p:sp>
        <p:nvSpPr>
          <p:cNvPr id="11" name="tip-bar"/>
          <p:cNvSpPr/>
          <p:nvPr/>
        </p:nvSpPr>
        <p:spPr>
          <a:xfrm>
            <a:off x="812800" y="5689600"/>
            <a:ext cx="38100" cy="5080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2" name="tip-text"/>
          <p:cNvSpPr txBox="1"/>
          <p:nvPr/>
        </p:nvSpPr>
        <p:spPr>
          <a:xfrm>
            <a:off x="1016000" y="5689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要点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AI 不"猜"邮箱，只负责编排：查证交给接口，format 交给你，结果对得上才放行。</a:t>
            </a:r>
            <a:endParaRPr lang="en-US" sz="10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企业内部工具场景；接口细节以内部文档为准</a:t>
            </a:r>
            <a:endParaRPr lang="en-US" sz="950" noProof="1"/>
          </a:p>
        </p:txBody>
      </p:sp>
      <p:sp>
        <p:nvSpPr>
          <p:cNvPr id="1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24</a:t>
            </a:r>
            <a:endParaRPr lang="en-US" sz="95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07 · 场景实战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场景 3 · PDF 数字进 Excel：先转中间格式，再逐页回查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eft-list"/>
          <p:cNvSpPr txBox="1"/>
          <p:nvPr/>
        </p:nvSpPr>
        <p:spPr>
          <a:xfrm>
            <a:off x="812800" y="1422400"/>
            <a:ext cx="5080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解析脚本把 PDF 转成 md / json 中间态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分类合成：数字信息 → csv（可导入 Excel）；图文内容 → html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校验脚本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逐页回查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：每页出现的数字，是否都在 csv 里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输出缺失报告；有缺失就回第 1 步修解析规则，再跑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"不漏数"不靠肉眼，靠分页 loop 把漏数变成一张可报告的清单。</a:t>
            </a:r>
            <a:endParaRPr lang="en-US" sz="1200" noProof="1"/>
          </a:p>
        </p:txBody>
      </p:sp>
      <p:sp>
        <p:nvSpPr>
          <p:cNvPr id="6" name="shot-placeholder"/>
          <p:cNvSpPr/>
          <p:nvPr/>
        </p:nvSpPr>
        <p:spPr>
          <a:xfrm>
            <a:off x="6350000" y="1727200"/>
            <a:ext cx="5029200" cy="2286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  <a:prstDash val="dash"/>
          </a:ln>
        </p:spPr>
      </p:sp>
      <p:sp>
        <p:nvSpPr>
          <p:cNvPr id="7" name="shot-text"/>
          <p:cNvSpPr txBox="1"/>
          <p:nvPr/>
        </p:nvSpPr>
        <p:spPr>
          <a:xfrm>
            <a:off x="6350000" y="17272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预留截图位</a:t>
            </a:r>
            <a:endParaRPr lang="en-US" sz="1100" noProof="1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请替换为企业内部工具的使用演示截图</a:t>
            </a:r>
            <a:endParaRPr lang="en-US" sz="110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（建议尺寸比例约 2:1）</a:t>
            </a:r>
            <a:endParaRPr lang="en-US" sz="1100" noProof="1"/>
          </a:p>
        </p:txBody>
      </p:sp>
      <p:sp>
        <p:nvSpPr>
          <p:cNvPr id="8" name="prompt-label"/>
          <p:cNvSpPr txBox="1"/>
          <p:nvPr/>
        </p:nvSpPr>
        <p:spPr>
          <a:xfrm>
            <a:off x="6350000" y="4267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提示词示例</a:t>
            </a:r>
            <a:endParaRPr lang="en-US" sz="1100" noProof="1"/>
          </a:p>
        </p:txBody>
      </p:sp>
      <p:sp>
        <p:nvSpPr>
          <p:cNvPr id="9" name="prompt-panel"/>
          <p:cNvSpPr/>
          <p:nvPr/>
        </p:nvSpPr>
        <p:spPr>
          <a:xfrm>
            <a:off x="6350000" y="4572000"/>
            <a:ext cx="5029200" cy="838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0" name="prompt-code"/>
          <p:cNvSpPr txBox="1"/>
          <p:nvPr/>
        </p:nvSpPr>
        <p:spPr>
          <a:xfrm>
            <a:off x="6553200" y="4673600"/>
            <a:ext cx="4648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"写脚本解析 report.pdf：先输出 md+json，数字提取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到 out.csv；再写校验脚本逐页检查每页数字是否都</a:t>
            </a:r>
            <a:endParaRPr lang="en-US" sz="950" noProof="1"/>
          </a:p>
          <a:p>
            <a:pPr algn="l">
              <a:lnSpc>
                <a:spcPct val="155000"/>
              </a:lnSpc>
            </a:pPr>
            <a:r>
              <a:rPr lang="en-US" sz="950" noProof="1">
                <a:solidFill>
                  <a:srgbClr val="2B2823"/>
                </a:solidFill>
                <a:latin typeface="JetBrains Mono"/>
                <a:ea typeface="MiSans"/>
              </a:rPr>
              <a:t>在 out.csv 中，输出缺失清单。先处理前 3 页给我看"</a:t>
            </a:r>
            <a:endParaRPr lang="en-US" sz="950" noProof="1"/>
          </a:p>
        </p:txBody>
      </p:sp>
      <p:sp>
        <p:nvSpPr>
          <p:cNvPr id="11" name="tip-bar"/>
          <p:cNvSpPr/>
          <p:nvPr/>
        </p:nvSpPr>
        <p:spPr>
          <a:xfrm>
            <a:off x="812800" y="5689600"/>
            <a:ext cx="38100" cy="5080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2" name="tip-text"/>
          <p:cNvSpPr txBox="1"/>
          <p:nvPr/>
        </p:nvSpPr>
        <p:spPr>
          <a:xfrm>
            <a:off x="1016000" y="5689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skill 参考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PDF 解析可参照 anthropics/skills 的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pdf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、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xlsx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skill 思路：先中间格式、再合成、再校验。</a:t>
            </a:r>
            <a:endParaRPr lang="en-US" sz="10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github.com/anthropics/skills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企业内部工具场景</a:t>
            </a:r>
            <a:endParaRPr lang="en-US" sz="950" noProof="1"/>
          </a:p>
        </p:txBody>
      </p:sp>
      <p:sp>
        <p:nvSpPr>
          <p:cNvPr id="1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25</a:t>
            </a:r>
            <a:endParaRPr lang="en-US" sz="95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1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62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E0A458"/>
                </a:solidFill>
                <a:latin typeface="MiSans"/>
                <a:ea typeface="MiSans"/>
              </a:rPr>
              <a:t>NEXT · 把教程变成团队资产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1684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F5F1E8"/>
                </a:solidFill>
                <a:latin typeface="MiSans"/>
                <a:ea typeface="MiSans"/>
              </a:rPr>
              <a:t>接下来学什么</a:t>
            </a:r>
            <a:endParaRPr lang="en-US" sz="2800" noProof="1"/>
          </a:p>
        </p:txBody>
      </p:sp>
      <p:sp>
        <p:nvSpPr>
          <p:cNvPr id="4" name="adv1"/>
          <p:cNvSpPr txBox="1"/>
          <p:nvPr/>
        </p:nvSpPr>
        <p:spPr>
          <a:xfrm>
            <a:off x="812800" y="21336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MCP 工具集成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中级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接入数据库、Jira 等外部工具，扩展 Agent 能力边界</a:t>
            </a:r>
            <a:endParaRPr lang="en-US" sz="1200" noProof="1"/>
          </a:p>
        </p:txBody>
      </p:sp>
      <p:sp>
        <p:nvSpPr>
          <p:cNvPr id="5" name="adv2"/>
          <p:cNvSpPr txBox="1"/>
          <p:nvPr/>
        </p:nvSpPr>
        <p:spPr>
          <a:xfrm>
            <a:off x="6248400" y="21336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插件系统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中级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.opencode/plugins/ 自定义工具、hook 与集成</a:t>
            </a:r>
            <a:endParaRPr lang="en-US" sz="1200" noProof="1"/>
          </a:p>
        </p:txBody>
      </p:sp>
      <p:sp>
        <p:nvSpPr>
          <p:cNvPr id="6" name="adv3"/>
          <p:cNvSpPr txBox="1"/>
          <p:nvPr/>
        </p:nvSpPr>
        <p:spPr>
          <a:xfrm>
            <a:off x="812800" y="31242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Server + SDK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高级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opencode serve 暴露 OpenAPI，程序化驱动会话与审批</a:t>
            </a:r>
            <a:endParaRPr lang="en-US" sz="1200" noProof="1"/>
          </a:p>
        </p:txBody>
      </p:sp>
      <p:sp>
        <p:nvSpPr>
          <p:cNvPr id="7" name="adv4"/>
          <p:cNvSpPr txBox="1"/>
          <p:nvPr/>
        </p:nvSpPr>
        <p:spPr>
          <a:xfrm>
            <a:off x="6248400" y="31242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GitHub Action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高级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opencode github install，issue / PR 自动化处理</a:t>
            </a:r>
            <a:endParaRPr lang="en-US" sz="1200" noProof="1"/>
          </a:p>
        </p:txBody>
      </p:sp>
      <p:sp>
        <p:nvSpPr>
          <p:cNvPr id="8" name="divider"/>
          <p:cNvSpPr/>
          <p:nvPr/>
        </p:nvSpPr>
        <p:spPr>
          <a:xfrm>
            <a:off x="812800" y="4267200"/>
            <a:ext cx="10566400" cy="12700"/>
          </a:xfrm>
          <a:prstGeom prst="rect">
            <a:avLst/>
          </a:prstGeom>
          <a:solidFill>
            <a:srgbClr val="45413A"/>
          </a:solidFill>
          <a:ln>
            <a:noFill/>
          </a:ln>
        </p:spPr>
      </p:sp>
      <p:sp>
        <p:nvSpPr>
          <p:cNvPr id="9" name="takeaway-label"/>
          <p:cNvSpPr txBox="1"/>
          <p:nvPr/>
        </p:nvSpPr>
        <p:spPr>
          <a:xfrm>
            <a:off x="812800" y="4521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7FBFA4"/>
                </a:solidFill>
                <a:latin typeface="MiSans"/>
                <a:ea typeface="MiSans"/>
              </a:rPr>
              <a:t>带走这三句话</a:t>
            </a:r>
            <a:endParaRPr lang="en-US" sz="1050" noProof="1"/>
          </a:p>
        </p:txBody>
      </p:sp>
      <p:sp>
        <p:nvSpPr>
          <p:cNvPr id="10" name="takeaway"/>
          <p:cNvSpPr txBox="1"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1　配置是合并的：不确定生效了什么，就跑 </a:t>
            </a:r>
            <a:r>
              <a:rPr lang="en-US" sz="1100" noProof="1">
                <a:solidFill>
                  <a:srgbClr val="F5F1E8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2　权限显式优于继承：子代理需要什么，就写在它自己的文件里。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3　先 plan 后 build，勤 commit：/undo 保会话，commit 保项目。</a:t>
            </a:r>
            <a:endParaRPr lang="en-US" sz="1200" noProof="1"/>
          </a:p>
        </p:txBody>
      </p:sp>
      <p:sp>
        <p:nvSpPr>
          <p:cNvPr id="11" name="refs"/>
          <p:cNvSpPr txBox="1"/>
          <p:nvPr/>
        </p:nvSpPr>
        <p:spPr>
          <a:xfrm>
            <a:off x="812800" y="61722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参考：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　·　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github.com/anomalyco/opencode</a:t>
            </a: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　·　配套教学稿与速查表随课件发放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26</Slides>
</Properties>
</file>

<file path=docProps/core.xml><?xml version="1.0" encoding="utf-8"?>
<cp:coreProperties xmlns:dc="http://purl.org/dc/elements/1.1/" xmlns:cp="http://schemas.openxmlformats.org/package/2006/metadata/core-properties">
  <dc:title>用 OpenCode 开始 Vibe Coding · 基础教程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